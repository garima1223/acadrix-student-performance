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790849-F0F4-43C5-ABE6-8C272EA986AB}" type="datetimeFigureOut">
              <a:rPr lang="en-IN" smtClean="0"/>
              <a:t>10-10-2026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CE4EF8-007C-4725-A050-E699C8ED69BE}" type="slidenum">
              <a:rPr lang="en-IN" smtClean="0"/>
              <a:t>‹#›</a:t>
            </a:fld>
            <a:endParaRPr lang="en-IN"/>
          </a:p>
        </p:txBody>
      </p:sp>
    </p:spTree>
    <p:extLst>
      <p:ext uri="{BB962C8B-B14F-4D97-AF65-F5344CB8AC3E}">
        <p14:creationId xmlns:p14="http://schemas.microsoft.com/office/powerpoint/2010/main" val="690526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the team and the project. Acadrix predicts a final score from five indicators a college already records, and turns it into early warnings for teachers and personal plans for students. Drix, the mascot, is the built-in study assistant.</a:t>
            </a:r>
            <a:endParaRPr lang="en-IN"/>
          </a:p>
        </p:txBody>
      </p:sp>
      <p:sp>
        <p:nvSpPr>
          <p:cNvPr id="4" name="Slide Number Placeholder 3"/>
          <p:cNvSpPr>
            <a:spLocks noGrp="1"/>
          </p:cNvSpPr>
          <p:nvPr>
            <p:ph type="sldNum" sz="quarter" idx="5"/>
          </p:nvPr>
        </p:nvSpPr>
        <p:spPr/>
        <p:txBody>
          <a:bodyPr/>
          <a:lstStyle/>
          <a:p>
            <a:fld id="{70CE4EF8-007C-4725-A050-E699C8ED69BE}" type="slidenum">
              <a:rPr lang="en-IN" smtClean="0"/>
              <a:t>1</a:t>
            </a:fld>
            <a:endParaRPr lang="en-IN"/>
          </a:p>
        </p:txBody>
      </p:sp>
    </p:spTree>
    <p:extLst>
      <p:ext uri="{BB962C8B-B14F-4D97-AF65-F5344CB8AC3E}">
        <p14:creationId xmlns:p14="http://schemas.microsoft.com/office/powerpoint/2010/main" val="3989665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Five parts, following the capstone methodology from problem to deployment.</a:t>
            </a:r>
            <a:endParaRPr lang="en-IN"/>
          </a:p>
        </p:txBody>
      </p:sp>
      <p:sp>
        <p:nvSpPr>
          <p:cNvPr id="4" name="Slide Number Placeholder 3"/>
          <p:cNvSpPr>
            <a:spLocks noGrp="1"/>
          </p:cNvSpPr>
          <p:nvPr>
            <p:ph type="sldNum" sz="quarter" idx="5"/>
          </p:nvPr>
        </p:nvSpPr>
        <p:spPr/>
        <p:txBody>
          <a:bodyPr/>
          <a:lstStyle/>
          <a:p>
            <a:fld id="{70CE4EF8-007C-4725-A050-E699C8ED69BE}" type="slidenum">
              <a:rPr lang="en-IN" smtClean="0"/>
              <a:t>2</a:t>
            </a:fld>
            <a:endParaRPr lang="en-IN"/>
          </a:p>
        </p:txBody>
      </p:sp>
    </p:spTree>
    <p:extLst>
      <p:ext uri="{BB962C8B-B14F-4D97-AF65-F5344CB8AC3E}">
        <p14:creationId xmlns:p14="http://schemas.microsoft.com/office/powerpoint/2010/main" val="305682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 regression problem: we predict an exact score from 0 to 100, then turn it into a grade and one of three risk levels.</a:t>
            </a:r>
            <a:endParaRPr lang="en-IN"/>
          </a:p>
        </p:txBody>
      </p:sp>
      <p:sp>
        <p:nvSpPr>
          <p:cNvPr id="4" name="Slide Number Placeholder 3"/>
          <p:cNvSpPr>
            <a:spLocks noGrp="1"/>
          </p:cNvSpPr>
          <p:nvPr>
            <p:ph type="sldNum" sz="quarter" idx="5"/>
          </p:nvPr>
        </p:nvSpPr>
        <p:spPr/>
        <p:txBody>
          <a:bodyPr/>
          <a:lstStyle/>
          <a:p>
            <a:fld id="{70CE4EF8-007C-4725-A050-E699C8ED69BE}" type="slidenum">
              <a:rPr lang="en-IN" smtClean="0"/>
              <a:t>3</a:t>
            </a:fld>
            <a:endParaRPr lang="en-IN"/>
          </a:p>
        </p:txBody>
      </p:sp>
    </p:spTree>
    <p:extLst>
      <p:ext uri="{BB962C8B-B14F-4D97-AF65-F5344CB8AC3E}">
        <p14:creationId xmlns:p14="http://schemas.microsoft.com/office/powerpoint/2010/main" val="936434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map to the capstone guidelines: the lifecycle phases, at least three models, and a deployed app that accepts input and shows predictions.</a:t>
            </a:r>
            <a:endParaRPr lang="en-IN"/>
          </a:p>
        </p:txBody>
      </p:sp>
      <p:sp>
        <p:nvSpPr>
          <p:cNvPr id="4" name="Slide Number Placeholder 3"/>
          <p:cNvSpPr>
            <a:spLocks noGrp="1"/>
          </p:cNvSpPr>
          <p:nvPr>
            <p:ph type="sldNum" sz="quarter" idx="5"/>
          </p:nvPr>
        </p:nvSpPr>
        <p:spPr/>
        <p:txBody>
          <a:bodyPr/>
          <a:lstStyle/>
          <a:p>
            <a:fld id="{70CE4EF8-007C-4725-A050-E699C8ED69BE}" type="slidenum">
              <a:rPr lang="en-IN" smtClean="0"/>
              <a:t>4</a:t>
            </a:fld>
            <a:endParaRPr lang="en-IN"/>
          </a:p>
        </p:txBody>
      </p:sp>
    </p:spTree>
    <p:extLst>
      <p:ext uri="{BB962C8B-B14F-4D97-AF65-F5344CB8AC3E}">
        <p14:creationId xmlns:p14="http://schemas.microsoft.com/office/powerpoint/2010/main" val="16026744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Synthetic dataset from ml/generate_dataset.py with seed 42, made messy on purpose so preprocessing has real work. The five academic columns are exactly what the app collects; the lifestyle columns test feature selection.</a:t>
            </a:r>
            <a:endParaRPr lang="en-IN"/>
          </a:p>
        </p:txBody>
      </p:sp>
      <p:sp>
        <p:nvSpPr>
          <p:cNvPr id="4" name="Slide Number Placeholder 3"/>
          <p:cNvSpPr>
            <a:spLocks noGrp="1"/>
          </p:cNvSpPr>
          <p:nvPr>
            <p:ph type="sldNum" sz="quarter" idx="5"/>
          </p:nvPr>
        </p:nvSpPr>
        <p:spPr/>
        <p:txBody>
          <a:bodyPr/>
          <a:lstStyle/>
          <a:p>
            <a:fld id="{70CE4EF8-007C-4725-A050-E699C8ED69BE}" type="slidenum">
              <a:rPr lang="en-IN" smtClean="0"/>
              <a:t>5</a:t>
            </a:fld>
            <a:endParaRPr lang="en-IN"/>
          </a:p>
        </p:txBody>
      </p:sp>
    </p:spTree>
    <p:extLst>
      <p:ext uri="{BB962C8B-B14F-4D97-AF65-F5344CB8AC3E}">
        <p14:creationId xmlns:p14="http://schemas.microsoft.com/office/powerpoint/2010/main" val="40998233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Steps 1 to 5 run in ml/generate_dataset.py and ml/train.py; step 6 is the Flask backend.</a:t>
            </a:r>
            <a:endParaRPr lang="en-IN"/>
          </a:p>
        </p:txBody>
      </p:sp>
      <p:sp>
        <p:nvSpPr>
          <p:cNvPr id="4" name="Slide Number Placeholder 3"/>
          <p:cNvSpPr>
            <a:spLocks noGrp="1"/>
          </p:cNvSpPr>
          <p:nvPr>
            <p:ph type="sldNum" sz="quarter" idx="5"/>
          </p:nvPr>
        </p:nvSpPr>
        <p:spPr/>
        <p:txBody>
          <a:bodyPr/>
          <a:lstStyle/>
          <a:p>
            <a:fld id="{70CE4EF8-007C-4725-A050-E699C8ED69BE}" type="slidenum">
              <a:rPr lang="en-IN" smtClean="0"/>
              <a:t>6</a:t>
            </a:fld>
            <a:endParaRPr lang="en-IN"/>
          </a:p>
        </p:txBody>
      </p:sp>
    </p:spTree>
    <p:extLst>
      <p:ext uri="{BB962C8B-B14F-4D97-AF65-F5344CB8AC3E}">
        <p14:creationId xmlns:p14="http://schemas.microsoft.com/office/powerpoint/2010/main" val="10970692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Impossible values such as 80 study hours a week or 140% attendance were removed rather than clipped, because they are data-entry errors. Missing values used the median because it is not pulled by skew.</a:t>
            </a:r>
            <a:endParaRPr lang="en-IN"/>
          </a:p>
        </p:txBody>
      </p:sp>
      <p:sp>
        <p:nvSpPr>
          <p:cNvPr id="4" name="Slide Number Placeholder 3"/>
          <p:cNvSpPr>
            <a:spLocks noGrp="1"/>
          </p:cNvSpPr>
          <p:nvPr>
            <p:ph type="sldNum" sz="quarter" idx="5"/>
          </p:nvPr>
        </p:nvSpPr>
        <p:spPr/>
        <p:txBody>
          <a:bodyPr/>
          <a:lstStyle/>
          <a:p>
            <a:fld id="{70CE4EF8-007C-4725-A050-E699C8ED69BE}" type="slidenum">
              <a:rPr lang="en-IN" smtClean="0"/>
              <a:t>7</a:t>
            </a:fld>
            <a:endParaRPr lang="en-IN"/>
          </a:p>
        </p:txBody>
      </p:sp>
    </p:spTree>
    <p:extLst>
      <p:ext uri="{BB962C8B-B14F-4D97-AF65-F5344CB8AC3E}">
        <p14:creationId xmlns:p14="http://schemas.microsoft.com/office/powerpoint/2010/main" val="23612696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Left: distribution of final scores. Right: correlation heatmap. The five academic features correlate strongly with the score; lifestyle and demographic columns sit near zero. Boxplots and scatter plots are in the report.</a:t>
            </a:r>
            <a:endParaRPr lang="en-IN"/>
          </a:p>
        </p:txBody>
      </p:sp>
      <p:sp>
        <p:nvSpPr>
          <p:cNvPr id="4" name="Slide Number Placeholder 3"/>
          <p:cNvSpPr>
            <a:spLocks noGrp="1"/>
          </p:cNvSpPr>
          <p:nvPr>
            <p:ph type="sldNum" sz="quarter" idx="5"/>
          </p:nvPr>
        </p:nvSpPr>
        <p:spPr/>
        <p:txBody>
          <a:bodyPr/>
          <a:lstStyle/>
          <a:p>
            <a:fld id="{70CE4EF8-007C-4725-A050-E699C8ED69BE}" type="slidenum">
              <a:rPr lang="en-IN" smtClean="0"/>
              <a:t>8</a:t>
            </a:fld>
            <a:endParaRPr lang="en-IN"/>
          </a:p>
        </p:txBody>
      </p:sp>
    </p:spTree>
    <p:extLst>
      <p:ext uri="{BB962C8B-B14F-4D97-AF65-F5344CB8AC3E}">
        <p14:creationId xmlns:p14="http://schemas.microsoft.com/office/powerpoint/2010/main" val="35325281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Selection kept exactly the five features the app collects. The weakest kept feature (0.66) is about ten times stronger than the strongest dropped one (0.07). Both engineered features repeated information already in their parts.</a:t>
            </a:r>
            <a:endParaRPr lang="en-IN"/>
          </a:p>
        </p:txBody>
      </p:sp>
      <p:sp>
        <p:nvSpPr>
          <p:cNvPr id="4" name="Slide Number Placeholder 3"/>
          <p:cNvSpPr>
            <a:spLocks noGrp="1"/>
          </p:cNvSpPr>
          <p:nvPr>
            <p:ph type="sldNum" sz="quarter" idx="5"/>
          </p:nvPr>
        </p:nvSpPr>
        <p:spPr/>
        <p:txBody>
          <a:bodyPr/>
          <a:lstStyle/>
          <a:p>
            <a:fld id="{70CE4EF8-007C-4725-A050-E699C8ED69BE}" type="slidenum">
              <a:rPr lang="en-IN" smtClean="0"/>
              <a:t>9</a:t>
            </a:fld>
            <a:endParaRPr lang="en-IN"/>
          </a:p>
        </p:txBody>
      </p:sp>
    </p:spTree>
    <p:extLst>
      <p:ext uri="{BB962C8B-B14F-4D97-AF65-F5344CB8AC3E}">
        <p14:creationId xmlns:p14="http://schemas.microsoft.com/office/powerpoint/2010/main" val="11900444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cover the three main families in the literature. XGBoost's monotone constraints stop it learning that more attendance lowers a score.</a:t>
            </a:r>
            <a:endParaRPr lang="en-IN"/>
          </a:p>
        </p:txBody>
      </p:sp>
      <p:sp>
        <p:nvSpPr>
          <p:cNvPr id="4" name="Slide Number Placeholder 3"/>
          <p:cNvSpPr>
            <a:spLocks noGrp="1"/>
          </p:cNvSpPr>
          <p:nvPr>
            <p:ph type="sldNum" sz="quarter" idx="5"/>
          </p:nvPr>
        </p:nvSpPr>
        <p:spPr/>
        <p:txBody>
          <a:bodyPr/>
          <a:lstStyle/>
          <a:p>
            <a:fld id="{70CE4EF8-007C-4725-A050-E699C8ED69BE}" type="slidenum">
              <a:rPr lang="en-IN" smtClean="0"/>
              <a:t>10</a:t>
            </a:fld>
            <a:endParaRPr lang="en-IN"/>
          </a:p>
        </p:txBody>
      </p:sp>
    </p:spTree>
    <p:extLst>
      <p:ext uri="{BB962C8B-B14F-4D97-AF65-F5344CB8AC3E}">
        <p14:creationId xmlns:p14="http://schemas.microsoft.com/office/powerpoint/2010/main" val="2894208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All three models are within 0.006 R². Linear Regression has the best RMSE, R² and cross-validated R², and is the fastest and easiest to explain, so it is deployed. Caveat: students below about 45 are predicted a few marks too high.</a:t>
            </a:r>
            <a:endParaRPr lang="en-IN"/>
          </a:p>
        </p:txBody>
      </p:sp>
      <p:sp>
        <p:nvSpPr>
          <p:cNvPr id="4" name="Slide Number Placeholder 3"/>
          <p:cNvSpPr>
            <a:spLocks noGrp="1"/>
          </p:cNvSpPr>
          <p:nvPr>
            <p:ph type="sldNum" sz="quarter" idx="5"/>
          </p:nvPr>
        </p:nvSpPr>
        <p:spPr/>
        <p:txBody>
          <a:bodyPr/>
          <a:lstStyle/>
          <a:p>
            <a:fld id="{70CE4EF8-007C-4725-A050-E699C8ED69BE}" type="slidenum">
              <a:rPr lang="en-IN" smtClean="0"/>
              <a:t>11</a:t>
            </a:fld>
            <a:endParaRPr lang="en-IN"/>
          </a:p>
        </p:txBody>
      </p:sp>
    </p:spTree>
    <p:extLst>
      <p:ext uri="{BB962C8B-B14F-4D97-AF65-F5344CB8AC3E}">
        <p14:creationId xmlns:p14="http://schemas.microsoft.com/office/powerpoint/2010/main" val="15263550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Live at acadrix-da7i.onrender.com. Teacher login: teacher / teacher@123; student login: STU101 / student@123. Also: student management with CSV import/export, attendance register, Model Lab, EDA charts, announcements, report cards, What-If simulator, tips and the Drix assistant. Light and dark mode, three colour themes.</a:t>
            </a:r>
          </a:p>
        </p:txBody>
      </p:sp>
      <p:sp>
        <p:nvSpPr>
          <p:cNvPr id="4" name="Slide Number Placeholder 3"/>
          <p:cNvSpPr>
            <a:spLocks noGrp="1"/>
          </p:cNvSpPr>
          <p:nvPr>
            <p:ph type="sldNum" sz="quarter" idx="5"/>
          </p:nvPr>
        </p:nvSpPr>
        <p:spPr/>
        <p:txBody>
          <a:bodyPr/>
          <a:lstStyle/>
          <a:p>
            <a:fld id="{70CE4EF8-007C-4725-A050-E699C8ED69BE}" type="slidenum">
              <a:rPr lang="en-IN" smtClean="0"/>
              <a:t>12</a:t>
            </a:fld>
            <a:endParaRPr lang="en-IN"/>
          </a:p>
        </p:txBody>
      </p:sp>
    </p:spTree>
    <p:extLst>
      <p:ext uri="{BB962C8B-B14F-4D97-AF65-F5344CB8AC3E}">
        <p14:creationId xmlns:p14="http://schemas.microsoft.com/office/powerpoint/2010/main" val="9059025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value is in acting on predictions: early warnings for teachers and specific steps for students.</a:t>
            </a:r>
            <a:endParaRPr lang="en-IN"/>
          </a:p>
        </p:txBody>
      </p:sp>
      <p:sp>
        <p:nvSpPr>
          <p:cNvPr id="4" name="Slide Number Placeholder 3"/>
          <p:cNvSpPr>
            <a:spLocks noGrp="1"/>
          </p:cNvSpPr>
          <p:nvPr>
            <p:ph type="sldNum" sz="quarter" idx="5"/>
          </p:nvPr>
        </p:nvSpPr>
        <p:spPr/>
        <p:txBody>
          <a:bodyPr/>
          <a:lstStyle/>
          <a:p>
            <a:fld id="{70CE4EF8-007C-4725-A050-E699C8ED69BE}" type="slidenum">
              <a:rPr lang="en-IN" smtClean="0"/>
              <a:t>13</a:t>
            </a:fld>
            <a:endParaRPr lang="en-IN"/>
          </a:p>
        </p:txBody>
      </p:sp>
    </p:spTree>
    <p:extLst>
      <p:ext uri="{BB962C8B-B14F-4D97-AF65-F5344CB8AC3E}">
        <p14:creationId xmlns:p14="http://schemas.microsoft.com/office/powerpoint/2010/main" val="2229629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real use: remove the public demo accounts and add per-institution sign-up.</a:t>
            </a:r>
            <a:endParaRPr lang="en-IN"/>
          </a:p>
        </p:txBody>
      </p:sp>
      <p:sp>
        <p:nvSpPr>
          <p:cNvPr id="4" name="Slide Number Placeholder 3"/>
          <p:cNvSpPr>
            <a:spLocks noGrp="1"/>
          </p:cNvSpPr>
          <p:nvPr>
            <p:ph type="sldNum" sz="quarter" idx="5"/>
          </p:nvPr>
        </p:nvSpPr>
        <p:spPr/>
        <p:txBody>
          <a:bodyPr/>
          <a:lstStyle/>
          <a:p>
            <a:fld id="{70CE4EF8-007C-4725-A050-E699C8ED69BE}" type="slidenum">
              <a:rPr lang="en-IN" smtClean="0"/>
              <a:t>14</a:t>
            </a:fld>
            <a:endParaRPr lang="en-IN"/>
          </a:p>
        </p:txBody>
      </p:sp>
    </p:spTree>
    <p:extLst>
      <p:ext uri="{BB962C8B-B14F-4D97-AF65-F5344CB8AC3E}">
        <p14:creationId xmlns:p14="http://schemas.microsoft.com/office/powerpoint/2010/main" val="20797364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with the links and invite questions.</a:t>
            </a:r>
            <a:endParaRPr lang="en-IN"/>
          </a:p>
        </p:txBody>
      </p:sp>
      <p:sp>
        <p:nvSpPr>
          <p:cNvPr id="4" name="Slide Number Placeholder 3"/>
          <p:cNvSpPr>
            <a:spLocks noGrp="1"/>
          </p:cNvSpPr>
          <p:nvPr>
            <p:ph type="sldNum" sz="quarter" idx="5"/>
          </p:nvPr>
        </p:nvSpPr>
        <p:spPr/>
        <p:txBody>
          <a:bodyPr/>
          <a:lstStyle/>
          <a:p>
            <a:fld id="{70CE4EF8-007C-4725-A050-E699C8ED69BE}" type="slidenum">
              <a:rPr lang="en-IN" smtClean="0"/>
              <a:t>15</a:t>
            </a:fld>
            <a:endParaRPr lang="en-IN"/>
          </a:p>
        </p:txBody>
      </p:sp>
    </p:spTree>
    <p:extLst>
      <p:ext uri="{BB962C8B-B14F-4D97-AF65-F5344CB8AC3E}">
        <p14:creationId xmlns:p14="http://schemas.microsoft.com/office/powerpoint/2010/main" val="18563441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F50A-E062-2A51-3A49-4E7D25FC63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35876F7-D810-B31F-30E8-6EA4618EB6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017AF4B-3874-6282-88EC-005895D9331C}"/>
              </a:ext>
            </a:extLst>
          </p:cNvPr>
          <p:cNvSpPr>
            <a:spLocks noGrp="1"/>
          </p:cNvSpPr>
          <p:nvPr>
            <p:ph type="dt" sz="half" idx="10"/>
          </p:nvPr>
        </p:nvSpPr>
        <p:spPr/>
        <p:txBody>
          <a:bodyPr/>
          <a:lstStyle/>
          <a:p>
            <a:fld id="{F8E9F618-DE57-476F-8560-E242FBBF13E1}" type="datetimeFigureOut">
              <a:rPr lang="en-IN" smtClean="0"/>
              <a:t>10-10-2026</a:t>
            </a:fld>
            <a:endParaRPr lang="en-IN"/>
          </a:p>
        </p:txBody>
      </p:sp>
      <p:sp>
        <p:nvSpPr>
          <p:cNvPr id="5" name="Footer Placeholder 4">
            <a:extLst>
              <a:ext uri="{FF2B5EF4-FFF2-40B4-BE49-F238E27FC236}">
                <a16:creationId xmlns:a16="http://schemas.microsoft.com/office/drawing/2014/main" id="{D721D718-9E07-238F-5984-DD6163B67E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CFDCE2-A698-C0F5-B1AD-EC68A5FC8F10}"/>
              </a:ext>
            </a:extLst>
          </p:cNvPr>
          <p:cNvSpPr>
            <a:spLocks noGrp="1"/>
          </p:cNvSpPr>
          <p:nvPr>
            <p:ph type="sldNum" sz="quarter" idx="12"/>
          </p:nvPr>
        </p:nvSpPr>
        <p:spPr/>
        <p:txBody>
          <a:bodyPr/>
          <a:lstStyle/>
          <a:p>
            <a:fld id="{F668D474-6058-43C6-98B8-5479B194BFAA}" type="slidenum">
              <a:rPr lang="en-IN" smtClean="0"/>
              <a:t>‹#›</a:t>
            </a:fld>
            <a:endParaRPr lang="en-IN"/>
          </a:p>
        </p:txBody>
      </p:sp>
    </p:spTree>
    <p:extLst>
      <p:ext uri="{BB962C8B-B14F-4D97-AF65-F5344CB8AC3E}">
        <p14:creationId xmlns:p14="http://schemas.microsoft.com/office/powerpoint/2010/main" val="27340581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A7511-E1EB-5F25-A423-D5EEC2EC37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0A000F-E026-1399-0120-01D1FB17F7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7A3A45-CCDE-E62D-5E74-137721ADD22C}"/>
              </a:ext>
            </a:extLst>
          </p:cNvPr>
          <p:cNvSpPr>
            <a:spLocks noGrp="1"/>
          </p:cNvSpPr>
          <p:nvPr>
            <p:ph type="dt" sz="half" idx="10"/>
          </p:nvPr>
        </p:nvSpPr>
        <p:spPr/>
        <p:txBody>
          <a:bodyPr/>
          <a:lstStyle/>
          <a:p>
            <a:fld id="{F8E9F618-DE57-476F-8560-E242FBBF13E1}" type="datetimeFigureOut">
              <a:rPr lang="en-IN" smtClean="0"/>
              <a:t>10-10-2026</a:t>
            </a:fld>
            <a:endParaRPr lang="en-IN"/>
          </a:p>
        </p:txBody>
      </p:sp>
      <p:sp>
        <p:nvSpPr>
          <p:cNvPr id="5" name="Footer Placeholder 4">
            <a:extLst>
              <a:ext uri="{FF2B5EF4-FFF2-40B4-BE49-F238E27FC236}">
                <a16:creationId xmlns:a16="http://schemas.microsoft.com/office/drawing/2014/main" id="{8F04CB32-3016-B7BF-B969-15E372C66F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98E4EF-9F3E-3D2F-86E7-46B534F18CA1}"/>
              </a:ext>
            </a:extLst>
          </p:cNvPr>
          <p:cNvSpPr>
            <a:spLocks noGrp="1"/>
          </p:cNvSpPr>
          <p:nvPr>
            <p:ph type="sldNum" sz="quarter" idx="12"/>
          </p:nvPr>
        </p:nvSpPr>
        <p:spPr/>
        <p:txBody>
          <a:bodyPr/>
          <a:lstStyle/>
          <a:p>
            <a:fld id="{F668D474-6058-43C6-98B8-5479B194BFAA}" type="slidenum">
              <a:rPr lang="en-IN" smtClean="0"/>
              <a:t>‹#›</a:t>
            </a:fld>
            <a:endParaRPr lang="en-IN"/>
          </a:p>
        </p:txBody>
      </p:sp>
    </p:spTree>
    <p:extLst>
      <p:ext uri="{BB962C8B-B14F-4D97-AF65-F5344CB8AC3E}">
        <p14:creationId xmlns:p14="http://schemas.microsoft.com/office/powerpoint/2010/main" val="3981955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D41B4-0C42-213E-8AEA-D28C0D47C86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39838C1-AEC7-1DD6-99EE-0455989F4FE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6E2F5AA-CDB1-EECF-B4F8-C026B3E2EC3B}"/>
              </a:ext>
            </a:extLst>
          </p:cNvPr>
          <p:cNvSpPr>
            <a:spLocks noGrp="1"/>
          </p:cNvSpPr>
          <p:nvPr>
            <p:ph type="dt" sz="half" idx="10"/>
          </p:nvPr>
        </p:nvSpPr>
        <p:spPr/>
        <p:txBody>
          <a:bodyPr/>
          <a:lstStyle/>
          <a:p>
            <a:fld id="{F8E9F618-DE57-476F-8560-E242FBBF13E1}" type="datetimeFigureOut">
              <a:rPr lang="en-IN" smtClean="0"/>
              <a:t>10-10-2026</a:t>
            </a:fld>
            <a:endParaRPr lang="en-IN"/>
          </a:p>
        </p:txBody>
      </p:sp>
      <p:sp>
        <p:nvSpPr>
          <p:cNvPr id="5" name="Footer Placeholder 4">
            <a:extLst>
              <a:ext uri="{FF2B5EF4-FFF2-40B4-BE49-F238E27FC236}">
                <a16:creationId xmlns:a16="http://schemas.microsoft.com/office/drawing/2014/main" id="{50DB1D84-3400-1458-C4CF-CA107FC10C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7D03D9-D70D-9EC4-3D6E-7B5078D31475}"/>
              </a:ext>
            </a:extLst>
          </p:cNvPr>
          <p:cNvSpPr>
            <a:spLocks noGrp="1"/>
          </p:cNvSpPr>
          <p:nvPr>
            <p:ph type="sldNum" sz="quarter" idx="12"/>
          </p:nvPr>
        </p:nvSpPr>
        <p:spPr/>
        <p:txBody>
          <a:bodyPr/>
          <a:lstStyle/>
          <a:p>
            <a:fld id="{F668D474-6058-43C6-98B8-5479B194BFAA}" type="slidenum">
              <a:rPr lang="en-IN" smtClean="0"/>
              <a:t>‹#›</a:t>
            </a:fld>
            <a:endParaRPr lang="en-IN"/>
          </a:p>
        </p:txBody>
      </p:sp>
    </p:spTree>
    <p:extLst>
      <p:ext uri="{BB962C8B-B14F-4D97-AF65-F5344CB8AC3E}">
        <p14:creationId xmlns:p14="http://schemas.microsoft.com/office/powerpoint/2010/main" val="893852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66908-D920-86BB-3AF7-BBEABF3558C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E84837-5C82-6A78-ABBC-52F69A9CAC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3662503-1734-78AA-272D-650658CA6C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C1BD737-7D57-3D19-7521-07E034FA7F0D}"/>
              </a:ext>
            </a:extLst>
          </p:cNvPr>
          <p:cNvSpPr>
            <a:spLocks noGrp="1"/>
          </p:cNvSpPr>
          <p:nvPr>
            <p:ph type="dt" sz="half" idx="10"/>
          </p:nvPr>
        </p:nvSpPr>
        <p:spPr/>
        <p:txBody>
          <a:bodyPr/>
          <a:lstStyle/>
          <a:p>
            <a:fld id="{F8E9F618-DE57-476F-8560-E242FBBF13E1}" type="datetimeFigureOut">
              <a:rPr lang="en-IN" smtClean="0"/>
              <a:t>10-10-2026</a:t>
            </a:fld>
            <a:endParaRPr lang="en-IN"/>
          </a:p>
        </p:txBody>
      </p:sp>
      <p:sp>
        <p:nvSpPr>
          <p:cNvPr id="6" name="Footer Placeholder 5">
            <a:extLst>
              <a:ext uri="{FF2B5EF4-FFF2-40B4-BE49-F238E27FC236}">
                <a16:creationId xmlns:a16="http://schemas.microsoft.com/office/drawing/2014/main" id="{6090C1DB-63D9-98F1-94EB-DDB1C2232B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CBB068-D112-0C1A-0F12-CAF33F16AD6C}"/>
              </a:ext>
            </a:extLst>
          </p:cNvPr>
          <p:cNvSpPr>
            <a:spLocks noGrp="1"/>
          </p:cNvSpPr>
          <p:nvPr>
            <p:ph type="sldNum" sz="quarter" idx="12"/>
          </p:nvPr>
        </p:nvSpPr>
        <p:spPr/>
        <p:txBody>
          <a:bodyPr/>
          <a:lstStyle/>
          <a:p>
            <a:fld id="{F668D474-6058-43C6-98B8-5479B194BFAA}" type="slidenum">
              <a:rPr lang="en-IN" smtClean="0"/>
              <a:t>‹#›</a:t>
            </a:fld>
            <a:endParaRPr lang="en-IN"/>
          </a:p>
        </p:txBody>
      </p:sp>
    </p:spTree>
    <p:extLst>
      <p:ext uri="{BB962C8B-B14F-4D97-AF65-F5344CB8AC3E}">
        <p14:creationId xmlns:p14="http://schemas.microsoft.com/office/powerpoint/2010/main" val="2362807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96BF9-A6A4-9548-237E-784F39CCF8B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8AB5A94-0ADB-8B4E-743F-93DBA37672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918E17-CCC0-F43C-EE13-934B4AB7F5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E348D86-E573-DA28-7964-34EDCF7FBF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B1C95E-9292-A243-865F-C0B12CA608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86D694E-D7EC-172F-7506-35C499D13D6C}"/>
              </a:ext>
            </a:extLst>
          </p:cNvPr>
          <p:cNvSpPr>
            <a:spLocks noGrp="1"/>
          </p:cNvSpPr>
          <p:nvPr>
            <p:ph type="dt" sz="half" idx="10"/>
          </p:nvPr>
        </p:nvSpPr>
        <p:spPr/>
        <p:txBody>
          <a:bodyPr/>
          <a:lstStyle/>
          <a:p>
            <a:fld id="{F8E9F618-DE57-476F-8560-E242FBBF13E1}" type="datetimeFigureOut">
              <a:rPr lang="en-IN" smtClean="0"/>
              <a:t>10-10-2026</a:t>
            </a:fld>
            <a:endParaRPr lang="en-IN"/>
          </a:p>
        </p:txBody>
      </p:sp>
      <p:sp>
        <p:nvSpPr>
          <p:cNvPr id="8" name="Footer Placeholder 7">
            <a:extLst>
              <a:ext uri="{FF2B5EF4-FFF2-40B4-BE49-F238E27FC236}">
                <a16:creationId xmlns:a16="http://schemas.microsoft.com/office/drawing/2014/main" id="{F21685C7-41E4-8596-1B75-9F65B671114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29A1434-F295-F5A2-6FA7-14C99885A2CE}"/>
              </a:ext>
            </a:extLst>
          </p:cNvPr>
          <p:cNvSpPr>
            <a:spLocks noGrp="1"/>
          </p:cNvSpPr>
          <p:nvPr>
            <p:ph type="sldNum" sz="quarter" idx="12"/>
          </p:nvPr>
        </p:nvSpPr>
        <p:spPr/>
        <p:txBody>
          <a:bodyPr/>
          <a:lstStyle/>
          <a:p>
            <a:fld id="{F668D474-6058-43C6-98B8-5479B194BFAA}" type="slidenum">
              <a:rPr lang="en-IN" smtClean="0"/>
              <a:t>‹#›</a:t>
            </a:fld>
            <a:endParaRPr lang="en-IN"/>
          </a:p>
        </p:txBody>
      </p:sp>
    </p:spTree>
    <p:extLst>
      <p:ext uri="{BB962C8B-B14F-4D97-AF65-F5344CB8AC3E}">
        <p14:creationId xmlns:p14="http://schemas.microsoft.com/office/powerpoint/2010/main" val="390298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6341-9693-BC08-9CB7-C6D8EC0D11D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7F1DBB9-01CD-ACD2-7356-0FC940D5FAA8}"/>
              </a:ext>
            </a:extLst>
          </p:cNvPr>
          <p:cNvSpPr>
            <a:spLocks noGrp="1"/>
          </p:cNvSpPr>
          <p:nvPr>
            <p:ph type="dt" sz="half" idx="10"/>
          </p:nvPr>
        </p:nvSpPr>
        <p:spPr/>
        <p:txBody>
          <a:bodyPr/>
          <a:lstStyle/>
          <a:p>
            <a:fld id="{F8E9F618-DE57-476F-8560-E242FBBF13E1}" type="datetimeFigureOut">
              <a:rPr lang="en-IN" smtClean="0"/>
              <a:t>10-10-2026</a:t>
            </a:fld>
            <a:endParaRPr lang="en-IN"/>
          </a:p>
        </p:txBody>
      </p:sp>
      <p:sp>
        <p:nvSpPr>
          <p:cNvPr id="4" name="Footer Placeholder 3">
            <a:extLst>
              <a:ext uri="{FF2B5EF4-FFF2-40B4-BE49-F238E27FC236}">
                <a16:creationId xmlns:a16="http://schemas.microsoft.com/office/drawing/2014/main" id="{95DD99DE-520D-97C1-2161-FC50EF3D2F9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8FC46B1-A295-5738-2563-F714889AD83F}"/>
              </a:ext>
            </a:extLst>
          </p:cNvPr>
          <p:cNvSpPr>
            <a:spLocks noGrp="1"/>
          </p:cNvSpPr>
          <p:nvPr>
            <p:ph type="sldNum" sz="quarter" idx="12"/>
          </p:nvPr>
        </p:nvSpPr>
        <p:spPr/>
        <p:txBody>
          <a:bodyPr/>
          <a:lstStyle/>
          <a:p>
            <a:fld id="{F668D474-6058-43C6-98B8-5479B194BFAA}" type="slidenum">
              <a:rPr lang="en-IN" smtClean="0"/>
              <a:t>‹#›</a:t>
            </a:fld>
            <a:endParaRPr lang="en-IN"/>
          </a:p>
        </p:txBody>
      </p:sp>
    </p:spTree>
    <p:extLst>
      <p:ext uri="{BB962C8B-B14F-4D97-AF65-F5344CB8AC3E}">
        <p14:creationId xmlns:p14="http://schemas.microsoft.com/office/powerpoint/2010/main" val="140837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4869B7-AE20-B1C1-7EE8-248CE3D8EBC5}"/>
              </a:ext>
            </a:extLst>
          </p:cNvPr>
          <p:cNvSpPr>
            <a:spLocks noGrp="1"/>
          </p:cNvSpPr>
          <p:nvPr>
            <p:ph type="dt" sz="half" idx="10"/>
          </p:nvPr>
        </p:nvSpPr>
        <p:spPr/>
        <p:txBody>
          <a:bodyPr/>
          <a:lstStyle/>
          <a:p>
            <a:fld id="{F8E9F618-DE57-476F-8560-E242FBBF13E1}" type="datetimeFigureOut">
              <a:rPr lang="en-IN" smtClean="0"/>
              <a:t>10-10-2026</a:t>
            </a:fld>
            <a:endParaRPr lang="en-IN"/>
          </a:p>
        </p:txBody>
      </p:sp>
      <p:sp>
        <p:nvSpPr>
          <p:cNvPr id="3" name="Footer Placeholder 2">
            <a:extLst>
              <a:ext uri="{FF2B5EF4-FFF2-40B4-BE49-F238E27FC236}">
                <a16:creationId xmlns:a16="http://schemas.microsoft.com/office/drawing/2014/main" id="{851E5C2A-1177-D308-392C-3B8C550B6B5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40FD822-9D1F-B9D1-844A-87F9BF024438}"/>
              </a:ext>
            </a:extLst>
          </p:cNvPr>
          <p:cNvSpPr>
            <a:spLocks noGrp="1"/>
          </p:cNvSpPr>
          <p:nvPr>
            <p:ph type="sldNum" sz="quarter" idx="12"/>
          </p:nvPr>
        </p:nvSpPr>
        <p:spPr/>
        <p:txBody>
          <a:bodyPr/>
          <a:lstStyle/>
          <a:p>
            <a:fld id="{F668D474-6058-43C6-98B8-5479B194BFAA}" type="slidenum">
              <a:rPr lang="en-IN" smtClean="0"/>
              <a:t>‹#›</a:t>
            </a:fld>
            <a:endParaRPr lang="en-IN"/>
          </a:p>
        </p:txBody>
      </p:sp>
    </p:spTree>
    <p:extLst>
      <p:ext uri="{BB962C8B-B14F-4D97-AF65-F5344CB8AC3E}">
        <p14:creationId xmlns:p14="http://schemas.microsoft.com/office/powerpoint/2010/main" val="1391547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335D0-1FE4-28BE-B3BB-47A2807ADE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78630FB-7B8F-FBCF-E478-8C265DB70D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867DA5B-8E8B-EFF5-C4AF-777EC35DBD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852243-8238-22F0-1ADD-49FA2E974D13}"/>
              </a:ext>
            </a:extLst>
          </p:cNvPr>
          <p:cNvSpPr>
            <a:spLocks noGrp="1"/>
          </p:cNvSpPr>
          <p:nvPr>
            <p:ph type="dt" sz="half" idx="10"/>
          </p:nvPr>
        </p:nvSpPr>
        <p:spPr/>
        <p:txBody>
          <a:bodyPr/>
          <a:lstStyle/>
          <a:p>
            <a:fld id="{F8E9F618-DE57-476F-8560-E242FBBF13E1}" type="datetimeFigureOut">
              <a:rPr lang="en-IN" smtClean="0"/>
              <a:t>10-10-2026</a:t>
            </a:fld>
            <a:endParaRPr lang="en-IN"/>
          </a:p>
        </p:txBody>
      </p:sp>
      <p:sp>
        <p:nvSpPr>
          <p:cNvPr id="6" name="Footer Placeholder 5">
            <a:extLst>
              <a:ext uri="{FF2B5EF4-FFF2-40B4-BE49-F238E27FC236}">
                <a16:creationId xmlns:a16="http://schemas.microsoft.com/office/drawing/2014/main" id="{6A5F115F-4165-EE31-C1FE-BE4B47F969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44D73D-4131-E858-E8B1-C9A3F3C2FEF6}"/>
              </a:ext>
            </a:extLst>
          </p:cNvPr>
          <p:cNvSpPr>
            <a:spLocks noGrp="1"/>
          </p:cNvSpPr>
          <p:nvPr>
            <p:ph type="sldNum" sz="quarter" idx="12"/>
          </p:nvPr>
        </p:nvSpPr>
        <p:spPr/>
        <p:txBody>
          <a:bodyPr/>
          <a:lstStyle/>
          <a:p>
            <a:fld id="{F668D474-6058-43C6-98B8-5479B194BFAA}" type="slidenum">
              <a:rPr lang="en-IN" smtClean="0"/>
              <a:t>‹#›</a:t>
            </a:fld>
            <a:endParaRPr lang="en-IN"/>
          </a:p>
        </p:txBody>
      </p:sp>
    </p:spTree>
    <p:extLst>
      <p:ext uri="{BB962C8B-B14F-4D97-AF65-F5344CB8AC3E}">
        <p14:creationId xmlns:p14="http://schemas.microsoft.com/office/powerpoint/2010/main" val="1658658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71D5F-8322-7856-1E96-ED177E58AE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6C98326-1FA2-FFFA-C76E-30B31F80A89F}"/>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C8E7722-685E-1300-DC3A-CCCC3E3C77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A43984-857A-EDAE-3A4C-34BDA722AD8F}"/>
              </a:ext>
            </a:extLst>
          </p:cNvPr>
          <p:cNvSpPr>
            <a:spLocks noGrp="1"/>
          </p:cNvSpPr>
          <p:nvPr>
            <p:ph type="dt" sz="half" idx="10"/>
          </p:nvPr>
        </p:nvSpPr>
        <p:spPr/>
        <p:txBody>
          <a:bodyPr/>
          <a:lstStyle/>
          <a:p>
            <a:fld id="{F8E9F618-DE57-476F-8560-E242FBBF13E1}" type="datetimeFigureOut">
              <a:rPr lang="en-IN" smtClean="0"/>
              <a:t>10-10-2026</a:t>
            </a:fld>
            <a:endParaRPr lang="en-IN"/>
          </a:p>
        </p:txBody>
      </p:sp>
      <p:sp>
        <p:nvSpPr>
          <p:cNvPr id="6" name="Footer Placeholder 5">
            <a:extLst>
              <a:ext uri="{FF2B5EF4-FFF2-40B4-BE49-F238E27FC236}">
                <a16:creationId xmlns:a16="http://schemas.microsoft.com/office/drawing/2014/main" id="{3856D41A-359C-B30B-5D51-F387EC42CE7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53CBFE-778E-2E02-AF58-E7F345583E92}"/>
              </a:ext>
            </a:extLst>
          </p:cNvPr>
          <p:cNvSpPr>
            <a:spLocks noGrp="1"/>
          </p:cNvSpPr>
          <p:nvPr>
            <p:ph type="sldNum" sz="quarter" idx="12"/>
          </p:nvPr>
        </p:nvSpPr>
        <p:spPr/>
        <p:txBody>
          <a:bodyPr/>
          <a:lstStyle/>
          <a:p>
            <a:fld id="{F668D474-6058-43C6-98B8-5479B194BFAA}" type="slidenum">
              <a:rPr lang="en-IN" smtClean="0"/>
              <a:t>‹#›</a:t>
            </a:fld>
            <a:endParaRPr lang="en-IN"/>
          </a:p>
        </p:txBody>
      </p:sp>
    </p:spTree>
    <p:extLst>
      <p:ext uri="{BB962C8B-B14F-4D97-AF65-F5344CB8AC3E}">
        <p14:creationId xmlns:p14="http://schemas.microsoft.com/office/powerpoint/2010/main" val="1919231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76377-AB8C-214A-2890-AA33CE5C276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CDF3E4-5A94-04FC-2E51-0A5AD95ABD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B504A8-A2F3-A0C4-7F74-1AB885B1C071}"/>
              </a:ext>
            </a:extLst>
          </p:cNvPr>
          <p:cNvSpPr>
            <a:spLocks noGrp="1"/>
          </p:cNvSpPr>
          <p:nvPr>
            <p:ph type="dt" sz="half" idx="10"/>
          </p:nvPr>
        </p:nvSpPr>
        <p:spPr/>
        <p:txBody>
          <a:bodyPr/>
          <a:lstStyle/>
          <a:p>
            <a:fld id="{F8E9F618-DE57-476F-8560-E242FBBF13E1}" type="datetimeFigureOut">
              <a:rPr lang="en-IN" smtClean="0"/>
              <a:t>10-10-2026</a:t>
            </a:fld>
            <a:endParaRPr lang="en-IN"/>
          </a:p>
        </p:txBody>
      </p:sp>
      <p:sp>
        <p:nvSpPr>
          <p:cNvPr id="5" name="Footer Placeholder 4">
            <a:extLst>
              <a:ext uri="{FF2B5EF4-FFF2-40B4-BE49-F238E27FC236}">
                <a16:creationId xmlns:a16="http://schemas.microsoft.com/office/drawing/2014/main" id="{58BB503A-DB16-75B0-C99F-F35EA0BB4D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7B7E8F-DAFC-326F-51DF-AC31308956C5}"/>
              </a:ext>
            </a:extLst>
          </p:cNvPr>
          <p:cNvSpPr>
            <a:spLocks noGrp="1"/>
          </p:cNvSpPr>
          <p:nvPr>
            <p:ph type="sldNum" sz="quarter" idx="12"/>
          </p:nvPr>
        </p:nvSpPr>
        <p:spPr/>
        <p:txBody>
          <a:bodyPr/>
          <a:lstStyle/>
          <a:p>
            <a:fld id="{F668D474-6058-43C6-98B8-5479B194BFAA}" type="slidenum">
              <a:rPr lang="en-IN" smtClean="0"/>
              <a:t>‹#›</a:t>
            </a:fld>
            <a:endParaRPr lang="en-IN"/>
          </a:p>
        </p:txBody>
      </p:sp>
    </p:spTree>
    <p:extLst>
      <p:ext uri="{BB962C8B-B14F-4D97-AF65-F5344CB8AC3E}">
        <p14:creationId xmlns:p14="http://schemas.microsoft.com/office/powerpoint/2010/main" val="3172491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94F7E8-5360-825F-5818-770F4484389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69A904-90ED-2A67-48F8-8FD5D59211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67B359-712D-2303-C5D6-26AEF43B63F2}"/>
              </a:ext>
            </a:extLst>
          </p:cNvPr>
          <p:cNvSpPr>
            <a:spLocks noGrp="1"/>
          </p:cNvSpPr>
          <p:nvPr>
            <p:ph type="dt" sz="half" idx="10"/>
          </p:nvPr>
        </p:nvSpPr>
        <p:spPr/>
        <p:txBody>
          <a:bodyPr/>
          <a:lstStyle/>
          <a:p>
            <a:fld id="{F8E9F618-DE57-476F-8560-E242FBBF13E1}" type="datetimeFigureOut">
              <a:rPr lang="en-IN" smtClean="0"/>
              <a:t>10-10-2026</a:t>
            </a:fld>
            <a:endParaRPr lang="en-IN"/>
          </a:p>
        </p:txBody>
      </p:sp>
      <p:sp>
        <p:nvSpPr>
          <p:cNvPr id="5" name="Footer Placeholder 4">
            <a:extLst>
              <a:ext uri="{FF2B5EF4-FFF2-40B4-BE49-F238E27FC236}">
                <a16:creationId xmlns:a16="http://schemas.microsoft.com/office/drawing/2014/main" id="{CE3632B4-7A8F-37C0-18BD-D41A1FF134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CE761A-AAD7-8356-2303-11199EE4917D}"/>
              </a:ext>
            </a:extLst>
          </p:cNvPr>
          <p:cNvSpPr>
            <a:spLocks noGrp="1"/>
          </p:cNvSpPr>
          <p:nvPr>
            <p:ph type="sldNum" sz="quarter" idx="12"/>
          </p:nvPr>
        </p:nvSpPr>
        <p:spPr/>
        <p:txBody>
          <a:bodyPr/>
          <a:lstStyle/>
          <a:p>
            <a:fld id="{F668D474-6058-43C6-98B8-5479B194BFAA}" type="slidenum">
              <a:rPr lang="en-IN" smtClean="0"/>
              <a:t>‹#›</a:t>
            </a:fld>
            <a:endParaRPr lang="en-IN"/>
          </a:p>
        </p:txBody>
      </p:sp>
    </p:spTree>
    <p:extLst>
      <p:ext uri="{BB962C8B-B14F-4D97-AF65-F5344CB8AC3E}">
        <p14:creationId xmlns:p14="http://schemas.microsoft.com/office/powerpoint/2010/main" val="37824597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05AED-5777-8130-4CBE-D5A9AD587E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EBA9E0E-B954-1F72-C9E1-E871F8A620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082513-21D2-6A4C-68D7-8B07FC912E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E9F618-DE57-476F-8560-E242FBBF13E1}" type="datetimeFigureOut">
              <a:rPr lang="en-IN" smtClean="0"/>
              <a:t>10-10-2026</a:t>
            </a:fld>
            <a:endParaRPr lang="en-IN"/>
          </a:p>
        </p:txBody>
      </p:sp>
      <p:sp>
        <p:nvSpPr>
          <p:cNvPr id="5" name="Footer Placeholder 4">
            <a:extLst>
              <a:ext uri="{FF2B5EF4-FFF2-40B4-BE49-F238E27FC236}">
                <a16:creationId xmlns:a16="http://schemas.microsoft.com/office/drawing/2014/main" id="{3B28C863-F692-1DB0-845F-9F8D7FACE6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D48DE76-73B1-19DA-3DDF-AA746B83D3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68D474-6058-43C6-98B8-5479B194BFAA}" type="slidenum">
              <a:rPr lang="en-IN" smtClean="0"/>
              <a:t>‹#›</a:t>
            </a:fld>
            <a:endParaRPr lang="en-IN"/>
          </a:p>
        </p:txBody>
      </p:sp>
    </p:spTree>
    <p:extLst>
      <p:ext uri="{BB962C8B-B14F-4D97-AF65-F5344CB8AC3E}">
        <p14:creationId xmlns:p14="http://schemas.microsoft.com/office/powerpoint/2010/main" val="33378230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23859"/>
            </a:gs>
            <a:gs pos="100000">
              <a:srgbClr val="011C40"/>
            </a:gs>
          </a:gsLst>
          <a:lin ang="2700000" scaled="1"/>
          <a:tileRect/>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941C19-6521-748F-B1B2-C2F0AEBC218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747000" y="1230299"/>
            <a:ext cx="3810000" cy="4270403"/>
          </a:xfrm>
          <a:prstGeom prst="rect">
            <a:avLst/>
          </a:prstGeom>
        </p:spPr>
      </p:pic>
      <p:pic>
        <p:nvPicPr>
          <p:cNvPr id="5" name="Picture 4">
            <a:extLst>
              <a:ext uri="{FF2B5EF4-FFF2-40B4-BE49-F238E27FC236}">
                <a16:creationId xmlns:a16="http://schemas.microsoft.com/office/drawing/2014/main" id="{4F81C826-88A4-5A8C-6D80-F21CF814760E}"/>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09600" y="609600"/>
            <a:ext cx="508000" cy="508000"/>
          </a:xfrm>
          <a:prstGeom prst="rect">
            <a:avLst/>
          </a:prstGeom>
        </p:spPr>
      </p:pic>
      <p:sp>
        <p:nvSpPr>
          <p:cNvPr id="6" name="TextBox 5">
            <a:extLst>
              <a:ext uri="{FF2B5EF4-FFF2-40B4-BE49-F238E27FC236}">
                <a16:creationId xmlns:a16="http://schemas.microsoft.com/office/drawing/2014/main" id="{D0B11268-648A-EF67-DA41-2FCA31DB02D3}"/>
              </a:ext>
            </a:extLst>
          </p:cNvPr>
          <p:cNvSpPr txBox="1"/>
          <p:nvPr/>
        </p:nvSpPr>
        <p:spPr>
          <a:xfrm>
            <a:off x="1244600" y="711200"/>
            <a:ext cx="3810000" cy="369332"/>
          </a:xfrm>
          <a:prstGeom prst="rect">
            <a:avLst/>
          </a:prstGeom>
          <a:noFill/>
        </p:spPr>
        <p:txBody>
          <a:bodyPr vert="horz" wrap="square" lIns="0" tIns="0" rIns="0" bIns="0" rtlCol="0">
            <a:noAutofit/>
          </a:bodyPr>
          <a:lstStyle/>
          <a:p>
            <a:pPr>
              <a:lnSpc>
                <a:spcPct val="110000"/>
              </a:lnSpc>
            </a:pPr>
            <a:r>
              <a:rPr lang="en-IN" sz="2000">
                <a:solidFill>
                  <a:srgbClr val="A7EBF2"/>
                </a:solidFill>
                <a:latin typeface="Segoe UI Semibold" panose="020B0702040204020203" pitchFamily="34" charset="0"/>
              </a:rPr>
              <a:t>Acadrix</a:t>
            </a:r>
          </a:p>
        </p:txBody>
      </p:sp>
      <p:sp>
        <p:nvSpPr>
          <p:cNvPr id="7" name="TextBox 6">
            <a:extLst>
              <a:ext uri="{FF2B5EF4-FFF2-40B4-BE49-F238E27FC236}">
                <a16:creationId xmlns:a16="http://schemas.microsoft.com/office/drawing/2014/main" id="{ADF0AA49-A6D6-6AF1-BB9A-17B5D7841CEC}"/>
              </a:ext>
            </a:extLst>
          </p:cNvPr>
          <p:cNvSpPr txBox="1"/>
          <p:nvPr/>
        </p:nvSpPr>
        <p:spPr>
          <a:xfrm>
            <a:off x="609600" y="1778000"/>
            <a:ext cx="7112000" cy="369332"/>
          </a:xfrm>
          <a:prstGeom prst="rect">
            <a:avLst/>
          </a:prstGeom>
          <a:noFill/>
        </p:spPr>
        <p:txBody>
          <a:bodyPr vert="horz" wrap="square" lIns="0" tIns="0" rIns="0" bIns="0" rtlCol="0">
            <a:noAutofit/>
          </a:bodyPr>
          <a:lstStyle/>
          <a:p>
            <a:r>
              <a:rPr lang="en-IN" sz="4000" b="1">
                <a:solidFill>
                  <a:srgbClr val="F4FBFC"/>
                </a:solidFill>
                <a:latin typeface="Georgia" panose="02040502050405020303" pitchFamily="18" charset="0"/>
              </a:rPr>
              <a:t>Student Performance Prediction System</a:t>
            </a:r>
          </a:p>
        </p:txBody>
      </p:sp>
      <p:sp>
        <p:nvSpPr>
          <p:cNvPr id="8" name="TextBox 7">
            <a:extLst>
              <a:ext uri="{FF2B5EF4-FFF2-40B4-BE49-F238E27FC236}">
                <a16:creationId xmlns:a16="http://schemas.microsoft.com/office/drawing/2014/main" id="{CA7EB789-9ECF-516B-58CF-8BF4F271785F}"/>
              </a:ext>
            </a:extLst>
          </p:cNvPr>
          <p:cNvSpPr txBox="1"/>
          <p:nvPr/>
        </p:nvSpPr>
        <p:spPr>
          <a:xfrm>
            <a:off x="609600" y="3683000"/>
            <a:ext cx="6604000" cy="369332"/>
          </a:xfrm>
          <a:prstGeom prst="rect">
            <a:avLst/>
          </a:prstGeom>
          <a:noFill/>
        </p:spPr>
        <p:txBody>
          <a:bodyPr vert="horz" wrap="square" lIns="0" tIns="0" rIns="0" bIns="0" rtlCol="0">
            <a:noAutofit/>
          </a:bodyPr>
          <a:lstStyle/>
          <a:p>
            <a:pPr>
              <a:lnSpc>
                <a:spcPct val="110000"/>
              </a:lnSpc>
            </a:pPr>
            <a:r>
              <a:rPr lang="en-US">
                <a:solidFill>
                  <a:srgbClr val="B8D3DE"/>
                </a:solidFill>
                <a:latin typeface="Segoe UI" panose="020B0502040204020203" pitchFamily="34" charset="0"/>
              </a:rPr>
              <a:t>Predict a student's final score early, and turn it into a plan.</a:t>
            </a:r>
            <a:endParaRPr lang="en-IN">
              <a:solidFill>
                <a:srgbClr val="B8D3DE"/>
              </a:solidFill>
              <a:latin typeface="Segoe UI" panose="020B0502040204020203" pitchFamily="34" charset="0"/>
            </a:endParaRPr>
          </a:p>
        </p:txBody>
      </p:sp>
      <p:sp>
        <p:nvSpPr>
          <p:cNvPr id="9" name="TextBox 8">
            <a:extLst>
              <a:ext uri="{FF2B5EF4-FFF2-40B4-BE49-F238E27FC236}">
                <a16:creationId xmlns:a16="http://schemas.microsoft.com/office/drawing/2014/main" id="{41818AFD-862B-F6A6-1169-11772A0C766C}"/>
              </a:ext>
            </a:extLst>
          </p:cNvPr>
          <p:cNvSpPr txBox="1"/>
          <p:nvPr/>
        </p:nvSpPr>
        <p:spPr>
          <a:xfrm>
            <a:off x="609600" y="5207000"/>
            <a:ext cx="7112000" cy="369332"/>
          </a:xfrm>
          <a:prstGeom prst="rect">
            <a:avLst/>
          </a:prstGeom>
          <a:noFill/>
        </p:spPr>
        <p:txBody>
          <a:bodyPr vert="horz" wrap="square" lIns="0" tIns="0" rIns="0" bIns="0" rtlCol="0">
            <a:noAutofit/>
          </a:bodyPr>
          <a:lstStyle/>
          <a:p>
            <a:pPr>
              <a:lnSpc>
                <a:spcPct val="110000"/>
              </a:lnSpc>
            </a:pPr>
            <a:r>
              <a:rPr lang="en-IN" sz="1300">
                <a:solidFill>
                  <a:srgbClr val="EAF7FA"/>
                </a:solidFill>
                <a:latin typeface="Segoe UI" panose="020B0502040204020203" pitchFamily="34" charset="0"/>
              </a:rPr>
              <a:t>Project 1 · AIML Summer Internship 2026 · IIHMF, MNNIT Allahabad</a:t>
            </a:r>
          </a:p>
        </p:txBody>
      </p:sp>
      <p:sp>
        <p:nvSpPr>
          <p:cNvPr id="10" name="TextBox 9">
            <a:extLst>
              <a:ext uri="{FF2B5EF4-FFF2-40B4-BE49-F238E27FC236}">
                <a16:creationId xmlns:a16="http://schemas.microsoft.com/office/drawing/2014/main" id="{88C0EB3B-1409-7613-644E-48F3DFDF1F1E}"/>
              </a:ext>
            </a:extLst>
          </p:cNvPr>
          <p:cNvSpPr txBox="1"/>
          <p:nvPr/>
        </p:nvSpPr>
        <p:spPr>
          <a:xfrm>
            <a:off x="609600" y="5511800"/>
            <a:ext cx="7112000" cy="369332"/>
          </a:xfrm>
          <a:prstGeom prst="rect">
            <a:avLst/>
          </a:prstGeom>
          <a:noFill/>
        </p:spPr>
        <p:txBody>
          <a:bodyPr vert="horz" wrap="square" lIns="0" tIns="0" rIns="0" bIns="0" rtlCol="0">
            <a:noAutofit/>
          </a:bodyPr>
          <a:lstStyle/>
          <a:p>
            <a:pPr>
              <a:lnSpc>
                <a:spcPct val="110000"/>
              </a:lnSpc>
            </a:pPr>
            <a:r>
              <a:rPr lang="en-IN" sz="1300">
                <a:solidFill>
                  <a:srgbClr val="A7EBF2"/>
                </a:solidFill>
                <a:latin typeface="Segoe UI Semibold" panose="020B0702040204020203" pitchFamily="34" charset="0"/>
              </a:rPr>
              <a:t>Mohammad Farhan  ·  Tanish Yadav  ·  Garima Jaiswal</a:t>
            </a:r>
          </a:p>
        </p:txBody>
      </p:sp>
    </p:spTree>
    <p:extLst>
      <p:ext uri="{BB962C8B-B14F-4D97-AF65-F5344CB8AC3E}">
        <p14:creationId xmlns:p14="http://schemas.microsoft.com/office/powerpoint/2010/main" val="734041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8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10A8C7-30DF-BCDA-4F96-81BFAEF4603B}"/>
              </a:ext>
            </a:extLst>
          </p:cNvPr>
          <p:cNvSpPr txBox="1"/>
          <p:nvPr/>
        </p:nvSpPr>
        <p:spPr>
          <a:xfrm>
            <a:off x="609600" y="508000"/>
            <a:ext cx="5080000" cy="369332"/>
          </a:xfrm>
          <a:prstGeom prst="rect">
            <a:avLst/>
          </a:prstGeom>
          <a:noFill/>
        </p:spPr>
        <p:txBody>
          <a:bodyPr vert="horz" wrap="square" lIns="0" tIns="0" rIns="0" bIns="0" rtlCol="0">
            <a:noAutofit/>
          </a:bodyPr>
          <a:lstStyle/>
          <a:p>
            <a:pPr>
              <a:lnSpc>
                <a:spcPct val="110000"/>
              </a:lnSpc>
            </a:pPr>
            <a:r>
              <a:rPr lang="en-IN" sz="1100">
                <a:solidFill>
                  <a:srgbClr val="26658C"/>
                </a:solidFill>
                <a:latin typeface="Segoe UI Semibold" panose="020B0702040204020203" pitchFamily="34" charset="0"/>
              </a:rPr>
              <a:t>AGENDA</a:t>
            </a:r>
          </a:p>
        </p:txBody>
      </p:sp>
      <p:sp>
        <p:nvSpPr>
          <p:cNvPr id="3" name="TextBox 2">
            <a:extLst>
              <a:ext uri="{FF2B5EF4-FFF2-40B4-BE49-F238E27FC236}">
                <a16:creationId xmlns:a16="http://schemas.microsoft.com/office/drawing/2014/main" id="{CE62FE54-A73E-F9F2-9E7B-17EB993396F2}"/>
              </a:ext>
            </a:extLst>
          </p:cNvPr>
          <p:cNvSpPr txBox="1"/>
          <p:nvPr/>
        </p:nvSpPr>
        <p:spPr>
          <a:xfrm>
            <a:off x="609600" y="736600"/>
            <a:ext cx="10972800" cy="369332"/>
          </a:xfrm>
          <a:prstGeom prst="rect">
            <a:avLst/>
          </a:prstGeom>
          <a:noFill/>
        </p:spPr>
        <p:txBody>
          <a:bodyPr vert="horz" wrap="square" lIns="0" tIns="0" rIns="0" bIns="0" rtlCol="0">
            <a:noAutofit/>
          </a:bodyPr>
          <a:lstStyle/>
          <a:p>
            <a:pPr>
              <a:lnSpc>
                <a:spcPct val="110000"/>
              </a:lnSpc>
            </a:pPr>
            <a:r>
              <a:rPr lang="en-US" sz="2600" b="1">
                <a:solidFill>
                  <a:srgbClr val="0B2340"/>
                </a:solidFill>
                <a:latin typeface="Georgia" panose="02040502050405020303" pitchFamily="18" charset="0"/>
              </a:rPr>
              <a:t>A walkthrough of the full machine learning pipeline</a:t>
            </a:r>
            <a:endParaRPr lang="en-IN" sz="2600" b="1">
              <a:solidFill>
                <a:srgbClr val="0B2340"/>
              </a:solidFill>
              <a:latin typeface="Georgia" panose="02040502050405020303" pitchFamily="18" charset="0"/>
            </a:endParaRPr>
          </a:p>
        </p:txBody>
      </p:sp>
      <p:sp>
        <p:nvSpPr>
          <p:cNvPr id="4" name="Rectangle: Rounded Corners 3">
            <a:extLst>
              <a:ext uri="{FF2B5EF4-FFF2-40B4-BE49-F238E27FC236}">
                <a16:creationId xmlns:a16="http://schemas.microsoft.com/office/drawing/2014/main" id="{CF0785CD-6F6B-8CAE-B1DC-931EB7AAD455}"/>
              </a:ext>
            </a:extLst>
          </p:cNvPr>
          <p:cNvSpPr/>
          <p:nvPr/>
        </p:nvSpPr>
        <p:spPr>
          <a:xfrm>
            <a:off x="609600" y="1651000"/>
            <a:ext cx="10972800" cy="7366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D5BD54B0-5E1A-17FB-A5E3-A5953247CB32}"/>
              </a:ext>
            </a:extLst>
          </p:cNvPr>
          <p:cNvSpPr/>
          <p:nvPr/>
        </p:nvSpPr>
        <p:spPr>
          <a:xfrm>
            <a:off x="812800" y="1790700"/>
            <a:ext cx="457200" cy="457200"/>
          </a:xfrm>
          <a:prstGeom prst="roundRect">
            <a:avLst>
              <a:gd name="adj" fmla="val 50000"/>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AF99EF34-5ADC-77E4-5B97-AFD30078B315}"/>
              </a:ext>
            </a:extLst>
          </p:cNvPr>
          <p:cNvSpPr txBox="1"/>
          <p:nvPr/>
        </p:nvSpPr>
        <p:spPr>
          <a:xfrm>
            <a:off x="812800" y="1905000"/>
            <a:ext cx="457200" cy="369332"/>
          </a:xfrm>
          <a:prstGeom prst="rect">
            <a:avLst/>
          </a:prstGeom>
          <a:noFill/>
        </p:spPr>
        <p:txBody>
          <a:bodyPr vert="horz" wrap="square" lIns="0" tIns="0" rIns="0" bIns="0" rtlCol="0">
            <a:noAutofit/>
          </a:bodyPr>
          <a:lstStyle/>
          <a:p>
            <a:pPr algn="ctr">
              <a:lnSpc>
                <a:spcPct val="110000"/>
              </a:lnSpc>
            </a:pPr>
            <a:r>
              <a:rPr lang="en-IN" sz="1300">
                <a:solidFill>
                  <a:srgbClr val="FFFFFF"/>
                </a:solidFill>
                <a:latin typeface="Segoe UI Semibold" panose="020B0702040204020203" pitchFamily="34" charset="0"/>
              </a:rPr>
              <a:t>01</a:t>
            </a:r>
          </a:p>
        </p:txBody>
      </p:sp>
      <p:sp>
        <p:nvSpPr>
          <p:cNvPr id="7" name="TextBox 6">
            <a:extLst>
              <a:ext uri="{FF2B5EF4-FFF2-40B4-BE49-F238E27FC236}">
                <a16:creationId xmlns:a16="http://schemas.microsoft.com/office/drawing/2014/main" id="{F0B03BEE-3B8F-F279-4DFF-E36EB1FFAB08}"/>
              </a:ext>
            </a:extLst>
          </p:cNvPr>
          <p:cNvSpPr txBox="1"/>
          <p:nvPr/>
        </p:nvSpPr>
        <p:spPr>
          <a:xfrm>
            <a:off x="1498600" y="1778000"/>
            <a:ext cx="4572000" cy="369332"/>
          </a:xfrm>
          <a:prstGeom prst="rect">
            <a:avLst/>
          </a:prstGeom>
          <a:noFill/>
        </p:spPr>
        <p:txBody>
          <a:bodyPr vert="horz" wrap="square" lIns="0" tIns="0" rIns="0" bIns="0" rtlCol="0">
            <a:noAutofit/>
          </a:bodyPr>
          <a:lstStyle/>
          <a:p>
            <a:pPr>
              <a:lnSpc>
                <a:spcPct val="110000"/>
              </a:lnSpc>
            </a:pPr>
            <a:r>
              <a:rPr lang="en-IN" sz="1700">
                <a:solidFill>
                  <a:srgbClr val="0B2340"/>
                </a:solidFill>
                <a:latin typeface="Segoe UI Semibold" panose="020B0702040204020203" pitchFamily="34" charset="0"/>
              </a:rPr>
              <a:t>Introduction</a:t>
            </a:r>
          </a:p>
        </p:txBody>
      </p:sp>
      <p:sp>
        <p:nvSpPr>
          <p:cNvPr id="8" name="TextBox 7">
            <a:extLst>
              <a:ext uri="{FF2B5EF4-FFF2-40B4-BE49-F238E27FC236}">
                <a16:creationId xmlns:a16="http://schemas.microsoft.com/office/drawing/2014/main" id="{05A8CBAD-A6A6-E10C-0EBA-06E68E83C1C4}"/>
              </a:ext>
            </a:extLst>
          </p:cNvPr>
          <p:cNvSpPr txBox="1"/>
          <p:nvPr/>
        </p:nvSpPr>
        <p:spPr>
          <a:xfrm>
            <a:off x="1498600" y="2057400"/>
            <a:ext cx="8890000" cy="369332"/>
          </a:xfrm>
          <a:prstGeom prst="rect">
            <a:avLst/>
          </a:prstGeom>
          <a:noFill/>
        </p:spPr>
        <p:txBody>
          <a:bodyPr vert="horz" wrap="square" lIns="0" tIns="0" rIns="0" bIns="0" rtlCol="0">
            <a:noAutofit/>
          </a:bodyPr>
          <a:lstStyle/>
          <a:p>
            <a:pPr>
              <a:lnSpc>
                <a:spcPct val="110000"/>
              </a:lnSpc>
            </a:pPr>
            <a:r>
              <a:rPr lang="en-IN" sz="1200">
                <a:solidFill>
                  <a:srgbClr val="3E5670"/>
                </a:solidFill>
                <a:latin typeface="Segoe UI" panose="020B0502040204020203" pitchFamily="34" charset="0"/>
              </a:rPr>
              <a:t>Problem statement and objectives</a:t>
            </a:r>
          </a:p>
        </p:txBody>
      </p:sp>
      <p:sp>
        <p:nvSpPr>
          <p:cNvPr id="9" name="Rectangle: Rounded Corners 8">
            <a:extLst>
              <a:ext uri="{FF2B5EF4-FFF2-40B4-BE49-F238E27FC236}">
                <a16:creationId xmlns:a16="http://schemas.microsoft.com/office/drawing/2014/main" id="{D990E777-0E04-2D0D-AD76-BB7B4F561B2C}"/>
              </a:ext>
            </a:extLst>
          </p:cNvPr>
          <p:cNvSpPr/>
          <p:nvPr/>
        </p:nvSpPr>
        <p:spPr>
          <a:xfrm>
            <a:off x="609600" y="2540000"/>
            <a:ext cx="10972800" cy="7366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Rounded Corners 9">
            <a:extLst>
              <a:ext uri="{FF2B5EF4-FFF2-40B4-BE49-F238E27FC236}">
                <a16:creationId xmlns:a16="http://schemas.microsoft.com/office/drawing/2014/main" id="{E63EB880-5654-5A2D-3DAF-175794F04D52}"/>
              </a:ext>
            </a:extLst>
          </p:cNvPr>
          <p:cNvSpPr/>
          <p:nvPr/>
        </p:nvSpPr>
        <p:spPr>
          <a:xfrm>
            <a:off x="812800" y="2679700"/>
            <a:ext cx="457200" cy="457200"/>
          </a:xfrm>
          <a:prstGeom prst="roundRect">
            <a:avLst>
              <a:gd name="adj" fmla="val 50000"/>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EF7332C0-C536-E3E8-273C-97E0336EDDBE}"/>
              </a:ext>
            </a:extLst>
          </p:cNvPr>
          <p:cNvSpPr txBox="1"/>
          <p:nvPr/>
        </p:nvSpPr>
        <p:spPr>
          <a:xfrm>
            <a:off x="812800" y="2794000"/>
            <a:ext cx="457200" cy="369332"/>
          </a:xfrm>
          <a:prstGeom prst="rect">
            <a:avLst/>
          </a:prstGeom>
          <a:noFill/>
        </p:spPr>
        <p:txBody>
          <a:bodyPr vert="horz" wrap="square" lIns="0" tIns="0" rIns="0" bIns="0" rtlCol="0">
            <a:noAutofit/>
          </a:bodyPr>
          <a:lstStyle/>
          <a:p>
            <a:pPr algn="ctr">
              <a:lnSpc>
                <a:spcPct val="110000"/>
              </a:lnSpc>
            </a:pPr>
            <a:r>
              <a:rPr lang="en-IN" sz="1300">
                <a:solidFill>
                  <a:srgbClr val="FFFFFF"/>
                </a:solidFill>
                <a:latin typeface="Segoe UI Semibold" panose="020B0702040204020203" pitchFamily="34" charset="0"/>
              </a:rPr>
              <a:t>02</a:t>
            </a:r>
          </a:p>
        </p:txBody>
      </p:sp>
      <p:sp>
        <p:nvSpPr>
          <p:cNvPr id="12" name="TextBox 11">
            <a:extLst>
              <a:ext uri="{FF2B5EF4-FFF2-40B4-BE49-F238E27FC236}">
                <a16:creationId xmlns:a16="http://schemas.microsoft.com/office/drawing/2014/main" id="{974ECA3C-236C-EA4A-FA8B-3BB2199244A0}"/>
              </a:ext>
            </a:extLst>
          </p:cNvPr>
          <p:cNvSpPr txBox="1"/>
          <p:nvPr/>
        </p:nvSpPr>
        <p:spPr>
          <a:xfrm>
            <a:off x="1498600" y="2667000"/>
            <a:ext cx="4572000" cy="369332"/>
          </a:xfrm>
          <a:prstGeom prst="rect">
            <a:avLst/>
          </a:prstGeom>
          <a:noFill/>
        </p:spPr>
        <p:txBody>
          <a:bodyPr vert="horz" wrap="square" lIns="0" tIns="0" rIns="0" bIns="0" rtlCol="0">
            <a:noAutofit/>
          </a:bodyPr>
          <a:lstStyle/>
          <a:p>
            <a:pPr>
              <a:lnSpc>
                <a:spcPct val="110000"/>
              </a:lnSpc>
            </a:pPr>
            <a:r>
              <a:rPr lang="en-IN" sz="1700">
                <a:solidFill>
                  <a:srgbClr val="0B2340"/>
                </a:solidFill>
                <a:latin typeface="Segoe UI Semibold" panose="020B0702040204020203" pitchFamily="34" charset="0"/>
              </a:rPr>
              <a:t>Data &amp; Methodology</a:t>
            </a:r>
          </a:p>
        </p:txBody>
      </p:sp>
      <p:sp>
        <p:nvSpPr>
          <p:cNvPr id="13" name="TextBox 12">
            <a:extLst>
              <a:ext uri="{FF2B5EF4-FFF2-40B4-BE49-F238E27FC236}">
                <a16:creationId xmlns:a16="http://schemas.microsoft.com/office/drawing/2014/main" id="{FFC60423-79AC-9E4E-C767-5FF042785578}"/>
              </a:ext>
            </a:extLst>
          </p:cNvPr>
          <p:cNvSpPr txBox="1"/>
          <p:nvPr/>
        </p:nvSpPr>
        <p:spPr>
          <a:xfrm>
            <a:off x="1498600" y="2946400"/>
            <a:ext cx="8890000" cy="369332"/>
          </a:xfrm>
          <a:prstGeom prst="rect">
            <a:avLst/>
          </a:prstGeom>
          <a:noFill/>
        </p:spPr>
        <p:txBody>
          <a:bodyPr vert="horz" wrap="square" lIns="0" tIns="0" rIns="0" bIns="0" rtlCol="0">
            <a:noAutofit/>
          </a:bodyPr>
          <a:lstStyle/>
          <a:p>
            <a:pPr>
              <a:lnSpc>
                <a:spcPct val="110000"/>
              </a:lnSpc>
            </a:pPr>
            <a:r>
              <a:rPr lang="en-US" sz="1200">
                <a:solidFill>
                  <a:srgbClr val="3E5670"/>
                </a:solidFill>
                <a:latin typeface="Segoe UI" panose="020B0502040204020203" pitchFamily="34" charset="0"/>
              </a:rPr>
              <a:t>1,015 student records and the six-step pipeline</a:t>
            </a:r>
            <a:endParaRPr lang="en-IN" sz="1200">
              <a:solidFill>
                <a:srgbClr val="3E5670"/>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C3FA5EA1-E1AA-15E3-9B05-7EA7BFB309AF}"/>
              </a:ext>
            </a:extLst>
          </p:cNvPr>
          <p:cNvSpPr/>
          <p:nvPr/>
        </p:nvSpPr>
        <p:spPr>
          <a:xfrm>
            <a:off x="609600" y="3429000"/>
            <a:ext cx="10972800" cy="7366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D9F2B9B1-75C7-63F4-1CE6-87F983DD51D0}"/>
              </a:ext>
            </a:extLst>
          </p:cNvPr>
          <p:cNvSpPr/>
          <p:nvPr/>
        </p:nvSpPr>
        <p:spPr>
          <a:xfrm>
            <a:off x="812800" y="3568700"/>
            <a:ext cx="457200" cy="457200"/>
          </a:xfrm>
          <a:prstGeom prst="roundRect">
            <a:avLst>
              <a:gd name="adj" fmla="val 50000"/>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070F71AD-2571-8FE7-9B9D-DA888EE82F92}"/>
              </a:ext>
            </a:extLst>
          </p:cNvPr>
          <p:cNvSpPr txBox="1"/>
          <p:nvPr/>
        </p:nvSpPr>
        <p:spPr>
          <a:xfrm>
            <a:off x="812800" y="3683000"/>
            <a:ext cx="457200" cy="369332"/>
          </a:xfrm>
          <a:prstGeom prst="rect">
            <a:avLst/>
          </a:prstGeom>
          <a:noFill/>
        </p:spPr>
        <p:txBody>
          <a:bodyPr vert="horz" wrap="square" lIns="0" tIns="0" rIns="0" bIns="0" rtlCol="0">
            <a:noAutofit/>
          </a:bodyPr>
          <a:lstStyle/>
          <a:p>
            <a:pPr algn="ctr">
              <a:lnSpc>
                <a:spcPct val="110000"/>
              </a:lnSpc>
            </a:pPr>
            <a:r>
              <a:rPr lang="en-IN" sz="1300">
                <a:solidFill>
                  <a:srgbClr val="FFFFFF"/>
                </a:solidFill>
                <a:latin typeface="Segoe UI Semibold" panose="020B0702040204020203" pitchFamily="34" charset="0"/>
              </a:rPr>
              <a:t>03</a:t>
            </a:r>
          </a:p>
        </p:txBody>
      </p:sp>
      <p:sp>
        <p:nvSpPr>
          <p:cNvPr id="17" name="TextBox 16">
            <a:extLst>
              <a:ext uri="{FF2B5EF4-FFF2-40B4-BE49-F238E27FC236}">
                <a16:creationId xmlns:a16="http://schemas.microsoft.com/office/drawing/2014/main" id="{6A169850-CFCC-E229-3D28-91FB929FBE97}"/>
              </a:ext>
            </a:extLst>
          </p:cNvPr>
          <p:cNvSpPr txBox="1"/>
          <p:nvPr/>
        </p:nvSpPr>
        <p:spPr>
          <a:xfrm>
            <a:off x="1498600" y="3556000"/>
            <a:ext cx="4572000" cy="369332"/>
          </a:xfrm>
          <a:prstGeom prst="rect">
            <a:avLst/>
          </a:prstGeom>
          <a:noFill/>
        </p:spPr>
        <p:txBody>
          <a:bodyPr vert="horz" wrap="square" lIns="0" tIns="0" rIns="0" bIns="0" rtlCol="0">
            <a:noAutofit/>
          </a:bodyPr>
          <a:lstStyle/>
          <a:p>
            <a:pPr>
              <a:lnSpc>
                <a:spcPct val="110000"/>
              </a:lnSpc>
            </a:pPr>
            <a:r>
              <a:rPr lang="en-IN" sz="1700">
                <a:solidFill>
                  <a:srgbClr val="0B2340"/>
                </a:solidFill>
                <a:latin typeface="Segoe UI Semibold" panose="020B0702040204020203" pitchFamily="34" charset="0"/>
              </a:rPr>
              <a:t>Preprocessing &amp; EDA</a:t>
            </a:r>
          </a:p>
        </p:txBody>
      </p:sp>
      <p:sp>
        <p:nvSpPr>
          <p:cNvPr id="18" name="TextBox 17">
            <a:extLst>
              <a:ext uri="{FF2B5EF4-FFF2-40B4-BE49-F238E27FC236}">
                <a16:creationId xmlns:a16="http://schemas.microsoft.com/office/drawing/2014/main" id="{5E7E7C6D-2D21-1A17-AF6E-E4B5D8290EA0}"/>
              </a:ext>
            </a:extLst>
          </p:cNvPr>
          <p:cNvSpPr txBox="1"/>
          <p:nvPr/>
        </p:nvSpPr>
        <p:spPr>
          <a:xfrm>
            <a:off x="1498600" y="3835400"/>
            <a:ext cx="8890000" cy="369332"/>
          </a:xfrm>
          <a:prstGeom prst="rect">
            <a:avLst/>
          </a:prstGeom>
          <a:noFill/>
        </p:spPr>
        <p:txBody>
          <a:bodyPr vert="horz" wrap="square" lIns="0" tIns="0" rIns="0" bIns="0" rtlCol="0">
            <a:noAutofit/>
          </a:bodyPr>
          <a:lstStyle/>
          <a:p>
            <a:pPr>
              <a:lnSpc>
                <a:spcPct val="110000"/>
              </a:lnSpc>
            </a:pPr>
            <a:r>
              <a:rPr lang="en-US" sz="1200">
                <a:solidFill>
                  <a:srgbClr val="3E5670"/>
                </a:solidFill>
                <a:latin typeface="Segoe UI" panose="020B0502040204020203" pitchFamily="34" charset="0"/>
              </a:rPr>
              <a:t>Cleaning, charts and feature selection</a:t>
            </a:r>
            <a:endParaRPr lang="en-IN" sz="1200">
              <a:solidFill>
                <a:srgbClr val="3E5670"/>
              </a:solidFill>
              <a:latin typeface="Segoe UI" panose="020B0502040204020203" pitchFamily="34" charset="0"/>
            </a:endParaRPr>
          </a:p>
        </p:txBody>
      </p:sp>
      <p:sp>
        <p:nvSpPr>
          <p:cNvPr id="19" name="Rectangle: Rounded Corners 18">
            <a:extLst>
              <a:ext uri="{FF2B5EF4-FFF2-40B4-BE49-F238E27FC236}">
                <a16:creationId xmlns:a16="http://schemas.microsoft.com/office/drawing/2014/main" id="{800BCAC7-AF79-DBBB-579E-436788FEF8EF}"/>
              </a:ext>
            </a:extLst>
          </p:cNvPr>
          <p:cNvSpPr/>
          <p:nvPr/>
        </p:nvSpPr>
        <p:spPr>
          <a:xfrm>
            <a:off x="609600" y="4318000"/>
            <a:ext cx="10972800" cy="7366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4507B15D-96C9-29A9-C179-2F539B22A62D}"/>
              </a:ext>
            </a:extLst>
          </p:cNvPr>
          <p:cNvSpPr/>
          <p:nvPr/>
        </p:nvSpPr>
        <p:spPr>
          <a:xfrm>
            <a:off x="812800" y="4457700"/>
            <a:ext cx="457200" cy="457200"/>
          </a:xfrm>
          <a:prstGeom prst="roundRect">
            <a:avLst>
              <a:gd name="adj" fmla="val 50000"/>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52D65DEB-E4A0-3E01-ACA3-C22E5347AC23}"/>
              </a:ext>
            </a:extLst>
          </p:cNvPr>
          <p:cNvSpPr txBox="1"/>
          <p:nvPr/>
        </p:nvSpPr>
        <p:spPr>
          <a:xfrm>
            <a:off x="812800" y="4572000"/>
            <a:ext cx="457200" cy="369332"/>
          </a:xfrm>
          <a:prstGeom prst="rect">
            <a:avLst/>
          </a:prstGeom>
          <a:noFill/>
        </p:spPr>
        <p:txBody>
          <a:bodyPr vert="horz" wrap="square" lIns="0" tIns="0" rIns="0" bIns="0" rtlCol="0">
            <a:noAutofit/>
          </a:bodyPr>
          <a:lstStyle/>
          <a:p>
            <a:pPr algn="ctr">
              <a:lnSpc>
                <a:spcPct val="110000"/>
              </a:lnSpc>
            </a:pPr>
            <a:r>
              <a:rPr lang="en-IN" sz="1300">
                <a:solidFill>
                  <a:srgbClr val="FFFFFF"/>
                </a:solidFill>
                <a:latin typeface="Segoe UI Semibold" panose="020B0702040204020203" pitchFamily="34" charset="0"/>
              </a:rPr>
              <a:t>04</a:t>
            </a:r>
          </a:p>
        </p:txBody>
      </p:sp>
      <p:sp>
        <p:nvSpPr>
          <p:cNvPr id="22" name="TextBox 21">
            <a:extLst>
              <a:ext uri="{FF2B5EF4-FFF2-40B4-BE49-F238E27FC236}">
                <a16:creationId xmlns:a16="http://schemas.microsoft.com/office/drawing/2014/main" id="{BFDDA060-2119-78BC-6EB7-76AF92E29B61}"/>
              </a:ext>
            </a:extLst>
          </p:cNvPr>
          <p:cNvSpPr txBox="1"/>
          <p:nvPr/>
        </p:nvSpPr>
        <p:spPr>
          <a:xfrm>
            <a:off x="1498600" y="4445000"/>
            <a:ext cx="4572000" cy="369332"/>
          </a:xfrm>
          <a:prstGeom prst="rect">
            <a:avLst/>
          </a:prstGeom>
          <a:noFill/>
        </p:spPr>
        <p:txBody>
          <a:bodyPr vert="horz" wrap="square" lIns="0" tIns="0" rIns="0" bIns="0" rtlCol="0">
            <a:noAutofit/>
          </a:bodyPr>
          <a:lstStyle/>
          <a:p>
            <a:pPr>
              <a:lnSpc>
                <a:spcPct val="110000"/>
              </a:lnSpc>
            </a:pPr>
            <a:r>
              <a:rPr lang="en-IN" sz="1700">
                <a:solidFill>
                  <a:srgbClr val="0B2340"/>
                </a:solidFill>
                <a:latin typeface="Segoe UI Semibold" panose="020B0702040204020203" pitchFamily="34" charset="0"/>
              </a:rPr>
              <a:t>Models &amp; Results</a:t>
            </a:r>
          </a:p>
        </p:txBody>
      </p:sp>
      <p:sp>
        <p:nvSpPr>
          <p:cNvPr id="23" name="TextBox 22">
            <a:extLst>
              <a:ext uri="{FF2B5EF4-FFF2-40B4-BE49-F238E27FC236}">
                <a16:creationId xmlns:a16="http://schemas.microsoft.com/office/drawing/2014/main" id="{EB80140B-AE1F-0C77-5CD4-14B8BF813C47}"/>
              </a:ext>
            </a:extLst>
          </p:cNvPr>
          <p:cNvSpPr txBox="1"/>
          <p:nvPr/>
        </p:nvSpPr>
        <p:spPr>
          <a:xfrm>
            <a:off x="1498600" y="4724400"/>
            <a:ext cx="8890000" cy="369332"/>
          </a:xfrm>
          <a:prstGeom prst="rect">
            <a:avLst/>
          </a:prstGeom>
          <a:noFill/>
        </p:spPr>
        <p:txBody>
          <a:bodyPr vert="horz" wrap="square" lIns="0" tIns="0" rIns="0" bIns="0" rtlCol="0">
            <a:noAutofit/>
          </a:bodyPr>
          <a:lstStyle/>
          <a:p>
            <a:pPr>
              <a:lnSpc>
                <a:spcPct val="110000"/>
              </a:lnSpc>
            </a:pPr>
            <a:r>
              <a:rPr lang="en-US" sz="1200">
                <a:solidFill>
                  <a:srgbClr val="3E5670"/>
                </a:solidFill>
                <a:latin typeface="Segoe UI" panose="020B0502040204020203" pitchFamily="34" charset="0"/>
              </a:rPr>
              <a:t>Three models compared; the best one deployed</a:t>
            </a:r>
            <a:endParaRPr lang="en-IN" sz="1200">
              <a:solidFill>
                <a:srgbClr val="3E5670"/>
              </a:solidFill>
              <a:latin typeface="Segoe UI" panose="020B0502040204020203" pitchFamily="34" charset="0"/>
            </a:endParaRPr>
          </a:p>
        </p:txBody>
      </p:sp>
      <p:sp>
        <p:nvSpPr>
          <p:cNvPr id="24" name="Rectangle: Rounded Corners 23">
            <a:extLst>
              <a:ext uri="{FF2B5EF4-FFF2-40B4-BE49-F238E27FC236}">
                <a16:creationId xmlns:a16="http://schemas.microsoft.com/office/drawing/2014/main" id="{E9060B18-A0B4-EEDA-2AEB-1FA70D7559AD}"/>
              </a:ext>
            </a:extLst>
          </p:cNvPr>
          <p:cNvSpPr/>
          <p:nvPr/>
        </p:nvSpPr>
        <p:spPr>
          <a:xfrm>
            <a:off x="609600" y="5207000"/>
            <a:ext cx="10972800" cy="7366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Rounded Corners 24">
            <a:extLst>
              <a:ext uri="{FF2B5EF4-FFF2-40B4-BE49-F238E27FC236}">
                <a16:creationId xmlns:a16="http://schemas.microsoft.com/office/drawing/2014/main" id="{ED4EC39E-862F-D8F5-5C72-111436AF5E33}"/>
              </a:ext>
            </a:extLst>
          </p:cNvPr>
          <p:cNvSpPr/>
          <p:nvPr/>
        </p:nvSpPr>
        <p:spPr>
          <a:xfrm>
            <a:off x="812800" y="5346700"/>
            <a:ext cx="457200" cy="457200"/>
          </a:xfrm>
          <a:prstGeom prst="roundRect">
            <a:avLst>
              <a:gd name="adj" fmla="val 50000"/>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3F106E42-7C7C-1B82-8AEF-077CCD06EAA5}"/>
              </a:ext>
            </a:extLst>
          </p:cNvPr>
          <p:cNvSpPr txBox="1"/>
          <p:nvPr/>
        </p:nvSpPr>
        <p:spPr>
          <a:xfrm>
            <a:off x="812800" y="5461000"/>
            <a:ext cx="457200" cy="369332"/>
          </a:xfrm>
          <a:prstGeom prst="rect">
            <a:avLst/>
          </a:prstGeom>
          <a:noFill/>
        </p:spPr>
        <p:txBody>
          <a:bodyPr vert="horz" wrap="square" lIns="0" tIns="0" rIns="0" bIns="0" rtlCol="0">
            <a:noAutofit/>
          </a:bodyPr>
          <a:lstStyle/>
          <a:p>
            <a:pPr algn="ctr">
              <a:lnSpc>
                <a:spcPct val="110000"/>
              </a:lnSpc>
            </a:pPr>
            <a:r>
              <a:rPr lang="en-IN" sz="1300">
                <a:solidFill>
                  <a:srgbClr val="FFFFFF"/>
                </a:solidFill>
                <a:latin typeface="Segoe UI Semibold" panose="020B0702040204020203" pitchFamily="34" charset="0"/>
              </a:rPr>
              <a:t>05</a:t>
            </a:r>
          </a:p>
        </p:txBody>
      </p:sp>
      <p:sp>
        <p:nvSpPr>
          <p:cNvPr id="27" name="TextBox 26">
            <a:extLst>
              <a:ext uri="{FF2B5EF4-FFF2-40B4-BE49-F238E27FC236}">
                <a16:creationId xmlns:a16="http://schemas.microsoft.com/office/drawing/2014/main" id="{D427A8CE-E472-29C0-9A9A-AEA92B79D603}"/>
              </a:ext>
            </a:extLst>
          </p:cNvPr>
          <p:cNvSpPr txBox="1"/>
          <p:nvPr/>
        </p:nvSpPr>
        <p:spPr>
          <a:xfrm>
            <a:off x="1498600" y="5334000"/>
            <a:ext cx="4572000" cy="369332"/>
          </a:xfrm>
          <a:prstGeom prst="rect">
            <a:avLst/>
          </a:prstGeom>
          <a:noFill/>
        </p:spPr>
        <p:txBody>
          <a:bodyPr vert="horz" wrap="square" lIns="0" tIns="0" rIns="0" bIns="0" rtlCol="0">
            <a:noAutofit/>
          </a:bodyPr>
          <a:lstStyle/>
          <a:p>
            <a:pPr>
              <a:lnSpc>
                <a:spcPct val="110000"/>
              </a:lnSpc>
            </a:pPr>
            <a:r>
              <a:rPr lang="en-IN" sz="1700">
                <a:solidFill>
                  <a:srgbClr val="0B2340"/>
                </a:solidFill>
                <a:latin typeface="Segoe UI Semibold" panose="020B0702040204020203" pitchFamily="34" charset="0"/>
              </a:rPr>
              <a:t>Demo &amp; Conclusion</a:t>
            </a:r>
          </a:p>
        </p:txBody>
      </p:sp>
      <p:sp>
        <p:nvSpPr>
          <p:cNvPr id="28" name="TextBox 27">
            <a:extLst>
              <a:ext uri="{FF2B5EF4-FFF2-40B4-BE49-F238E27FC236}">
                <a16:creationId xmlns:a16="http://schemas.microsoft.com/office/drawing/2014/main" id="{63CCB994-68A3-D85A-9600-E42269DD600F}"/>
              </a:ext>
            </a:extLst>
          </p:cNvPr>
          <p:cNvSpPr txBox="1"/>
          <p:nvPr/>
        </p:nvSpPr>
        <p:spPr>
          <a:xfrm>
            <a:off x="1498600" y="5613400"/>
            <a:ext cx="8890000" cy="369332"/>
          </a:xfrm>
          <a:prstGeom prst="rect">
            <a:avLst/>
          </a:prstGeom>
          <a:noFill/>
        </p:spPr>
        <p:txBody>
          <a:bodyPr vert="horz" wrap="square" lIns="0" tIns="0" rIns="0" bIns="0" rtlCol="0">
            <a:noAutofit/>
          </a:bodyPr>
          <a:lstStyle/>
          <a:p>
            <a:pPr>
              <a:lnSpc>
                <a:spcPct val="110000"/>
              </a:lnSpc>
            </a:pPr>
            <a:r>
              <a:rPr lang="en-US" sz="1200">
                <a:solidFill>
                  <a:srgbClr val="3E5670"/>
                </a:solidFill>
                <a:latin typeface="Segoe UI" panose="020B0502040204020203" pitchFamily="34" charset="0"/>
              </a:rPr>
              <a:t>The live app, conclusions and future scope</a:t>
            </a:r>
            <a:endParaRPr lang="en-IN" sz="1200">
              <a:solidFill>
                <a:srgbClr val="3E5670"/>
              </a:solidFill>
              <a:latin typeface="Segoe UI" panose="020B0502040204020203" pitchFamily="34" charset="0"/>
            </a:endParaRPr>
          </a:p>
        </p:txBody>
      </p:sp>
      <p:sp>
        <p:nvSpPr>
          <p:cNvPr id="29" name="TextBox 28">
            <a:extLst>
              <a:ext uri="{FF2B5EF4-FFF2-40B4-BE49-F238E27FC236}">
                <a16:creationId xmlns:a16="http://schemas.microsoft.com/office/drawing/2014/main" id="{34D2D089-1868-5178-FEF6-FD76003D5802}"/>
              </a:ext>
            </a:extLst>
          </p:cNvPr>
          <p:cNvSpPr txBox="1"/>
          <p:nvPr/>
        </p:nvSpPr>
        <p:spPr>
          <a:xfrm>
            <a:off x="609600" y="6502400"/>
            <a:ext cx="7620000" cy="369332"/>
          </a:xfrm>
          <a:prstGeom prst="rect">
            <a:avLst/>
          </a:prstGeom>
          <a:noFill/>
        </p:spPr>
        <p:txBody>
          <a:bodyPr vert="horz" wrap="square" lIns="0" tIns="0" rIns="0" bIns="0" rtlCol="0">
            <a:noAutofit/>
          </a:bodyPr>
          <a:lstStyle/>
          <a:p>
            <a:pPr>
              <a:lnSpc>
                <a:spcPct val="110000"/>
              </a:lnSpc>
            </a:pPr>
            <a:r>
              <a:rPr lang="en-US" sz="900">
                <a:solidFill>
                  <a:srgbClr val="6B8296"/>
                </a:solidFill>
                <a:latin typeface="Segoe UI" panose="020B0502040204020203" pitchFamily="34" charset="0"/>
              </a:rPr>
              <a:t>Acadrix · Student Performance Prediction System</a:t>
            </a:r>
            <a:endParaRPr lang="en-IN" sz="900">
              <a:solidFill>
                <a:srgbClr val="6B8296"/>
              </a:solidFill>
              <a:latin typeface="Segoe UI" panose="020B0502040204020203" pitchFamily="34" charset="0"/>
            </a:endParaRPr>
          </a:p>
        </p:txBody>
      </p:sp>
      <p:sp>
        <p:nvSpPr>
          <p:cNvPr id="30" name="TextBox 29">
            <a:extLst>
              <a:ext uri="{FF2B5EF4-FFF2-40B4-BE49-F238E27FC236}">
                <a16:creationId xmlns:a16="http://schemas.microsoft.com/office/drawing/2014/main" id="{B85CCDE0-A43E-2A61-D279-D2B6021CDACB}"/>
              </a:ext>
            </a:extLst>
          </p:cNvPr>
          <p:cNvSpPr txBox="1"/>
          <p:nvPr/>
        </p:nvSpPr>
        <p:spPr>
          <a:xfrm>
            <a:off x="10820400" y="6502400"/>
            <a:ext cx="762000" cy="369332"/>
          </a:xfrm>
          <a:prstGeom prst="rect">
            <a:avLst/>
          </a:prstGeom>
          <a:noFill/>
        </p:spPr>
        <p:txBody>
          <a:bodyPr vert="horz" wrap="square" lIns="0" tIns="0" rIns="0" bIns="0" rtlCol="0">
            <a:noAutofit/>
          </a:bodyPr>
          <a:lstStyle/>
          <a:p>
            <a:pPr algn="r">
              <a:lnSpc>
                <a:spcPct val="110000"/>
              </a:lnSpc>
            </a:pPr>
            <a:r>
              <a:rPr lang="en-IN" sz="900">
                <a:solidFill>
                  <a:srgbClr val="6B8296"/>
                </a:solidFill>
                <a:latin typeface="Segoe UI" panose="020B0502040204020203" pitchFamily="34" charset="0"/>
              </a:rPr>
              <a:t>02</a:t>
            </a:r>
          </a:p>
        </p:txBody>
      </p:sp>
    </p:spTree>
    <p:extLst>
      <p:ext uri="{BB962C8B-B14F-4D97-AF65-F5344CB8AC3E}">
        <p14:creationId xmlns:p14="http://schemas.microsoft.com/office/powerpoint/2010/main" val="1696834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8FA"/>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E76C2CC-B77F-73C4-8378-0CFEC5AB43BB}"/>
              </a:ext>
            </a:extLst>
          </p:cNvPr>
          <p:cNvSpPr/>
          <p:nvPr/>
        </p:nvSpPr>
        <p:spPr>
          <a:xfrm>
            <a:off x="609600" y="203200"/>
            <a:ext cx="2032000" cy="279400"/>
          </a:xfrm>
          <a:prstGeom prst="roundRect">
            <a:avLst>
              <a:gd name="adj" fmla="val 50000"/>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F5A7D46-D1AE-59F5-0ED3-B542FC0BC4F3}"/>
              </a:ext>
            </a:extLst>
          </p:cNvPr>
          <p:cNvSpPr txBox="1"/>
          <p:nvPr/>
        </p:nvSpPr>
        <p:spPr>
          <a:xfrm>
            <a:off x="6096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FFFFFF"/>
                </a:solidFill>
                <a:latin typeface="Segoe UI Semibold" panose="020B0702040204020203" pitchFamily="34" charset="0"/>
              </a:rPr>
              <a:t>Introduction</a:t>
            </a:r>
          </a:p>
        </p:txBody>
      </p:sp>
      <p:sp>
        <p:nvSpPr>
          <p:cNvPr id="4" name="TextBox 3">
            <a:extLst>
              <a:ext uri="{FF2B5EF4-FFF2-40B4-BE49-F238E27FC236}">
                <a16:creationId xmlns:a16="http://schemas.microsoft.com/office/drawing/2014/main" id="{25BB4400-8E92-62CC-A73D-3C6E5CD4CF9B}"/>
              </a:ext>
            </a:extLst>
          </p:cNvPr>
          <p:cNvSpPr txBox="1"/>
          <p:nvPr/>
        </p:nvSpPr>
        <p:spPr>
          <a:xfrm>
            <a:off x="28067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Data &amp; Methodology</a:t>
            </a:r>
          </a:p>
        </p:txBody>
      </p:sp>
      <p:sp>
        <p:nvSpPr>
          <p:cNvPr id="5" name="TextBox 4">
            <a:extLst>
              <a:ext uri="{FF2B5EF4-FFF2-40B4-BE49-F238E27FC236}">
                <a16:creationId xmlns:a16="http://schemas.microsoft.com/office/drawing/2014/main" id="{97BB482E-6CC6-4D90-8485-0CBB9EBF45C2}"/>
              </a:ext>
            </a:extLst>
          </p:cNvPr>
          <p:cNvSpPr txBox="1"/>
          <p:nvPr/>
        </p:nvSpPr>
        <p:spPr>
          <a:xfrm>
            <a:off x="50038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Preprocessing &amp; EDA</a:t>
            </a:r>
          </a:p>
        </p:txBody>
      </p:sp>
      <p:sp>
        <p:nvSpPr>
          <p:cNvPr id="6" name="TextBox 5">
            <a:extLst>
              <a:ext uri="{FF2B5EF4-FFF2-40B4-BE49-F238E27FC236}">
                <a16:creationId xmlns:a16="http://schemas.microsoft.com/office/drawing/2014/main" id="{B76F35A5-0226-7A1F-313A-DA69F115C965}"/>
              </a:ext>
            </a:extLst>
          </p:cNvPr>
          <p:cNvSpPr txBox="1"/>
          <p:nvPr/>
        </p:nvSpPr>
        <p:spPr>
          <a:xfrm>
            <a:off x="72009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Models &amp; Results</a:t>
            </a:r>
          </a:p>
        </p:txBody>
      </p:sp>
      <p:sp>
        <p:nvSpPr>
          <p:cNvPr id="7" name="TextBox 6">
            <a:extLst>
              <a:ext uri="{FF2B5EF4-FFF2-40B4-BE49-F238E27FC236}">
                <a16:creationId xmlns:a16="http://schemas.microsoft.com/office/drawing/2014/main" id="{2B515374-8F7A-20E2-C851-5C065498C422}"/>
              </a:ext>
            </a:extLst>
          </p:cNvPr>
          <p:cNvSpPr txBox="1"/>
          <p:nvPr/>
        </p:nvSpPr>
        <p:spPr>
          <a:xfrm>
            <a:off x="93980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Demo &amp; Conclusion</a:t>
            </a:r>
          </a:p>
        </p:txBody>
      </p:sp>
      <p:sp>
        <p:nvSpPr>
          <p:cNvPr id="8" name="TextBox 7">
            <a:extLst>
              <a:ext uri="{FF2B5EF4-FFF2-40B4-BE49-F238E27FC236}">
                <a16:creationId xmlns:a16="http://schemas.microsoft.com/office/drawing/2014/main" id="{EFC5D138-7C4F-ECC3-AA01-EED7C5B8539E}"/>
              </a:ext>
            </a:extLst>
          </p:cNvPr>
          <p:cNvSpPr txBox="1"/>
          <p:nvPr/>
        </p:nvSpPr>
        <p:spPr>
          <a:xfrm>
            <a:off x="609600" y="736600"/>
            <a:ext cx="8890000" cy="369332"/>
          </a:xfrm>
          <a:prstGeom prst="rect">
            <a:avLst/>
          </a:prstGeom>
          <a:noFill/>
        </p:spPr>
        <p:txBody>
          <a:bodyPr vert="horz" wrap="square" lIns="0" tIns="0" rIns="0" bIns="0" rtlCol="0">
            <a:noAutofit/>
          </a:bodyPr>
          <a:lstStyle/>
          <a:p>
            <a:pPr>
              <a:lnSpc>
                <a:spcPct val="110000"/>
              </a:lnSpc>
            </a:pPr>
            <a:r>
              <a:rPr lang="en-IN" sz="1100">
                <a:solidFill>
                  <a:srgbClr val="26658C"/>
                </a:solidFill>
                <a:latin typeface="Segoe UI Semibold" panose="020B0702040204020203" pitchFamily="34" charset="0"/>
              </a:rPr>
              <a:t>PROBLEM STATEMENT</a:t>
            </a:r>
          </a:p>
        </p:txBody>
      </p:sp>
      <p:sp>
        <p:nvSpPr>
          <p:cNvPr id="9" name="TextBox 8">
            <a:extLst>
              <a:ext uri="{FF2B5EF4-FFF2-40B4-BE49-F238E27FC236}">
                <a16:creationId xmlns:a16="http://schemas.microsoft.com/office/drawing/2014/main" id="{EACE9A6C-430C-B123-1ED5-37B8F50504BF}"/>
              </a:ext>
            </a:extLst>
          </p:cNvPr>
          <p:cNvSpPr txBox="1"/>
          <p:nvPr/>
        </p:nvSpPr>
        <p:spPr>
          <a:xfrm>
            <a:off x="609600" y="965200"/>
            <a:ext cx="10972800" cy="369332"/>
          </a:xfrm>
          <a:prstGeom prst="rect">
            <a:avLst/>
          </a:prstGeom>
          <a:noFill/>
        </p:spPr>
        <p:txBody>
          <a:bodyPr vert="horz" wrap="square" lIns="0" tIns="0" rIns="0" bIns="0" rtlCol="0">
            <a:noAutofit/>
          </a:bodyPr>
          <a:lstStyle/>
          <a:p>
            <a:pPr>
              <a:lnSpc>
                <a:spcPct val="110000"/>
              </a:lnSpc>
            </a:pPr>
            <a:r>
              <a:rPr lang="en-US" sz="2600" b="1">
                <a:solidFill>
                  <a:srgbClr val="0B2340"/>
                </a:solidFill>
                <a:latin typeface="Georgia" panose="02040502050405020303" pitchFamily="18" charset="0"/>
              </a:rPr>
              <a:t>Struggling students are spotted only when results arrive</a:t>
            </a:r>
            <a:endParaRPr lang="en-IN" sz="2600" b="1">
              <a:solidFill>
                <a:srgbClr val="0B2340"/>
              </a:solidFill>
              <a:latin typeface="Georgia" panose="02040502050405020303" pitchFamily="18" charset="0"/>
            </a:endParaRPr>
          </a:p>
        </p:txBody>
      </p:sp>
      <p:sp>
        <p:nvSpPr>
          <p:cNvPr id="10" name="TextBox 9">
            <a:extLst>
              <a:ext uri="{FF2B5EF4-FFF2-40B4-BE49-F238E27FC236}">
                <a16:creationId xmlns:a16="http://schemas.microsoft.com/office/drawing/2014/main" id="{2F8213A8-FC60-239C-175D-6252EB221F84}"/>
              </a:ext>
            </a:extLst>
          </p:cNvPr>
          <p:cNvSpPr txBox="1"/>
          <p:nvPr/>
        </p:nvSpPr>
        <p:spPr>
          <a:xfrm>
            <a:off x="609600" y="6502400"/>
            <a:ext cx="7620000" cy="369332"/>
          </a:xfrm>
          <a:prstGeom prst="rect">
            <a:avLst/>
          </a:prstGeom>
          <a:noFill/>
        </p:spPr>
        <p:txBody>
          <a:bodyPr vert="horz" wrap="square" lIns="0" tIns="0" rIns="0" bIns="0" rtlCol="0">
            <a:noAutofit/>
          </a:bodyPr>
          <a:lstStyle/>
          <a:p>
            <a:pPr>
              <a:lnSpc>
                <a:spcPct val="110000"/>
              </a:lnSpc>
            </a:pPr>
            <a:r>
              <a:rPr lang="en-US" sz="900">
                <a:solidFill>
                  <a:srgbClr val="6B8296"/>
                </a:solidFill>
                <a:latin typeface="Segoe UI" panose="020B0502040204020203" pitchFamily="34" charset="0"/>
              </a:rPr>
              <a:t>Acadrix · Student Performance Prediction System</a:t>
            </a:r>
            <a:endParaRPr lang="en-IN" sz="900">
              <a:solidFill>
                <a:srgbClr val="6B8296"/>
              </a:solidFill>
              <a:latin typeface="Segoe UI" panose="020B0502040204020203" pitchFamily="34" charset="0"/>
            </a:endParaRPr>
          </a:p>
        </p:txBody>
      </p:sp>
      <p:sp>
        <p:nvSpPr>
          <p:cNvPr id="11" name="TextBox 10">
            <a:extLst>
              <a:ext uri="{FF2B5EF4-FFF2-40B4-BE49-F238E27FC236}">
                <a16:creationId xmlns:a16="http://schemas.microsoft.com/office/drawing/2014/main" id="{AA8AE735-220C-FC8E-32C8-F9AA2BCD327C}"/>
              </a:ext>
            </a:extLst>
          </p:cNvPr>
          <p:cNvSpPr txBox="1"/>
          <p:nvPr/>
        </p:nvSpPr>
        <p:spPr>
          <a:xfrm>
            <a:off x="10820400" y="6502400"/>
            <a:ext cx="762000" cy="369332"/>
          </a:xfrm>
          <a:prstGeom prst="rect">
            <a:avLst/>
          </a:prstGeom>
          <a:noFill/>
        </p:spPr>
        <p:txBody>
          <a:bodyPr vert="horz" wrap="square" lIns="0" tIns="0" rIns="0" bIns="0" rtlCol="0">
            <a:noAutofit/>
          </a:bodyPr>
          <a:lstStyle/>
          <a:p>
            <a:pPr algn="r">
              <a:lnSpc>
                <a:spcPct val="110000"/>
              </a:lnSpc>
            </a:pPr>
            <a:r>
              <a:rPr lang="en-IN" sz="900">
                <a:solidFill>
                  <a:srgbClr val="6B8296"/>
                </a:solidFill>
                <a:latin typeface="Segoe UI" panose="020B0502040204020203" pitchFamily="34" charset="0"/>
              </a:rPr>
              <a:t>03</a:t>
            </a:r>
          </a:p>
        </p:txBody>
      </p:sp>
      <p:sp>
        <p:nvSpPr>
          <p:cNvPr id="12" name="TextBox 11">
            <a:extLst>
              <a:ext uri="{FF2B5EF4-FFF2-40B4-BE49-F238E27FC236}">
                <a16:creationId xmlns:a16="http://schemas.microsoft.com/office/drawing/2014/main" id="{DC1FD869-DF45-6C4F-B117-3E5477877451}"/>
              </a:ext>
            </a:extLst>
          </p:cNvPr>
          <p:cNvSpPr txBox="1"/>
          <p:nvPr/>
        </p:nvSpPr>
        <p:spPr>
          <a:xfrm>
            <a:off x="609600" y="1778000"/>
            <a:ext cx="5588000" cy="369332"/>
          </a:xfrm>
          <a:prstGeom prst="rect">
            <a:avLst/>
          </a:prstGeom>
          <a:noFill/>
        </p:spPr>
        <p:txBody>
          <a:bodyPr vert="horz" wrap="square" lIns="0" tIns="0" rIns="0" bIns="0" rtlCol="0">
            <a:noAutofit/>
          </a:bodyPr>
          <a:lstStyle/>
          <a:p>
            <a:pPr>
              <a:lnSpc>
                <a:spcPct val="110000"/>
              </a:lnSpc>
            </a:pPr>
            <a:r>
              <a:rPr lang="en-US" sz="1600">
                <a:solidFill>
                  <a:srgbClr val="3E5670"/>
                </a:solidFill>
                <a:latin typeface="Segoe UI" panose="020B0502040204020203" pitchFamily="34" charset="0"/>
              </a:rPr>
              <a:t>The warning signs are there all semester: falling attendance, missed assignments, weak internal marks. Colleges record them but rarely act on them in time.</a:t>
            </a:r>
            <a:endParaRPr lang="en-IN" sz="1600">
              <a:solidFill>
                <a:srgbClr val="3E5670"/>
              </a:solidFill>
              <a:latin typeface="Segoe UI" panose="020B0502040204020203" pitchFamily="34" charset="0"/>
            </a:endParaRPr>
          </a:p>
        </p:txBody>
      </p:sp>
      <p:sp>
        <p:nvSpPr>
          <p:cNvPr id="13" name="TextBox 12">
            <a:extLst>
              <a:ext uri="{FF2B5EF4-FFF2-40B4-BE49-F238E27FC236}">
                <a16:creationId xmlns:a16="http://schemas.microsoft.com/office/drawing/2014/main" id="{CDDE6D67-09BF-FCB1-84B4-7706771B9380}"/>
              </a:ext>
            </a:extLst>
          </p:cNvPr>
          <p:cNvSpPr txBox="1"/>
          <p:nvPr/>
        </p:nvSpPr>
        <p:spPr>
          <a:xfrm>
            <a:off x="609600" y="3302000"/>
            <a:ext cx="5588000" cy="369332"/>
          </a:xfrm>
          <a:prstGeom prst="rect">
            <a:avLst/>
          </a:prstGeom>
          <a:noFill/>
        </p:spPr>
        <p:txBody>
          <a:bodyPr vert="horz" wrap="square" lIns="0" tIns="0" rIns="0" bIns="0" rtlCol="0">
            <a:noAutofit/>
          </a:bodyPr>
          <a:lstStyle/>
          <a:p>
            <a:pPr>
              <a:lnSpc>
                <a:spcPct val="110000"/>
              </a:lnSpc>
            </a:pPr>
            <a:r>
              <a:rPr lang="en-US" sz="1600" b="1">
                <a:solidFill>
                  <a:srgbClr val="0B2340"/>
                </a:solidFill>
                <a:latin typeface="Segoe UI" panose="020B0502040204020203" pitchFamily="34" charset="0"/>
              </a:rPr>
              <a:t>Goal:</a:t>
            </a:r>
            <a:r>
              <a:rPr lang="en-US" sz="1600">
                <a:solidFill>
                  <a:srgbClr val="0B2340"/>
                </a:solidFill>
                <a:latin typeface="Segoe UI" panose="020B0502040204020203" pitchFamily="34" charset="0"/>
              </a:rPr>
              <a:t> predict each student's final score (0–100) part-way through the semester, so teachers can step in early and students can change course.</a:t>
            </a:r>
            <a:endParaRPr lang="en-IN" sz="1600">
              <a:solidFill>
                <a:srgbClr val="0B2340"/>
              </a:solidFill>
              <a:latin typeface="Segoe UI" panose="020B0502040204020203" pitchFamily="34" charset="0"/>
            </a:endParaRPr>
          </a:p>
        </p:txBody>
      </p:sp>
      <p:sp>
        <p:nvSpPr>
          <p:cNvPr id="14" name="TextBox 13">
            <a:extLst>
              <a:ext uri="{FF2B5EF4-FFF2-40B4-BE49-F238E27FC236}">
                <a16:creationId xmlns:a16="http://schemas.microsoft.com/office/drawing/2014/main" id="{EBAC8A99-5B59-6E63-825E-3552CF194E09}"/>
              </a:ext>
            </a:extLst>
          </p:cNvPr>
          <p:cNvSpPr txBox="1"/>
          <p:nvPr/>
        </p:nvSpPr>
        <p:spPr>
          <a:xfrm>
            <a:off x="6858000" y="1778000"/>
            <a:ext cx="4724400" cy="369332"/>
          </a:xfrm>
          <a:prstGeom prst="rect">
            <a:avLst/>
          </a:prstGeom>
          <a:noFill/>
        </p:spPr>
        <p:txBody>
          <a:bodyPr vert="horz" wrap="square" lIns="0" tIns="0" rIns="0" bIns="0" rtlCol="0">
            <a:noAutofit/>
          </a:bodyPr>
          <a:lstStyle/>
          <a:p>
            <a:pPr>
              <a:lnSpc>
                <a:spcPct val="110000"/>
              </a:lnSpc>
            </a:pPr>
            <a:r>
              <a:rPr lang="en-US" sz="1200">
                <a:solidFill>
                  <a:srgbClr val="3E5670"/>
                </a:solidFill>
                <a:latin typeface="Segoe UI Semibold" panose="020B0702040204020203" pitchFamily="34" charset="0"/>
              </a:rPr>
              <a:t>Every prediction maps to a risk level</a:t>
            </a:r>
            <a:endParaRPr lang="en-IN" sz="1200">
              <a:solidFill>
                <a:srgbClr val="3E5670"/>
              </a:solidFill>
              <a:latin typeface="Segoe UI Semibold" panose="020B0702040204020203" pitchFamily="34" charset="0"/>
            </a:endParaRPr>
          </a:p>
        </p:txBody>
      </p:sp>
      <p:sp>
        <p:nvSpPr>
          <p:cNvPr id="15" name="Rectangle: Rounded Corners 14">
            <a:extLst>
              <a:ext uri="{FF2B5EF4-FFF2-40B4-BE49-F238E27FC236}">
                <a16:creationId xmlns:a16="http://schemas.microsoft.com/office/drawing/2014/main" id="{E7FFA8E1-439C-8115-F2CF-96E479989DCA}"/>
              </a:ext>
            </a:extLst>
          </p:cNvPr>
          <p:cNvSpPr/>
          <p:nvPr/>
        </p:nvSpPr>
        <p:spPr>
          <a:xfrm>
            <a:off x="6858000" y="2108200"/>
            <a:ext cx="4724400" cy="7874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165BC6F3-DD48-465A-5571-EEBC037B2B2D}"/>
              </a:ext>
            </a:extLst>
          </p:cNvPr>
          <p:cNvSpPr/>
          <p:nvPr/>
        </p:nvSpPr>
        <p:spPr>
          <a:xfrm>
            <a:off x="6858000" y="2108200"/>
            <a:ext cx="76200" cy="787400"/>
          </a:xfrm>
          <a:prstGeom prst="rect">
            <a:avLst/>
          </a:prstGeom>
          <a:solidFill>
            <a:srgbClr val="1C8A5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249DDA95-979E-7ED9-BE7B-4D2CD915CE08}"/>
              </a:ext>
            </a:extLst>
          </p:cNvPr>
          <p:cNvSpPr txBox="1"/>
          <p:nvPr/>
        </p:nvSpPr>
        <p:spPr>
          <a:xfrm>
            <a:off x="7112000" y="2260600"/>
            <a:ext cx="1905000" cy="369332"/>
          </a:xfrm>
          <a:prstGeom prst="rect">
            <a:avLst/>
          </a:prstGeom>
          <a:noFill/>
        </p:spPr>
        <p:txBody>
          <a:bodyPr vert="horz" wrap="square" lIns="0" tIns="0" rIns="0" bIns="0" rtlCol="0">
            <a:noAutofit/>
          </a:bodyPr>
          <a:lstStyle/>
          <a:p>
            <a:pPr>
              <a:lnSpc>
                <a:spcPct val="110000"/>
              </a:lnSpc>
            </a:pPr>
            <a:r>
              <a:rPr lang="en-IN" sz="1700">
                <a:solidFill>
                  <a:srgbClr val="0B2340"/>
                </a:solidFill>
                <a:latin typeface="Segoe UI Semibold" panose="020B0702040204020203" pitchFamily="34" charset="0"/>
              </a:rPr>
              <a:t>Low risk</a:t>
            </a:r>
          </a:p>
        </p:txBody>
      </p:sp>
      <p:sp>
        <p:nvSpPr>
          <p:cNvPr id="18" name="TextBox 17">
            <a:extLst>
              <a:ext uri="{FF2B5EF4-FFF2-40B4-BE49-F238E27FC236}">
                <a16:creationId xmlns:a16="http://schemas.microsoft.com/office/drawing/2014/main" id="{7D6AFFE7-6DD6-B5BA-C764-5B63ACB61133}"/>
              </a:ext>
            </a:extLst>
          </p:cNvPr>
          <p:cNvSpPr txBox="1"/>
          <p:nvPr/>
        </p:nvSpPr>
        <p:spPr>
          <a:xfrm>
            <a:off x="7112000" y="2565400"/>
            <a:ext cx="4191000" cy="369332"/>
          </a:xfrm>
          <a:prstGeom prst="rect">
            <a:avLst/>
          </a:prstGeom>
          <a:noFill/>
        </p:spPr>
        <p:txBody>
          <a:bodyPr vert="horz" wrap="square" lIns="0" tIns="0" rIns="0" bIns="0" rtlCol="0">
            <a:noAutofit/>
          </a:bodyPr>
          <a:lstStyle/>
          <a:p>
            <a:pPr>
              <a:lnSpc>
                <a:spcPct val="110000"/>
              </a:lnSpc>
            </a:pPr>
            <a:r>
              <a:rPr lang="en-US" sz="1300">
                <a:solidFill>
                  <a:srgbClr val="3E5670"/>
                </a:solidFill>
                <a:latin typeface="Segoe UI" panose="020B0502040204020203" pitchFamily="34" charset="0"/>
              </a:rPr>
              <a:t>65 and above · on track</a:t>
            </a:r>
            <a:endParaRPr lang="en-IN" sz="1300">
              <a:solidFill>
                <a:srgbClr val="3E5670"/>
              </a:solidFill>
              <a:latin typeface="Segoe UI" panose="020B0502040204020203" pitchFamily="34" charset="0"/>
            </a:endParaRPr>
          </a:p>
        </p:txBody>
      </p:sp>
      <p:sp>
        <p:nvSpPr>
          <p:cNvPr id="19" name="Rectangle: Rounded Corners 18">
            <a:extLst>
              <a:ext uri="{FF2B5EF4-FFF2-40B4-BE49-F238E27FC236}">
                <a16:creationId xmlns:a16="http://schemas.microsoft.com/office/drawing/2014/main" id="{A19E44E1-3B78-61AB-C423-2EC633A8B1EB}"/>
              </a:ext>
            </a:extLst>
          </p:cNvPr>
          <p:cNvSpPr/>
          <p:nvPr/>
        </p:nvSpPr>
        <p:spPr>
          <a:xfrm>
            <a:off x="6858000" y="3073400"/>
            <a:ext cx="4724400" cy="7874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4D7878A1-B1A6-7D65-48DB-BAFB872BFD99}"/>
              </a:ext>
            </a:extLst>
          </p:cNvPr>
          <p:cNvSpPr/>
          <p:nvPr/>
        </p:nvSpPr>
        <p:spPr>
          <a:xfrm>
            <a:off x="6858000" y="3073400"/>
            <a:ext cx="76200" cy="787400"/>
          </a:xfrm>
          <a:prstGeom prst="rect">
            <a:avLst/>
          </a:prstGeom>
          <a:solidFill>
            <a:srgbClr val="B36B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3B541F8A-572C-9063-6604-AAD230D6C3CB}"/>
              </a:ext>
            </a:extLst>
          </p:cNvPr>
          <p:cNvSpPr txBox="1"/>
          <p:nvPr/>
        </p:nvSpPr>
        <p:spPr>
          <a:xfrm>
            <a:off x="7112000" y="3225800"/>
            <a:ext cx="1905000" cy="369332"/>
          </a:xfrm>
          <a:prstGeom prst="rect">
            <a:avLst/>
          </a:prstGeom>
          <a:noFill/>
        </p:spPr>
        <p:txBody>
          <a:bodyPr vert="horz" wrap="square" lIns="0" tIns="0" rIns="0" bIns="0" rtlCol="0">
            <a:noAutofit/>
          </a:bodyPr>
          <a:lstStyle/>
          <a:p>
            <a:pPr>
              <a:lnSpc>
                <a:spcPct val="110000"/>
              </a:lnSpc>
            </a:pPr>
            <a:r>
              <a:rPr lang="en-IN" sz="1700">
                <a:solidFill>
                  <a:srgbClr val="0B2340"/>
                </a:solidFill>
                <a:latin typeface="Segoe UI Semibold" panose="020B0702040204020203" pitchFamily="34" charset="0"/>
              </a:rPr>
              <a:t>Medium risk</a:t>
            </a:r>
          </a:p>
        </p:txBody>
      </p:sp>
      <p:sp>
        <p:nvSpPr>
          <p:cNvPr id="22" name="TextBox 21">
            <a:extLst>
              <a:ext uri="{FF2B5EF4-FFF2-40B4-BE49-F238E27FC236}">
                <a16:creationId xmlns:a16="http://schemas.microsoft.com/office/drawing/2014/main" id="{58131100-6AC3-5041-CF2C-BCD91D9C59A4}"/>
              </a:ext>
            </a:extLst>
          </p:cNvPr>
          <p:cNvSpPr txBox="1"/>
          <p:nvPr/>
        </p:nvSpPr>
        <p:spPr>
          <a:xfrm>
            <a:off x="7112000" y="3530600"/>
            <a:ext cx="4191000" cy="369332"/>
          </a:xfrm>
          <a:prstGeom prst="rect">
            <a:avLst/>
          </a:prstGeom>
          <a:noFill/>
        </p:spPr>
        <p:txBody>
          <a:bodyPr vert="horz" wrap="square" lIns="0" tIns="0" rIns="0" bIns="0" rtlCol="0">
            <a:noAutofit/>
          </a:bodyPr>
          <a:lstStyle/>
          <a:p>
            <a:pPr>
              <a:lnSpc>
                <a:spcPct val="110000"/>
              </a:lnSpc>
            </a:pPr>
            <a:r>
              <a:rPr lang="en-IN" sz="1300">
                <a:solidFill>
                  <a:srgbClr val="3E5670"/>
                </a:solidFill>
                <a:latin typeface="Segoe UI" panose="020B0502040204020203" pitchFamily="34" charset="0"/>
              </a:rPr>
              <a:t>50–64.9 · needs support</a:t>
            </a:r>
          </a:p>
        </p:txBody>
      </p:sp>
      <p:sp>
        <p:nvSpPr>
          <p:cNvPr id="23" name="Rectangle: Rounded Corners 22">
            <a:extLst>
              <a:ext uri="{FF2B5EF4-FFF2-40B4-BE49-F238E27FC236}">
                <a16:creationId xmlns:a16="http://schemas.microsoft.com/office/drawing/2014/main" id="{E20C922D-FFC0-218B-EB58-6D1D41EFE73C}"/>
              </a:ext>
            </a:extLst>
          </p:cNvPr>
          <p:cNvSpPr/>
          <p:nvPr/>
        </p:nvSpPr>
        <p:spPr>
          <a:xfrm>
            <a:off x="6858000" y="4038600"/>
            <a:ext cx="4724400" cy="7874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D5AD3095-6044-D83A-207B-0EF9597D7034}"/>
              </a:ext>
            </a:extLst>
          </p:cNvPr>
          <p:cNvSpPr/>
          <p:nvPr/>
        </p:nvSpPr>
        <p:spPr>
          <a:xfrm>
            <a:off x="6858000" y="4038600"/>
            <a:ext cx="76200" cy="787400"/>
          </a:xfrm>
          <a:prstGeom prst="rect">
            <a:avLst/>
          </a:prstGeom>
          <a:solidFill>
            <a:srgbClr val="C930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218265DF-C3F4-EE30-7AF7-35D6AC538327}"/>
              </a:ext>
            </a:extLst>
          </p:cNvPr>
          <p:cNvSpPr txBox="1"/>
          <p:nvPr/>
        </p:nvSpPr>
        <p:spPr>
          <a:xfrm>
            <a:off x="7112000" y="4191000"/>
            <a:ext cx="1905000" cy="369332"/>
          </a:xfrm>
          <a:prstGeom prst="rect">
            <a:avLst/>
          </a:prstGeom>
          <a:noFill/>
        </p:spPr>
        <p:txBody>
          <a:bodyPr vert="horz" wrap="square" lIns="0" tIns="0" rIns="0" bIns="0" rtlCol="0">
            <a:noAutofit/>
          </a:bodyPr>
          <a:lstStyle/>
          <a:p>
            <a:pPr>
              <a:lnSpc>
                <a:spcPct val="110000"/>
              </a:lnSpc>
            </a:pPr>
            <a:r>
              <a:rPr lang="en-IN" sz="1700">
                <a:solidFill>
                  <a:srgbClr val="0B2340"/>
                </a:solidFill>
                <a:latin typeface="Segoe UI Semibold" panose="020B0702040204020203" pitchFamily="34" charset="0"/>
              </a:rPr>
              <a:t>High risk</a:t>
            </a:r>
          </a:p>
        </p:txBody>
      </p:sp>
      <p:sp>
        <p:nvSpPr>
          <p:cNvPr id="26" name="TextBox 25">
            <a:extLst>
              <a:ext uri="{FF2B5EF4-FFF2-40B4-BE49-F238E27FC236}">
                <a16:creationId xmlns:a16="http://schemas.microsoft.com/office/drawing/2014/main" id="{530533EA-3393-A1B0-B920-EF6EA0364636}"/>
              </a:ext>
            </a:extLst>
          </p:cNvPr>
          <p:cNvSpPr txBox="1"/>
          <p:nvPr/>
        </p:nvSpPr>
        <p:spPr>
          <a:xfrm>
            <a:off x="7112000" y="4495800"/>
            <a:ext cx="4191000" cy="369332"/>
          </a:xfrm>
          <a:prstGeom prst="rect">
            <a:avLst/>
          </a:prstGeom>
          <a:noFill/>
        </p:spPr>
        <p:txBody>
          <a:bodyPr vert="horz" wrap="square" lIns="0" tIns="0" rIns="0" bIns="0" rtlCol="0">
            <a:noAutofit/>
          </a:bodyPr>
          <a:lstStyle/>
          <a:p>
            <a:pPr>
              <a:lnSpc>
                <a:spcPct val="110000"/>
              </a:lnSpc>
            </a:pPr>
            <a:r>
              <a:rPr lang="en-IN" sz="1300">
                <a:solidFill>
                  <a:srgbClr val="3E5670"/>
                </a:solidFill>
                <a:latin typeface="Segoe UI" panose="020B0502040204020203" pitchFamily="34" charset="0"/>
              </a:rPr>
              <a:t>below 50 · act now</a:t>
            </a:r>
          </a:p>
        </p:txBody>
      </p:sp>
    </p:spTree>
    <p:extLst>
      <p:ext uri="{BB962C8B-B14F-4D97-AF65-F5344CB8AC3E}">
        <p14:creationId xmlns:p14="http://schemas.microsoft.com/office/powerpoint/2010/main" val="1675185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8FA"/>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06FA607-7984-ABE5-097E-02CD5C2EBFB4}"/>
              </a:ext>
            </a:extLst>
          </p:cNvPr>
          <p:cNvSpPr/>
          <p:nvPr/>
        </p:nvSpPr>
        <p:spPr>
          <a:xfrm>
            <a:off x="609600" y="203200"/>
            <a:ext cx="2032000" cy="279400"/>
          </a:xfrm>
          <a:prstGeom prst="roundRect">
            <a:avLst>
              <a:gd name="adj" fmla="val 50000"/>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378F2A13-B442-0E5D-5508-44D40E5A25E3}"/>
              </a:ext>
            </a:extLst>
          </p:cNvPr>
          <p:cNvSpPr txBox="1"/>
          <p:nvPr/>
        </p:nvSpPr>
        <p:spPr>
          <a:xfrm>
            <a:off x="6096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FFFFFF"/>
                </a:solidFill>
                <a:latin typeface="Segoe UI Semibold" panose="020B0702040204020203" pitchFamily="34" charset="0"/>
              </a:rPr>
              <a:t>Introduction</a:t>
            </a:r>
          </a:p>
        </p:txBody>
      </p:sp>
      <p:sp>
        <p:nvSpPr>
          <p:cNvPr id="4" name="TextBox 3">
            <a:extLst>
              <a:ext uri="{FF2B5EF4-FFF2-40B4-BE49-F238E27FC236}">
                <a16:creationId xmlns:a16="http://schemas.microsoft.com/office/drawing/2014/main" id="{06D3CA53-ED99-7C95-C09F-53C21CFF317B}"/>
              </a:ext>
            </a:extLst>
          </p:cNvPr>
          <p:cNvSpPr txBox="1"/>
          <p:nvPr/>
        </p:nvSpPr>
        <p:spPr>
          <a:xfrm>
            <a:off x="28067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Data &amp; Methodology</a:t>
            </a:r>
          </a:p>
        </p:txBody>
      </p:sp>
      <p:sp>
        <p:nvSpPr>
          <p:cNvPr id="5" name="TextBox 4">
            <a:extLst>
              <a:ext uri="{FF2B5EF4-FFF2-40B4-BE49-F238E27FC236}">
                <a16:creationId xmlns:a16="http://schemas.microsoft.com/office/drawing/2014/main" id="{724B6DB5-4030-AC31-2EF3-29528AA11318}"/>
              </a:ext>
            </a:extLst>
          </p:cNvPr>
          <p:cNvSpPr txBox="1"/>
          <p:nvPr/>
        </p:nvSpPr>
        <p:spPr>
          <a:xfrm>
            <a:off x="50038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Preprocessing &amp; EDA</a:t>
            </a:r>
          </a:p>
        </p:txBody>
      </p:sp>
      <p:sp>
        <p:nvSpPr>
          <p:cNvPr id="6" name="TextBox 5">
            <a:extLst>
              <a:ext uri="{FF2B5EF4-FFF2-40B4-BE49-F238E27FC236}">
                <a16:creationId xmlns:a16="http://schemas.microsoft.com/office/drawing/2014/main" id="{7194BF90-7683-BAFA-7F2A-DC1ABFEBB60A}"/>
              </a:ext>
            </a:extLst>
          </p:cNvPr>
          <p:cNvSpPr txBox="1"/>
          <p:nvPr/>
        </p:nvSpPr>
        <p:spPr>
          <a:xfrm>
            <a:off x="72009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Models &amp; Results</a:t>
            </a:r>
          </a:p>
        </p:txBody>
      </p:sp>
      <p:sp>
        <p:nvSpPr>
          <p:cNvPr id="7" name="TextBox 6">
            <a:extLst>
              <a:ext uri="{FF2B5EF4-FFF2-40B4-BE49-F238E27FC236}">
                <a16:creationId xmlns:a16="http://schemas.microsoft.com/office/drawing/2014/main" id="{4986BFCD-10C4-A73F-5585-1CB61A0E78DB}"/>
              </a:ext>
            </a:extLst>
          </p:cNvPr>
          <p:cNvSpPr txBox="1"/>
          <p:nvPr/>
        </p:nvSpPr>
        <p:spPr>
          <a:xfrm>
            <a:off x="93980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Demo &amp; Conclusion</a:t>
            </a:r>
          </a:p>
        </p:txBody>
      </p:sp>
      <p:sp>
        <p:nvSpPr>
          <p:cNvPr id="8" name="TextBox 7">
            <a:extLst>
              <a:ext uri="{FF2B5EF4-FFF2-40B4-BE49-F238E27FC236}">
                <a16:creationId xmlns:a16="http://schemas.microsoft.com/office/drawing/2014/main" id="{9260F16F-D40C-9E1B-FAFF-8B30C9FB2234}"/>
              </a:ext>
            </a:extLst>
          </p:cNvPr>
          <p:cNvSpPr txBox="1"/>
          <p:nvPr/>
        </p:nvSpPr>
        <p:spPr>
          <a:xfrm>
            <a:off x="609600" y="736600"/>
            <a:ext cx="8890000" cy="369332"/>
          </a:xfrm>
          <a:prstGeom prst="rect">
            <a:avLst/>
          </a:prstGeom>
          <a:noFill/>
        </p:spPr>
        <p:txBody>
          <a:bodyPr vert="horz" wrap="square" lIns="0" tIns="0" rIns="0" bIns="0" rtlCol="0">
            <a:noAutofit/>
          </a:bodyPr>
          <a:lstStyle/>
          <a:p>
            <a:pPr>
              <a:lnSpc>
                <a:spcPct val="110000"/>
              </a:lnSpc>
            </a:pPr>
            <a:r>
              <a:rPr lang="en-IN" sz="1100">
                <a:solidFill>
                  <a:srgbClr val="26658C"/>
                </a:solidFill>
                <a:latin typeface="Segoe UI Semibold" panose="020B0702040204020203" pitchFamily="34" charset="0"/>
              </a:rPr>
              <a:t>OBJECTIVES</a:t>
            </a:r>
          </a:p>
        </p:txBody>
      </p:sp>
      <p:sp>
        <p:nvSpPr>
          <p:cNvPr id="9" name="TextBox 8">
            <a:extLst>
              <a:ext uri="{FF2B5EF4-FFF2-40B4-BE49-F238E27FC236}">
                <a16:creationId xmlns:a16="http://schemas.microsoft.com/office/drawing/2014/main" id="{7268545C-204A-F04C-315A-794C9BE06521}"/>
              </a:ext>
            </a:extLst>
          </p:cNvPr>
          <p:cNvSpPr txBox="1"/>
          <p:nvPr/>
        </p:nvSpPr>
        <p:spPr>
          <a:xfrm>
            <a:off x="609600" y="965200"/>
            <a:ext cx="10972800" cy="369332"/>
          </a:xfrm>
          <a:prstGeom prst="rect">
            <a:avLst/>
          </a:prstGeom>
          <a:noFill/>
        </p:spPr>
        <p:txBody>
          <a:bodyPr vert="horz" wrap="square" lIns="0" tIns="0" rIns="0" bIns="0" rtlCol="0">
            <a:noAutofit/>
          </a:bodyPr>
          <a:lstStyle/>
          <a:p>
            <a:pPr>
              <a:lnSpc>
                <a:spcPct val="110000"/>
              </a:lnSpc>
            </a:pPr>
            <a:r>
              <a:rPr lang="en-US" sz="2600" b="1">
                <a:solidFill>
                  <a:srgbClr val="0B2340"/>
                </a:solidFill>
                <a:latin typeface="Georgia" panose="02040502050405020303" pitchFamily="18" charset="0"/>
              </a:rPr>
              <a:t>Six goals, from data to a working app</a:t>
            </a:r>
            <a:endParaRPr lang="en-IN" sz="2600" b="1">
              <a:solidFill>
                <a:srgbClr val="0B2340"/>
              </a:solidFill>
              <a:latin typeface="Georgia" panose="02040502050405020303" pitchFamily="18" charset="0"/>
            </a:endParaRPr>
          </a:p>
        </p:txBody>
      </p:sp>
      <p:sp>
        <p:nvSpPr>
          <p:cNvPr id="10" name="TextBox 9">
            <a:extLst>
              <a:ext uri="{FF2B5EF4-FFF2-40B4-BE49-F238E27FC236}">
                <a16:creationId xmlns:a16="http://schemas.microsoft.com/office/drawing/2014/main" id="{52F73608-669B-FCD3-6094-7F0D102B9F6E}"/>
              </a:ext>
            </a:extLst>
          </p:cNvPr>
          <p:cNvSpPr txBox="1"/>
          <p:nvPr/>
        </p:nvSpPr>
        <p:spPr>
          <a:xfrm>
            <a:off x="609600" y="6502400"/>
            <a:ext cx="7620000" cy="369332"/>
          </a:xfrm>
          <a:prstGeom prst="rect">
            <a:avLst/>
          </a:prstGeom>
          <a:noFill/>
        </p:spPr>
        <p:txBody>
          <a:bodyPr vert="horz" wrap="square" lIns="0" tIns="0" rIns="0" bIns="0" rtlCol="0">
            <a:noAutofit/>
          </a:bodyPr>
          <a:lstStyle/>
          <a:p>
            <a:pPr>
              <a:lnSpc>
                <a:spcPct val="110000"/>
              </a:lnSpc>
            </a:pPr>
            <a:r>
              <a:rPr lang="en-US" sz="900">
                <a:solidFill>
                  <a:srgbClr val="6B8296"/>
                </a:solidFill>
                <a:latin typeface="Segoe UI" panose="020B0502040204020203" pitchFamily="34" charset="0"/>
              </a:rPr>
              <a:t>Acadrix · Student Performance Prediction System</a:t>
            </a:r>
            <a:endParaRPr lang="en-IN" sz="900">
              <a:solidFill>
                <a:srgbClr val="6B8296"/>
              </a:solidFill>
              <a:latin typeface="Segoe UI" panose="020B0502040204020203" pitchFamily="34" charset="0"/>
            </a:endParaRPr>
          </a:p>
        </p:txBody>
      </p:sp>
      <p:sp>
        <p:nvSpPr>
          <p:cNvPr id="11" name="TextBox 10">
            <a:extLst>
              <a:ext uri="{FF2B5EF4-FFF2-40B4-BE49-F238E27FC236}">
                <a16:creationId xmlns:a16="http://schemas.microsoft.com/office/drawing/2014/main" id="{D2886F84-4834-A901-AFD5-6DDBE7C21A95}"/>
              </a:ext>
            </a:extLst>
          </p:cNvPr>
          <p:cNvSpPr txBox="1"/>
          <p:nvPr/>
        </p:nvSpPr>
        <p:spPr>
          <a:xfrm>
            <a:off x="10820400" y="6502400"/>
            <a:ext cx="762000" cy="369332"/>
          </a:xfrm>
          <a:prstGeom prst="rect">
            <a:avLst/>
          </a:prstGeom>
          <a:noFill/>
        </p:spPr>
        <p:txBody>
          <a:bodyPr vert="horz" wrap="square" lIns="0" tIns="0" rIns="0" bIns="0" rtlCol="0">
            <a:noAutofit/>
          </a:bodyPr>
          <a:lstStyle/>
          <a:p>
            <a:pPr algn="r">
              <a:lnSpc>
                <a:spcPct val="110000"/>
              </a:lnSpc>
            </a:pPr>
            <a:r>
              <a:rPr lang="en-IN" sz="900">
                <a:solidFill>
                  <a:srgbClr val="6B8296"/>
                </a:solidFill>
                <a:latin typeface="Segoe UI" panose="020B0502040204020203" pitchFamily="34" charset="0"/>
              </a:rPr>
              <a:t>04</a:t>
            </a:r>
          </a:p>
        </p:txBody>
      </p:sp>
      <p:sp>
        <p:nvSpPr>
          <p:cNvPr id="12" name="Rectangle: Rounded Corners 11">
            <a:extLst>
              <a:ext uri="{FF2B5EF4-FFF2-40B4-BE49-F238E27FC236}">
                <a16:creationId xmlns:a16="http://schemas.microsoft.com/office/drawing/2014/main" id="{37E3BD24-A0E6-2227-82BC-ED522E794D31}"/>
              </a:ext>
            </a:extLst>
          </p:cNvPr>
          <p:cNvSpPr/>
          <p:nvPr/>
        </p:nvSpPr>
        <p:spPr>
          <a:xfrm>
            <a:off x="609600" y="1778000"/>
            <a:ext cx="3556000" cy="19812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A6CD5AB8-574F-D6C7-1296-FDD38A2B0ED1}"/>
              </a:ext>
            </a:extLst>
          </p:cNvPr>
          <p:cNvSpPr txBox="1"/>
          <p:nvPr/>
        </p:nvSpPr>
        <p:spPr>
          <a:xfrm>
            <a:off x="863600" y="2006600"/>
            <a:ext cx="1016000" cy="369332"/>
          </a:xfrm>
          <a:prstGeom prst="rect">
            <a:avLst/>
          </a:prstGeom>
          <a:noFill/>
        </p:spPr>
        <p:txBody>
          <a:bodyPr vert="horz" wrap="square" lIns="0" tIns="0" rIns="0" bIns="0" rtlCol="0">
            <a:noAutofit/>
          </a:bodyPr>
          <a:lstStyle/>
          <a:p>
            <a:pPr>
              <a:lnSpc>
                <a:spcPct val="110000"/>
              </a:lnSpc>
            </a:pPr>
            <a:r>
              <a:rPr lang="en-IN" sz="2600" b="1">
                <a:solidFill>
                  <a:srgbClr val="26658C"/>
                </a:solidFill>
                <a:latin typeface="Georgia" panose="02040502050405020303" pitchFamily="18" charset="0"/>
              </a:rPr>
              <a:t>01</a:t>
            </a:r>
          </a:p>
        </p:txBody>
      </p:sp>
      <p:sp>
        <p:nvSpPr>
          <p:cNvPr id="14" name="TextBox 13">
            <a:extLst>
              <a:ext uri="{FF2B5EF4-FFF2-40B4-BE49-F238E27FC236}">
                <a16:creationId xmlns:a16="http://schemas.microsoft.com/office/drawing/2014/main" id="{72AA33A8-6A6A-8481-F46D-0D845D0A5CAB}"/>
              </a:ext>
            </a:extLst>
          </p:cNvPr>
          <p:cNvSpPr txBox="1"/>
          <p:nvPr/>
        </p:nvSpPr>
        <p:spPr>
          <a:xfrm>
            <a:off x="863600" y="2590800"/>
            <a:ext cx="3048000" cy="369332"/>
          </a:xfrm>
          <a:prstGeom prst="rect">
            <a:avLst/>
          </a:prstGeom>
          <a:noFill/>
        </p:spPr>
        <p:txBody>
          <a:bodyPr vert="horz" wrap="square" lIns="0" tIns="0" rIns="0" bIns="0" rtlCol="0">
            <a:noAutofit/>
          </a:bodyPr>
          <a:lstStyle/>
          <a:p>
            <a:pPr>
              <a:lnSpc>
                <a:spcPct val="110000"/>
              </a:lnSpc>
            </a:pPr>
            <a:r>
              <a:rPr lang="en-US" sz="1500">
                <a:solidFill>
                  <a:srgbClr val="0B2340"/>
                </a:solidFill>
                <a:latin typeface="Segoe UI" panose="020B0502040204020203" pitchFamily="34" charset="0"/>
              </a:rPr>
              <a:t>Predict the final score from five academic indicators</a:t>
            </a:r>
            <a:endParaRPr lang="en-IN" sz="1500">
              <a:solidFill>
                <a:srgbClr val="0B2340"/>
              </a:solidFill>
              <a:latin typeface="Segoe UI" panose="020B0502040204020203" pitchFamily="34" charset="0"/>
            </a:endParaRPr>
          </a:p>
        </p:txBody>
      </p:sp>
      <p:sp>
        <p:nvSpPr>
          <p:cNvPr id="15" name="Rectangle: Rounded Corners 14">
            <a:extLst>
              <a:ext uri="{FF2B5EF4-FFF2-40B4-BE49-F238E27FC236}">
                <a16:creationId xmlns:a16="http://schemas.microsoft.com/office/drawing/2014/main" id="{97F7AF4B-81FF-EF8C-76D9-9C0C040E31B1}"/>
              </a:ext>
            </a:extLst>
          </p:cNvPr>
          <p:cNvSpPr/>
          <p:nvPr/>
        </p:nvSpPr>
        <p:spPr>
          <a:xfrm>
            <a:off x="4318000" y="1778000"/>
            <a:ext cx="3556000" cy="19812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68B507AD-C70F-6813-BB4A-9BEB5AF1DB5F}"/>
              </a:ext>
            </a:extLst>
          </p:cNvPr>
          <p:cNvSpPr txBox="1"/>
          <p:nvPr/>
        </p:nvSpPr>
        <p:spPr>
          <a:xfrm>
            <a:off x="4572000" y="2006600"/>
            <a:ext cx="1016000" cy="369332"/>
          </a:xfrm>
          <a:prstGeom prst="rect">
            <a:avLst/>
          </a:prstGeom>
          <a:noFill/>
        </p:spPr>
        <p:txBody>
          <a:bodyPr vert="horz" wrap="square" lIns="0" tIns="0" rIns="0" bIns="0" rtlCol="0">
            <a:noAutofit/>
          </a:bodyPr>
          <a:lstStyle/>
          <a:p>
            <a:pPr>
              <a:lnSpc>
                <a:spcPct val="110000"/>
              </a:lnSpc>
            </a:pPr>
            <a:r>
              <a:rPr lang="en-IN" sz="2600" b="1">
                <a:solidFill>
                  <a:srgbClr val="26658C"/>
                </a:solidFill>
                <a:latin typeface="Georgia" panose="02040502050405020303" pitchFamily="18" charset="0"/>
              </a:rPr>
              <a:t>02</a:t>
            </a:r>
          </a:p>
        </p:txBody>
      </p:sp>
      <p:sp>
        <p:nvSpPr>
          <p:cNvPr id="17" name="TextBox 16">
            <a:extLst>
              <a:ext uri="{FF2B5EF4-FFF2-40B4-BE49-F238E27FC236}">
                <a16:creationId xmlns:a16="http://schemas.microsoft.com/office/drawing/2014/main" id="{0FCD5C20-E5C1-900E-340E-BB9F66F0DC15}"/>
              </a:ext>
            </a:extLst>
          </p:cNvPr>
          <p:cNvSpPr txBox="1"/>
          <p:nvPr/>
        </p:nvSpPr>
        <p:spPr>
          <a:xfrm>
            <a:off x="4572000" y="2590800"/>
            <a:ext cx="3048000" cy="369332"/>
          </a:xfrm>
          <a:prstGeom prst="rect">
            <a:avLst/>
          </a:prstGeom>
          <a:noFill/>
        </p:spPr>
        <p:txBody>
          <a:bodyPr vert="horz" wrap="square" lIns="0" tIns="0" rIns="0" bIns="0" rtlCol="0">
            <a:noAutofit/>
          </a:bodyPr>
          <a:lstStyle/>
          <a:p>
            <a:pPr>
              <a:lnSpc>
                <a:spcPct val="110000"/>
              </a:lnSpc>
            </a:pPr>
            <a:r>
              <a:rPr lang="en-US" sz="1500">
                <a:solidFill>
                  <a:srgbClr val="0B2340"/>
                </a:solidFill>
                <a:latin typeface="Segoe UI" panose="020B0502040204020203" pitchFamily="34" charset="0"/>
              </a:rPr>
              <a:t>Follow the full ML lifecycle, from data to deployment</a:t>
            </a:r>
            <a:endParaRPr lang="en-IN" sz="1500">
              <a:solidFill>
                <a:srgbClr val="0B2340"/>
              </a:solidFill>
              <a:latin typeface="Segoe UI" panose="020B0502040204020203" pitchFamily="34" charset="0"/>
            </a:endParaRPr>
          </a:p>
        </p:txBody>
      </p:sp>
      <p:sp>
        <p:nvSpPr>
          <p:cNvPr id="18" name="Rectangle: Rounded Corners 17">
            <a:extLst>
              <a:ext uri="{FF2B5EF4-FFF2-40B4-BE49-F238E27FC236}">
                <a16:creationId xmlns:a16="http://schemas.microsoft.com/office/drawing/2014/main" id="{82F468BF-2508-6C49-C848-C0989059D6E5}"/>
              </a:ext>
            </a:extLst>
          </p:cNvPr>
          <p:cNvSpPr/>
          <p:nvPr/>
        </p:nvSpPr>
        <p:spPr>
          <a:xfrm>
            <a:off x="8026400" y="1778000"/>
            <a:ext cx="3556000" cy="19812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C421701B-5E14-0918-3C17-8A5C1C235184}"/>
              </a:ext>
            </a:extLst>
          </p:cNvPr>
          <p:cNvSpPr txBox="1"/>
          <p:nvPr/>
        </p:nvSpPr>
        <p:spPr>
          <a:xfrm>
            <a:off x="8280400" y="2006600"/>
            <a:ext cx="1016000" cy="369332"/>
          </a:xfrm>
          <a:prstGeom prst="rect">
            <a:avLst/>
          </a:prstGeom>
          <a:noFill/>
        </p:spPr>
        <p:txBody>
          <a:bodyPr vert="horz" wrap="square" lIns="0" tIns="0" rIns="0" bIns="0" rtlCol="0">
            <a:noAutofit/>
          </a:bodyPr>
          <a:lstStyle/>
          <a:p>
            <a:pPr>
              <a:lnSpc>
                <a:spcPct val="110000"/>
              </a:lnSpc>
            </a:pPr>
            <a:r>
              <a:rPr lang="en-IN" sz="2600" b="1">
                <a:solidFill>
                  <a:srgbClr val="26658C"/>
                </a:solidFill>
                <a:latin typeface="Georgia" panose="02040502050405020303" pitchFamily="18" charset="0"/>
              </a:rPr>
              <a:t>03</a:t>
            </a:r>
          </a:p>
        </p:txBody>
      </p:sp>
      <p:sp>
        <p:nvSpPr>
          <p:cNvPr id="20" name="TextBox 19">
            <a:extLst>
              <a:ext uri="{FF2B5EF4-FFF2-40B4-BE49-F238E27FC236}">
                <a16:creationId xmlns:a16="http://schemas.microsoft.com/office/drawing/2014/main" id="{9ACCE136-79D5-938F-213B-7A336F39D3D7}"/>
              </a:ext>
            </a:extLst>
          </p:cNvPr>
          <p:cNvSpPr txBox="1"/>
          <p:nvPr/>
        </p:nvSpPr>
        <p:spPr>
          <a:xfrm>
            <a:off x="8280400" y="2590800"/>
            <a:ext cx="3048000" cy="369332"/>
          </a:xfrm>
          <a:prstGeom prst="rect">
            <a:avLst/>
          </a:prstGeom>
          <a:noFill/>
        </p:spPr>
        <p:txBody>
          <a:bodyPr vert="horz" wrap="square" lIns="0" tIns="0" rIns="0" bIns="0" rtlCol="0">
            <a:noAutofit/>
          </a:bodyPr>
          <a:lstStyle/>
          <a:p>
            <a:pPr>
              <a:lnSpc>
                <a:spcPct val="110000"/>
              </a:lnSpc>
            </a:pPr>
            <a:r>
              <a:rPr lang="en-US" sz="1500">
                <a:solidFill>
                  <a:srgbClr val="0B2340"/>
                </a:solidFill>
                <a:latin typeface="Segoe UI" panose="020B0502040204020203" pitchFamily="34" charset="0"/>
              </a:rPr>
              <a:t>Train and compare three models, deploy the best</a:t>
            </a:r>
            <a:endParaRPr lang="en-IN" sz="1500">
              <a:solidFill>
                <a:srgbClr val="0B2340"/>
              </a:solidFill>
              <a:latin typeface="Segoe UI" panose="020B0502040204020203" pitchFamily="34" charset="0"/>
            </a:endParaRPr>
          </a:p>
        </p:txBody>
      </p:sp>
      <p:sp>
        <p:nvSpPr>
          <p:cNvPr id="21" name="Rectangle: Rounded Corners 20">
            <a:extLst>
              <a:ext uri="{FF2B5EF4-FFF2-40B4-BE49-F238E27FC236}">
                <a16:creationId xmlns:a16="http://schemas.microsoft.com/office/drawing/2014/main" id="{72DF1BA3-5D08-CDCF-7786-5C37AA5C18A4}"/>
              </a:ext>
            </a:extLst>
          </p:cNvPr>
          <p:cNvSpPr/>
          <p:nvPr/>
        </p:nvSpPr>
        <p:spPr>
          <a:xfrm>
            <a:off x="609600" y="3937000"/>
            <a:ext cx="3556000" cy="19812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854F5FE7-DF5E-DCC1-76B3-C28D2255BF22}"/>
              </a:ext>
            </a:extLst>
          </p:cNvPr>
          <p:cNvSpPr txBox="1"/>
          <p:nvPr/>
        </p:nvSpPr>
        <p:spPr>
          <a:xfrm>
            <a:off x="863600" y="4165600"/>
            <a:ext cx="1016000" cy="369332"/>
          </a:xfrm>
          <a:prstGeom prst="rect">
            <a:avLst/>
          </a:prstGeom>
          <a:noFill/>
        </p:spPr>
        <p:txBody>
          <a:bodyPr vert="horz" wrap="square" lIns="0" tIns="0" rIns="0" bIns="0" rtlCol="0">
            <a:noAutofit/>
          </a:bodyPr>
          <a:lstStyle/>
          <a:p>
            <a:pPr>
              <a:lnSpc>
                <a:spcPct val="110000"/>
              </a:lnSpc>
            </a:pPr>
            <a:r>
              <a:rPr lang="en-IN" sz="2600" b="1">
                <a:solidFill>
                  <a:srgbClr val="26658C"/>
                </a:solidFill>
                <a:latin typeface="Georgia" panose="02040502050405020303" pitchFamily="18" charset="0"/>
              </a:rPr>
              <a:t>04</a:t>
            </a:r>
          </a:p>
        </p:txBody>
      </p:sp>
      <p:sp>
        <p:nvSpPr>
          <p:cNvPr id="23" name="TextBox 22">
            <a:extLst>
              <a:ext uri="{FF2B5EF4-FFF2-40B4-BE49-F238E27FC236}">
                <a16:creationId xmlns:a16="http://schemas.microsoft.com/office/drawing/2014/main" id="{757BF852-B15C-F040-7E8C-80D128BF1C61}"/>
              </a:ext>
            </a:extLst>
          </p:cNvPr>
          <p:cNvSpPr txBox="1"/>
          <p:nvPr/>
        </p:nvSpPr>
        <p:spPr>
          <a:xfrm>
            <a:off x="863600" y="4749800"/>
            <a:ext cx="3048000" cy="369332"/>
          </a:xfrm>
          <a:prstGeom prst="rect">
            <a:avLst/>
          </a:prstGeom>
          <a:noFill/>
        </p:spPr>
        <p:txBody>
          <a:bodyPr vert="horz" wrap="square" lIns="0" tIns="0" rIns="0" bIns="0" rtlCol="0">
            <a:noAutofit/>
          </a:bodyPr>
          <a:lstStyle/>
          <a:p>
            <a:pPr>
              <a:lnSpc>
                <a:spcPct val="110000"/>
              </a:lnSpc>
            </a:pPr>
            <a:r>
              <a:rPr lang="en-US" sz="1500">
                <a:solidFill>
                  <a:srgbClr val="0B2340"/>
                </a:solidFill>
                <a:latin typeface="Segoe UI" panose="020B0502040204020203" pitchFamily="34" charset="0"/>
              </a:rPr>
              <a:t>Flag at-risk students for teachers before exams</a:t>
            </a:r>
            <a:endParaRPr lang="en-IN" sz="1500">
              <a:solidFill>
                <a:srgbClr val="0B2340"/>
              </a:solidFill>
              <a:latin typeface="Segoe UI" panose="020B0502040204020203" pitchFamily="34" charset="0"/>
            </a:endParaRPr>
          </a:p>
        </p:txBody>
      </p:sp>
      <p:sp>
        <p:nvSpPr>
          <p:cNvPr id="24" name="Rectangle: Rounded Corners 23">
            <a:extLst>
              <a:ext uri="{FF2B5EF4-FFF2-40B4-BE49-F238E27FC236}">
                <a16:creationId xmlns:a16="http://schemas.microsoft.com/office/drawing/2014/main" id="{B75F1BEC-E373-7D0E-696A-8079FCF6756A}"/>
              </a:ext>
            </a:extLst>
          </p:cNvPr>
          <p:cNvSpPr/>
          <p:nvPr/>
        </p:nvSpPr>
        <p:spPr>
          <a:xfrm>
            <a:off x="4318000" y="3937000"/>
            <a:ext cx="3556000" cy="19812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4D8C0A1C-EA13-BFF8-3CA9-EE95C737909F}"/>
              </a:ext>
            </a:extLst>
          </p:cNvPr>
          <p:cNvSpPr txBox="1"/>
          <p:nvPr/>
        </p:nvSpPr>
        <p:spPr>
          <a:xfrm>
            <a:off x="4572000" y="4165600"/>
            <a:ext cx="1016000" cy="369332"/>
          </a:xfrm>
          <a:prstGeom prst="rect">
            <a:avLst/>
          </a:prstGeom>
          <a:noFill/>
        </p:spPr>
        <p:txBody>
          <a:bodyPr vert="horz" wrap="square" lIns="0" tIns="0" rIns="0" bIns="0" rtlCol="0">
            <a:noAutofit/>
          </a:bodyPr>
          <a:lstStyle/>
          <a:p>
            <a:pPr>
              <a:lnSpc>
                <a:spcPct val="110000"/>
              </a:lnSpc>
            </a:pPr>
            <a:r>
              <a:rPr lang="en-IN" sz="2600" b="1">
                <a:solidFill>
                  <a:srgbClr val="26658C"/>
                </a:solidFill>
                <a:latin typeface="Georgia" panose="02040502050405020303" pitchFamily="18" charset="0"/>
              </a:rPr>
              <a:t>05</a:t>
            </a:r>
          </a:p>
        </p:txBody>
      </p:sp>
      <p:sp>
        <p:nvSpPr>
          <p:cNvPr id="26" name="TextBox 25">
            <a:extLst>
              <a:ext uri="{FF2B5EF4-FFF2-40B4-BE49-F238E27FC236}">
                <a16:creationId xmlns:a16="http://schemas.microsoft.com/office/drawing/2014/main" id="{A1866138-803D-ED99-51B7-E2623FA53104}"/>
              </a:ext>
            </a:extLst>
          </p:cNvPr>
          <p:cNvSpPr txBox="1"/>
          <p:nvPr/>
        </p:nvSpPr>
        <p:spPr>
          <a:xfrm>
            <a:off x="4572000" y="4749800"/>
            <a:ext cx="3048000" cy="369332"/>
          </a:xfrm>
          <a:prstGeom prst="rect">
            <a:avLst/>
          </a:prstGeom>
          <a:noFill/>
        </p:spPr>
        <p:txBody>
          <a:bodyPr vert="horz" wrap="square" lIns="0" tIns="0" rIns="0" bIns="0" rtlCol="0">
            <a:noAutofit/>
          </a:bodyPr>
          <a:lstStyle/>
          <a:p>
            <a:pPr>
              <a:lnSpc>
                <a:spcPct val="110000"/>
              </a:lnSpc>
            </a:pPr>
            <a:r>
              <a:rPr lang="en-US" sz="1500">
                <a:solidFill>
                  <a:srgbClr val="0B2340"/>
                </a:solidFill>
                <a:latin typeface="Segoe UI" panose="020B0502040204020203" pitchFamily="34" charset="0"/>
              </a:rPr>
              <a:t>Give every student a personal, actionable plan</a:t>
            </a:r>
            <a:endParaRPr lang="en-IN" sz="1500">
              <a:solidFill>
                <a:srgbClr val="0B2340"/>
              </a:solidFill>
              <a:latin typeface="Segoe UI" panose="020B0502040204020203" pitchFamily="34" charset="0"/>
            </a:endParaRPr>
          </a:p>
        </p:txBody>
      </p:sp>
      <p:sp>
        <p:nvSpPr>
          <p:cNvPr id="27" name="Rectangle: Rounded Corners 26">
            <a:extLst>
              <a:ext uri="{FF2B5EF4-FFF2-40B4-BE49-F238E27FC236}">
                <a16:creationId xmlns:a16="http://schemas.microsoft.com/office/drawing/2014/main" id="{90F2323A-0BA5-44E8-E127-8EAA0A664301}"/>
              </a:ext>
            </a:extLst>
          </p:cNvPr>
          <p:cNvSpPr/>
          <p:nvPr/>
        </p:nvSpPr>
        <p:spPr>
          <a:xfrm>
            <a:off x="8026400" y="3937000"/>
            <a:ext cx="3556000" cy="19812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Box 27">
            <a:extLst>
              <a:ext uri="{FF2B5EF4-FFF2-40B4-BE49-F238E27FC236}">
                <a16:creationId xmlns:a16="http://schemas.microsoft.com/office/drawing/2014/main" id="{03E21481-EF65-A209-054D-B85372A1A3A9}"/>
              </a:ext>
            </a:extLst>
          </p:cNvPr>
          <p:cNvSpPr txBox="1"/>
          <p:nvPr/>
        </p:nvSpPr>
        <p:spPr>
          <a:xfrm>
            <a:off x="8280400" y="4165600"/>
            <a:ext cx="1016000" cy="369332"/>
          </a:xfrm>
          <a:prstGeom prst="rect">
            <a:avLst/>
          </a:prstGeom>
          <a:noFill/>
        </p:spPr>
        <p:txBody>
          <a:bodyPr vert="horz" wrap="square" lIns="0" tIns="0" rIns="0" bIns="0" rtlCol="0">
            <a:noAutofit/>
          </a:bodyPr>
          <a:lstStyle/>
          <a:p>
            <a:pPr>
              <a:lnSpc>
                <a:spcPct val="110000"/>
              </a:lnSpc>
            </a:pPr>
            <a:r>
              <a:rPr lang="en-IN" sz="2600" b="1">
                <a:solidFill>
                  <a:srgbClr val="26658C"/>
                </a:solidFill>
                <a:latin typeface="Georgia" panose="02040502050405020303" pitchFamily="18" charset="0"/>
              </a:rPr>
              <a:t>06</a:t>
            </a:r>
          </a:p>
        </p:txBody>
      </p:sp>
      <p:sp>
        <p:nvSpPr>
          <p:cNvPr id="29" name="TextBox 28">
            <a:extLst>
              <a:ext uri="{FF2B5EF4-FFF2-40B4-BE49-F238E27FC236}">
                <a16:creationId xmlns:a16="http://schemas.microsoft.com/office/drawing/2014/main" id="{2F22F9D4-C400-C109-0416-D1A2B5DD6DD3}"/>
              </a:ext>
            </a:extLst>
          </p:cNvPr>
          <p:cNvSpPr txBox="1"/>
          <p:nvPr/>
        </p:nvSpPr>
        <p:spPr>
          <a:xfrm>
            <a:off x="8280400" y="4749800"/>
            <a:ext cx="3048000" cy="369332"/>
          </a:xfrm>
          <a:prstGeom prst="rect">
            <a:avLst/>
          </a:prstGeom>
          <a:noFill/>
        </p:spPr>
        <p:txBody>
          <a:bodyPr vert="horz" wrap="square" lIns="0" tIns="0" rIns="0" bIns="0" rtlCol="0">
            <a:noAutofit/>
          </a:bodyPr>
          <a:lstStyle/>
          <a:p>
            <a:pPr>
              <a:lnSpc>
                <a:spcPct val="110000"/>
              </a:lnSpc>
            </a:pPr>
            <a:r>
              <a:rPr lang="en-US" sz="1500">
                <a:solidFill>
                  <a:srgbClr val="0B2340"/>
                </a:solidFill>
                <a:latin typeface="Segoe UI" panose="020B0502040204020203" pitchFamily="34" charset="0"/>
              </a:rPr>
              <a:t>Deploy a web app that takes inputs and shows predictions</a:t>
            </a:r>
            <a:endParaRPr lang="en-IN" sz="1500">
              <a:solidFill>
                <a:srgbClr val="0B2340"/>
              </a:solidFill>
              <a:latin typeface="Segoe UI" panose="020B0502040204020203" pitchFamily="34" charset="0"/>
            </a:endParaRPr>
          </a:p>
        </p:txBody>
      </p:sp>
    </p:spTree>
    <p:extLst>
      <p:ext uri="{BB962C8B-B14F-4D97-AF65-F5344CB8AC3E}">
        <p14:creationId xmlns:p14="http://schemas.microsoft.com/office/powerpoint/2010/main" val="79547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8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281C85-F7D2-38CF-E6A6-B744F12F005A}"/>
              </a:ext>
            </a:extLst>
          </p:cNvPr>
          <p:cNvSpPr txBox="1"/>
          <p:nvPr/>
        </p:nvSpPr>
        <p:spPr>
          <a:xfrm>
            <a:off x="6096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Introduction</a:t>
            </a:r>
          </a:p>
        </p:txBody>
      </p:sp>
      <p:sp>
        <p:nvSpPr>
          <p:cNvPr id="3" name="Rectangle: Rounded Corners 2">
            <a:extLst>
              <a:ext uri="{FF2B5EF4-FFF2-40B4-BE49-F238E27FC236}">
                <a16:creationId xmlns:a16="http://schemas.microsoft.com/office/drawing/2014/main" id="{B9207EC7-7286-F9E4-C3E6-AAD70911870A}"/>
              </a:ext>
            </a:extLst>
          </p:cNvPr>
          <p:cNvSpPr/>
          <p:nvPr/>
        </p:nvSpPr>
        <p:spPr>
          <a:xfrm>
            <a:off x="2806700" y="203200"/>
            <a:ext cx="2032000" cy="279400"/>
          </a:xfrm>
          <a:prstGeom prst="roundRect">
            <a:avLst>
              <a:gd name="adj" fmla="val 50000"/>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BECEBF59-D13A-2752-220A-16B196DF39E8}"/>
              </a:ext>
            </a:extLst>
          </p:cNvPr>
          <p:cNvSpPr txBox="1"/>
          <p:nvPr/>
        </p:nvSpPr>
        <p:spPr>
          <a:xfrm>
            <a:off x="28067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FFFFFF"/>
                </a:solidFill>
                <a:latin typeface="Segoe UI Semibold" panose="020B0702040204020203" pitchFamily="34" charset="0"/>
              </a:rPr>
              <a:t>Data &amp; Methodology</a:t>
            </a:r>
          </a:p>
        </p:txBody>
      </p:sp>
      <p:sp>
        <p:nvSpPr>
          <p:cNvPr id="5" name="TextBox 4">
            <a:extLst>
              <a:ext uri="{FF2B5EF4-FFF2-40B4-BE49-F238E27FC236}">
                <a16:creationId xmlns:a16="http://schemas.microsoft.com/office/drawing/2014/main" id="{095EA103-89BE-ADCC-B352-AFCFF7A985BA}"/>
              </a:ext>
            </a:extLst>
          </p:cNvPr>
          <p:cNvSpPr txBox="1"/>
          <p:nvPr/>
        </p:nvSpPr>
        <p:spPr>
          <a:xfrm>
            <a:off x="50038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Preprocessing &amp; EDA</a:t>
            </a:r>
          </a:p>
        </p:txBody>
      </p:sp>
      <p:sp>
        <p:nvSpPr>
          <p:cNvPr id="6" name="TextBox 5">
            <a:extLst>
              <a:ext uri="{FF2B5EF4-FFF2-40B4-BE49-F238E27FC236}">
                <a16:creationId xmlns:a16="http://schemas.microsoft.com/office/drawing/2014/main" id="{F38833F4-08AC-BAF9-F41B-BAF247F108F9}"/>
              </a:ext>
            </a:extLst>
          </p:cNvPr>
          <p:cNvSpPr txBox="1"/>
          <p:nvPr/>
        </p:nvSpPr>
        <p:spPr>
          <a:xfrm>
            <a:off x="72009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Models &amp; Results</a:t>
            </a:r>
          </a:p>
        </p:txBody>
      </p:sp>
      <p:sp>
        <p:nvSpPr>
          <p:cNvPr id="7" name="TextBox 6">
            <a:extLst>
              <a:ext uri="{FF2B5EF4-FFF2-40B4-BE49-F238E27FC236}">
                <a16:creationId xmlns:a16="http://schemas.microsoft.com/office/drawing/2014/main" id="{479A541D-FAD6-7655-8336-D8A21D8716E5}"/>
              </a:ext>
            </a:extLst>
          </p:cNvPr>
          <p:cNvSpPr txBox="1"/>
          <p:nvPr/>
        </p:nvSpPr>
        <p:spPr>
          <a:xfrm>
            <a:off x="93980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Demo &amp; Conclusion</a:t>
            </a:r>
          </a:p>
        </p:txBody>
      </p:sp>
      <p:sp>
        <p:nvSpPr>
          <p:cNvPr id="8" name="TextBox 7">
            <a:extLst>
              <a:ext uri="{FF2B5EF4-FFF2-40B4-BE49-F238E27FC236}">
                <a16:creationId xmlns:a16="http://schemas.microsoft.com/office/drawing/2014/main" id="{975F43B0-271D-DF20-AC16-7ED6D87D1C4B}"/>
              </a:ext>
            </a:extLst>
          </p:cNvPr>
          <p:cNvSpPr txBox="1"/>
          <p:nvPr/>
        </p:nvSpPr>
        <p:spPr>
          <a:xfrm>
            <a:off x="609600" y="736600"/>
            <a:ext cx="8890000" cy="369332"/>
          </a:xfrm>
          <a:prstGeom prst="rect">
            <a:avLst/>
          </a:prstGeom>
          <a:noFill/>
        </p:spPr>
        <p:txBody>
          <a:bodyPr vert="horz" wrap="square" lIns="0" tIns="0" rIns="0" bIns="0" rtlCol="0">
            <a:noAutofit/>
          </a:bodyPr>
          <a:lstStyle/>
          <a:p>
            <a:pPr>
              <a:lnSpc>
                <a:spcPct val="110000"/>
              </a:lnSpc>
            </a:pPr>
            <a:r>
              <a:rPr lang="en-IN" sz="1100">
                <a:solidFill>
                  <a:srgbClr val="26658C"/>
                </a:solidFill>
                <a:latin typeface="Segoe UI Semibold" panose="020B0702040204020203" pitchFamily="34" charset="0"/>
              </a:rPr>
              <a:t>DATASET DESCRIPTION</a:t>
            </a:r>
          </a:p>
        </p:txBody>
      </p:sp>
      <p:sp>
        <p:nvSpPr>
          <p:cNvPr id="9" name="TextBox 8">
            <a:extLst>
              <a:ext uri="{FF2B5EF4-FFF2-40B4-BE49-F238E27FC236}">
                <a16:creationId xmlns:a16="http://schemas.microsoft.com/office/drawing/2014/main" id="{B2F8B21F-9199-28C8-6E82-EB14F4DB5FA4}"/>
              </a:ext>
            </a:extLst>
          </p:cNvPr>
          <p:cNvSpPr txBox="1"/>
          <p:nvPr/>
        </p:nvSpPr>
        <p:spPr>
          <a:xfrm>
            <a:off x="609600" y="965200"/>
            <a:ext cx="10972800" cy="369332"/>
          </a:xfrm>
          <a:prstGeom prst="rect">
            <a:avLst/>
          </a:prstGeom>
          <a:noFill/>
        </p:spPr>
        <p:txBody>
          <a:bodyPr vert="horz" wrap="square" lIns="0" tIns="0" rIns="0" bIns="0" rtlCol="0">
            <a:noAutofit/>
          </a:bodyPr>
          <a:lstStyle/>
          <a:p>
            <a:pPr>
              <a:lnSpc>
                <a:spcPct val="110000"/>
              </a:lnSpc>
            </a:pPr>
            <a:r>
              <a:rPr lang="en-US" sz="2600" b="1">
                <a:solidFill>
                  <a:srgbClr val="0B2340"/>
                </a:solidFill>
                <a:latin typeface="Georgia" panose="02040502050405020303" pitchFamily="18" charset="0"/>
              </a:rPr>
              <a:t>1,015 student records, deliberately messy</a:t>
            </a:r>
            <a:endParaRPr lang="en-IN" sz="2600" b="1">
              <a:solidFill>
                <a:srgbClr val="0B2340"/>
              </a:solidFill>
              <a:latin typeface="Georgia" panose="02040502050405020303" pitchFamily="18" charset="0"/>
            </a:endParaRPr>
          </a:p>
        </p:txBody>
      </p:sp>
      <p:sp>
        <p:nvSpPr>
          <p:cNvPr id="10" name="TextBox 9">
            <a:extLst>
              <a:ext uri="{FF2B5EF4-FFF2-40B4-BE49-F238E27FC236}">
                <a16:creationId xmlns:a16="http://schemas.microsoft.com/office/drawing/2014/main" id="{4B7C9151-4AA3-D395-F87A-75488D0ED01D}"/>
              </a:ext>
            </a:extLst>
          </p:cNvPr>
          <p:cNvSpPr txBox="1"/>
          <p:nvPr/>
        </p:nvSpPr>
        <p:spPr>
          <a:xfrm>
            <a:off x="609600" y="6502400"/>
            <a:ext cx="7620000" cy="369332"/>
          </a:xfrm>
          <a:prstGeom prst="rect">
            <a:avLst/>
          </a:prstGeom>
          <a:noFill/>
        </p:spPr>
        <p:txBody>
          <a:bodyPr vert="horz" wrap="square" lIns="0" tIns="0" rIns="0" bIns="0" rtlCol="0">
            <a:noAutofit/>
          </a:bodyPr>
          <a:lstStyle/>
          <a:p>
            <a:pPr>
              <a:lnSpc>
                <a:spcPct val="110000"/>
              </a:lnSpc>
            </a:pPr>
            <a:r>
              <a:rPr lang="en-US" sz="900">
                <a:solidFill>
                  <a:srgbClr val="6B8296"/>
                </a:solidFill>
                <a:latin typeface="Segoe UI" panose="020B0502040204020203" pitchFamily="34" charset="0"/>
              </a:rPr>
              <a:t>Acadrix · Student Performance Prediction System</a:t>
            </a:r>
            <a:endParaRPr lang="en-IN" sz="900">
              <a:solidFill>
                <a:srgbClr val="6B8296"/>
              </a:solidFill>
              <a:latin typeface="Segoe UI" panose="020B0502040204020203" pitchFamily="34" charset="0"/>
            </a:endParaRPr>
          </a:p>
        </p:txBody>
      </p:sp>
      <p:sp>
        <p:nvSpPr>
          <p:cNvPr id="11" name="TextBox 10">
            <a:extLst>
              <a:ext uri="{FF2B5EF4-FFF2-40B4-BE49-F238E27FC236}">
                <a16:creationId xmlns:a16="http://schemas.microsoft.com/office/drawing/2014/main" id="{F4A27103-3FBB-1CC8-AA6C-77C0F73DF2C4}"/>
              </a:ext>
            </a:extLst>
          </p:cNvPr>
          <p:cNvSpPr txBox="1"/>
          <p:nvPr/>
        </p:nvSpPr>
        <p:spPr>
          <a:xfrm>
            <a:off x="10820400" y="6502400"/>
            <a:ext cx="762000" cy="369332"/>
          </a:xfrm>
          <a:prstGeom prst="rect">
            <a:avLst/>
          </a:prstGeom>
          <a:noFill/>
        </p:spPr>
        <p:txBody>
          <a:bodyPr vert="horz" wrap="square" lIns="0" tIns="0" rIns="0" bIns="0" rtlCol="0">
            <a:noAutofit/>
          </a:bodyPr>
          <a:lstStyle/>
          <a:p>
            <a:pPr algn="r">
              <a:lnSpc>
                <a:spcPct val="110000"/>
              </a:lnSpc>
            </a:pPr>
            <a:r>
              <a:rPr lang="en-IN" sz="900">
                <a:solidFill>
                  <a:srgbClr val="6B8296"/>
                </a:solidFill>
                <a:latin typeface="Segoe UI" panose="020B0502040204020203" pitchFamily="34" charset="0"/>
              </a:rPr>
              <a:t>05</a:t>
            </a:r>
          </a:p>
        </p:txBody>
      </p:sp>
      <p:sp>
        <p:nvSpPr>
          <p:cNvPr id="12" name="Rectangle: Rounded Corners 11">
            <a:extLst>
              <a:ext uri="{FF2B5EF4-FFF2-40B4-BE49-F238E27FC236}">
                <a16:creationId xmlns:a16="http://schemas.microsoft.com/office/drawing/2014/main" id="{9611496A-F0C8-AAD4-1735-87CFD43A6933}"/>
              </a:ext>
            </a:extLst>
          </p:cNvPr>
          <p:cNvSpPr/>
          <p:nvPr/>
        </p:nvSpPr>
        <p:spPr>
          <a:xfrm>
            <a:off x="609600" y="1778000"/>
            <a:ext cx="1905000" cy="10922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E0A52193-39FE-44F1-1CA5-1241CE095766}"/>
              </a:ext>
            </a:extLst>
          </p:cNvPr>
          <p:cNvSpPr txBox="1"/>
          <p:nvPr/>
        </p:nvSpPr>
        <p:spPr>
          <a:xfrm>
            <a:off x="812800" y="1930400"/>
            <a:ext cx="1651000" cy="369332"/>
          </a:xfrm>
          <a:prstGeom prst="rect">
            <a:avLst/>
          </a:prstGeom>
          <a:noFill/>
        </p:spPr>
        <p:txBody>
          <a:bodyPr vert="horz" wrap="square" lIns="0" tIns="0" rIns="0" bIns="0" rtlCol="0">
            <a:noAutofit/>
          </a:bodyPr>
          <a:lstStyle/>
          <a:p>
            <a:pPr>
              <a:lnSpc>
                <a:spcPct val="110000"/>
              </a:lnSpc>
            </a:pPr>
            <a:r>
              <a:rPr lang="en-IN" sz="2800" b="1">
                <a:solidFill>
                  <a:srgbClr val="26658C"/>
                </a:solidFill>
                <a:latin typeface="Georgia" panose="02040502050405020303" pitchFamily="18" charset="0"/>
              </a:rPr>
              <a:t>1,015</a:t>
            </a:r>
          </a:p>
        </p:txBody>
      </p:sp>
      <p:sp>
        <p:nvSpPr>
          <p:cNvPr id="14" name="TextBox 13">
            <a:extLst>
              <a:ext uri="{FF2B5EF4-FFF2-40B4-BE49-F238E27FC236}">
                <a16:creationId xmlns:a16="http://schemas.microsoft.com/office/drawing/2014/main" id="{2AA7F192-F7B2-7E94-1EB6-D42F059B17AA}"/>
              </a:ext>
            </a:extLst>
          </p:cNvPr>
          <p:cNvSpPr txBox="1"/>
          <p:nvPr/>
        </p:nvSpPr>
        <p:spPr>
          <a:xfrm>
            <a:off x="812800" y="2438400"/>
            <a:ext cx="1524000" cy="369332"/>
          </a:xfrm>
          <a:prstGeom prst="rect">
            <a:avLst/>
          </a:prstGeom>
          <a:noFill/>
        </p:spPr>
        <p:txBody>
          <a:bodyPr vert="horz" wrap="square" lIns="0" tIns="0" rIns="0" bIns="0" rtlCol="0">
            <a:noAutofit/>
          </a:bodyPr>
          <a:lstStyle/>
          <a:p>
            <a:pPr>
              <a:lnSpc>
                <a:spcPct val="110000"/>
              </a:lnSpc>
            </a:pPr>
            <a:r>
              <a:rPr lang="en-IN" sz="1200">
                <a:solidFill>
                  <a:srgbClr val="3E5670"/>
                </a:solidFill>
                <a:latin typeface="Segoe UI" panose="020B0502040204020203" pitchFamily="34" charset="0"/>
              </a:rPr>
              <a:t>rows</a:t>
            </a:r>
          </a:p>
        </p:txBody>
      </p:sp>
      <p:sp>
        <p:nvSpPr>
          <p:cNvPr id="15" name="Rectangle: Rounded Corners 14">
            <a:extLst>
              <a:ext uri="{FF2B5EF4-FFF2-40B4-BE49-F238E27FC236}">
                <a16:creationId xmlns:a16="http://schemas.microsoft.com/office/drawing/2014/main" id="{D2495BD0-3BE8-1DDF-8AB5-CC5D53140654}"/>
              </a:ext>
            </a:extLst>
          </p:cNvPr>
          <p:cNvSpPr/>
          <p:nvPr/>
        </p:nvSpPr>
        <p:spPr>
          <a:xfrm>
            <a:off x="2667000" y="1778000"/>
            <a:ext cx="1905000" cy="10922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C07C1702-0E39-B847-6686-88635B6A2A96}"/>
              </a:ext>
            </a:extLst>
          </p:cNvPr>
          <p:cNvSpPr txBox="1"/>
          <p:nvPr/>
        </p:nvSpPr>
        <p:spPr>
          <a:xfrm>
            <a:off x="2870200" y="1930400"/>
            <a:ext cx="1651000" cy="369332"/>
          </a:xfrm>
          <a:prstGeom prst="rect">
            <a:avLst/>
          </a:prstGeom>
          <a:noFill/>
        </p:spPr>
        <p:txBody>
          <a:bodyPr vert="horz" wrap="square" lIns="0" tIns="0" rIns="0" bIns="0" rtlCol="0">
            <a:noAutofit/>
          </a:bodyPr>
          <a:lstStyle/>
          <a:p>
            <a:pPr>
              <a:lnSpc>
                <a:spcPct val="110000"/>
              </a:lnSpc>
            </a:pPr>
            <a:r>
              <a:rPr lang="en-IN" sz="2800" b="1">
                <a:solidFill>
                  <a:srgbClr val="26658C"/>
                </a:solidFill>
                <a:latin typeface="Georgia" panose="02040502050405020303" pitchFamily="18" charset="0"/>
              </a:rPr>
              <a:t>12</a:t>
            </a:r>
          </a:p>
        </p:txBody>
      </p:sp>
      <p:sp>
        <p:nvSpPr>
          <p:cNvPr id="17" name="TextBox 16">
            <a:extLst>
              <a:ext uri="{FF2B5EF4-FFF2-40B4-BE49-F238E27FC236}">
                <a16:creationId xmlns:a16="http://schemas.microsoft.com/office/drawing/2014/main" id="{D5B9F84F-D9B5-78EB-47AB-18EE7FB24137}"/>
              </a:ext>
            </a:extLst>
          </p:cNvPr>
          <p:cNvSpPr txBox="1"/>
          <p:nvPr/>
        </p:nvSpPr>
        <p:spPr>
          <a:xfrm>
            <a:off x="2870200" y="2438400"/>
            <a:ext cx="1524000" cy="369332"/>
          </a:xfrm>
          <a:prstGeom prst="rect">
            <a:avLst/>
          </a:prstGeom>
          <a:noFill/>
        </p:spPr>
        <p:txBody>
          <a:bodyPr vert="horz" wrap="square" lIns="0" tIns="0" rIns="0" bIns="0" rtlCol="0">
            <a:noAutofit/>
          </a:bodyPr>
          <a:lstStyle/>
          <a:p>
            <a:pPr>
              <a:lnSpc>
                <a:spcPct val="110000"/>
              </a:lnSpc>
            </a:pPr>
            <a:r>
              <a:rPr lang="en-IN" sz="1200">
                <a:solidFill>
                  <a:srgbClr val="3E5670"/>
                </a:solidFill>
                <a:latin typeface="Segoe UI" panose="020B0502040204020203" pitchFamily="34" charset="0"/>
              </a:rPr>
              <a:t>columns</a:t>
            </a:r>
          </a:p>
        </p:txBody>
      </p:sp>
      <p:sp>
        <p:nvSpPr>
          <p:cNvPr id="18" name="TextBox 17">
            <a:extLst>
              <a:ext uri="{FF2B5EF4-FFF2-40B4-BE49-F238E27FC236}">
                <a16:creationId xmlns:a16="http://schemas.microsoft.com/office/drawing/2014/main" id="{6F57F26B-A4ED-D3B7-FFB0-0AE992145989}"/>
              </a:ext>
            </a:extLst>
          </p:cNvPr>
          <p:cNvSpPr txBox="1"/>
          <p:nvPr/>
        </p:nvSpPr>
        <p:spPr>
          <a:xfrm>
            <a:off x="609600" y="3098800"/>
            <a:ext cx="3962400" cy="369332"/>
          </a:xfrm>
          <a:prstGeom prst="rect">
            <a:avLst/>
          </a:prstGeom>
          <a:noFill/>
        </p:spPr>
        <p:txBody>
          <a:bodyPr vert="horz" wrap="square" lIns="0" tIns="0" rIns="0" bIns="0" rtlCol="0">
            <a:noAutofit/>
          </a:bodyPr>
          <a:lstStyle/>
          <a:p>
            <a:pPr>
              <a:lnSpc>
                <a:spcPct val="110000"/>
              </a:lnSpc>
            </a:pPr>
            <a:r>
              <a:rPr lang="en-US" sz="1400">
                <a:solidFill>
                  <a:srgbClr val="3E5670"/>
                </a:solidFill>
                <a:latin typeface="Segoe UI" panose="020B0502040204020203" pitchFamily="34" charset="0"/>
              </a:rPr>
              <a:t>Generated by a seeded script so results are reproducible. Hidden ability and motivation traits drive each student, so features correlate like real academic data.</a:t>
            </a:r>
            <a:endParaRPr lang="en-IN" sz="1400">
              <a:solidFill>
                <a:srgbClr val="3E5670"/>
              </a:solidFill>
              <a:latin typeface="Segoe UI" panose="020B0502040204020203" pitchFamily="34" charset="0"/>
            </a:endParaRPr>
          </a:p>
        </p:txBody>
      </p:sp>
      <p:sp>
        <p:nvSpPr>
          <p:cNvPr id="19" name="TextBox 18">
            <a:extLst>
              <a:ext uri="{FF2B5EF4-FFF2-40B4-BE49-F238E27FC236}">
                <a16:creationId xmlns:a16="http://schemas.microsoft.com/office/drawing/2014/main" id="{E296AE5C-3372-707A-4CC6-F8F9423E754C}"/>
              </a:ext>
            </a:extLst>
          </p:cNvPr>
          <p:cNvSpPr txBox="1"/>
          <p:nvPr/>
        </p:nvSpPr>
        <p:spPr>
          <a:xfrm>
            <a:off x="609600" y="4572000"/>
            <a:ext cx="3962400" cy="369332"/>
          </a:xfrm>
          <a:prstGeom prst="rect">
            <a:avLst/>
          </a:prstGeom>
          <a:noFill/>
        </p:spPr>
        <p:txBody>
          <a:bodyPr vert="horz" wrap="square" lIns="0" tIns="0" rIns="0" bIns="0" rtlCol="0">
            <a:noAutofit/>
          </a:bodyPr>
          <a:lstStyle/>
          <a:p>
            <a:pPr>
              <a:lnSpc>
                <a:spcPct val="110000"/>
              </a:lnSpc>
            </a:pPr>
            <a:r>
              <a:rPr lang="en-US" sz="1400">
                <a:solidFill>
                  <a:srgbClr val="3E5670"/>
                </a:solidFill>
                <a:latin typeface="Segoe UI" panose="020B0502040204020203" pitchFamily="34" charset="0"/>
              </a:rPr>
              <a:t>Built-in mess to clean: about 2% missing values, 15 duplicate rows, 8 impossible values.</a:t>
            </a:r>
            <a:endParaRPr lang="en-IN" sz="1400">
              <a:solidFill>
                <a:srgbClr val="3E5670"/>
              </a:solidFill>
              <a:latin typeface="Segoe UI" panose="020B0502040204020203" pitchFamily="34" charset="0"/>
            </a:endParaRPr>
          </a:p>
        </p:txBody>
      </p:sp>
      <p:graphicFrame>
        <p:nvGraphicFramePr>
          <p:cNvPr id="20" name="Table 19">
            <a:extLst>
              <a:ext uri="{FF2B5EF4-FFF2-40B4-BE49-F238E27FC236}">
                <a16:creationId xmlns:a16="http://schemas.microsoft.com/office/drawing/2014/main" id="{7D39156F-BDD3-BF8D-57AB-5EE63C07D271}"/>
              </a:ext>
            </a:extLst>
          </p:cNvPr>
          <p:cNvGraphicFramePr>
            <a:graphicFrameLocks noGrp="1"/>
          </p:cNvGraphicFramePr>
          <p:nvPr>
            <p:extLst>
              <p:ext uri="{D42A27DB-BD31-4B8C-83A1-F6EECF244321}">
                <p14:modId xmlns:p14="http://schemas.microsoft.com/office/powerpoint/2010/main" val="133087779"/>
              </p:ext>
            </p:extLst>
          </p:nvPr>
        </p:nvGraphicFramePr>
        <p:xfrm>
          <a:off x="4978400" y="1778000"/>
          <a:ext cx="6604000" cy="3810000"/>
        </p:xfrm>
        <a:graphic>
          <a:graphicData uri="http://schemas.openxmlformats.org/drawingml/2006/table">
            <a:tbl>
              <a:tblPr firstRow="1" bandRow="1">
                <a:tableStyleId>{5C22544A-7EE6-4342-B048-85BDC9FD1C3A}</a:tableStyleId>
              </a:tblPr>
              <a:tblGrid>
                <a:gridCol w="4572000">
                  <a:extLst>
                    <a:ext uri="{9D8B030D-6E8A-4147-A177-3AD203B41FA5}">
                      <a16:colId xmlns:a16="http://schemas.microsoft.com/office/drawing/2014/main" val="3135537928"/>
                    </a:ext>
                  </a:extLst>
                </a:gridCol>
                <a:gridCol w="2032000">
                  <a:extLst>
                    <a:ext uri="{9D8B030D-6E8A-4147-A177-3AD203B41FA5}">
                      <a16:colId xmlns:a16="http://schemas.microsoft.com/office/drawing/2014/main" val="396857569"/>
                    </a:ext>
                  </a:extLst>
                </a:gridCol>
              </a:tblGrid>
              <a:tr h="476250">
                <a:tc>
                  <a:txBody>
                    <a:bodyPr/>
                    <a:lstStyle/>
                    <a:p>
                      <a:r>
                        <a:rPr lang="en-IN" sz="1300" b="1">
                          <a:solidFill>
                            <a:srgbClr val="0B2340"/>
                          </a:solidFill>
                          <a:latin typeface="Segoe UI" panose="020B0502040204020203" pitchFamily="34" charset="0"/>
                        </a:rPr>
                        <a:t>Column</a:t>
                      </a:r>
                    </a:p>
                  </a:txBody>
                  <a:tcPr>
                    <a:solidFill>
                      <a:srgbClr val="DCEFF5"/>
                    </a:solidFill>
                  </a:tcPr>
                </a:tc>
                <a:tc>
                  <a:txBody>
                    <a:bodyPr/>
                    <a:lstStyle/>
                    <a:p>
                      <a:r>
                        <a:rPr lang="en-IN" sz="1300" b="1">
                          <a:solidFill>
                            <a:srgbClr val="0B2340"/>
                          </a:solidFill>
                          <a:latin typeface="Segoe UI" panose="020B0502040204020203" pitchFamily="34" charset="0"/>
                        </a:rPr>
                        <a:t>Range</a:t>
                      </a:r>
                    </a:p>
                  </a:txBody>
                  <a:tcPr>
                    <a:solidFill>
                      <a:srgbClr val="DCEFF5"/>
                    </a:solidFill>
                  </a:tcPr>
                </a:tc>
                <a:extLst>
                  <a:ext uri="{0D108BD9-81ED-4DB2-BD59-A6C34878D82A}">
                    <a16:rowId xmlns:a16="http://schemas.microsoft.com/office/drawing/2014/main" val="1008601849"/>
                  </a:ext>
                </a:extLst>
              </a:tr>
              <a:tr h="476250">
                <a:tc>
                  <a:txBody>
                    <a:bodyPr/>
                    <a:lstStyle/>
                    <a:p>
                      <a:r>
                        <a:rPr lang="en-IN" sz="1300" b="0">
                          <a:solidFill>
                            <a:srgbClr val="0B2340"/>
                          </a:solidFill>
                          <a:latin typeface="Segoe UI" panose="020B0502040204020203" pitchFamily="34" charset="0"/>
                        </a:rPr>
                        <a:t>Attendance %</a:t>
                      </a:r>
                    </a:p>
                  </a:txBody>
                  <a:tcPr>
                    <a:solidFill>
                      <a:srgbClr val="FFFFFF"/>
                    </a:solidFill>
                  </a:tcPr>
                </a:tc>
                <a:tc>
                  <a:txBody>
                    <a:bodyPr/>
                    <a:lstStyle/>
                    <a:p>
                      <a:r>
                        <a:rPr lang="en-IN" sz="1300" b="0">
                          <a:solidFill>
                            <a:srgbClr val="0B2340"/>
                          </a:solidFill>
                          <a:latin typeface="Segoe UI" panose="020B0502040204020203" pitchFamily="34" charset="0"/>
                        </a:rPr>
                        <a:t>0 – 100</a:t>
                      </a:r>
                    </a:p>
                  </a:txBody>
                  <a:tcPr>
                    <a:solidFill>
                      <a:srgbClr val="FFFFFF"/>
                    </a:solidFill>
                  </a:tcPr>
                </a:tc>
                <a:extLst>
                  <a:ext uri="{0D108BD9-81ED-4DB2-BD59-A6C34878D82A}">
                    <a16:rowId xmlns:a16="http://schemas.microsoft.com/office/drawing/2014/main" val="3165575904"/>
                  </a:ext>
                </a:extLst>
              </a:tr>
              <a:tr h="476250">
                <a:tc>
                  <a:txBody>
                    <a:bodyPr/>
                    <a:lstStyle/>
                    <a:p>
                      <a:r>
                        <a:rPr lang="en-IN" sz="1300" b="0">
                          <a:solidFill>
                            <a:srgbClr val="0B2340"/>
                          </a:solidFill>
                          <a:latin typeface="Segoe UI" panose="020B0502040204020203" pitchFamily="34" charset="0"/>
                        </a:rPr>
                        <a:t>Assignment score</a:t>
                      </a:r>
                    </a:p>
                  </a:txBody>
                  <a:tcPr>
                    <a:solidFill>
                      <a:srgbClr val="F7FBFC"/>
                    </a:solidFill>
                  </a:tcPr>
                </a:tc>
                <a:tc>
                  <a:txBody>
                    <a:bodyPr/>
                    <a:lstStyle/>
                    <a:p>
                      <a:r>
                        <a:rPr lang="en-IN" sz="1300" b="0">
                          <a:solidFill>
                            <a:srgbClr val="0B2340"/>
                          </a:solidFill>
                          <a:latin typeface="Segoe UI" panose="020B0502040204020203" pitchFamily="34" charset="0"/>
                        </a:rPr>
                        <a:t>0 – 100</a:t>
                      </a:r>
                    </a:p>
                  </a:txBody>
                  <a:tcPr>
                    <a:solidFill>
                      <a:srgbClr val="F7FBFC"/>
                    </a:solidFill>
                  </a:tcPr>
                </a:tc>
                <a:extLst>
                  <a:ext uri="{0D108BD9-81ED-4DB2-BD59-A6C34878D82A}">
                    <a16:rowId xmlns:a16="http://schemas.microsoft.com/office/drawing/2014/main" val="2804043178"/>
                  </a:ext>
                </a:extLst>
              </a:tr>
              <a:tr h="476250">
                <a:tc>
                  <a:txBody>
                    <a:bodyPr/>
                    <a:lstStyle/>
                    <a:p>
                      <a:r>
                        <a:rPr lang="en-IN" sz="1300" b="0">
                          <a:solidFill>
                            <a:srgbClr val="0B2340"/>
                          </a:solidFill>
                          <a:latin typeface="Segoe UI" panose="020B0502040204020203" pitchFamily="34" charset="0"/>
                        </a:rPr>
                        <a:t>Internal assessment average</a:t>
                      </a:r>
                    </a:p>
                  </a:txBody>
                  <a:tcPr>
                    <a:solidFill>
                      <a:srgbClr val="FFFFFF"/>
                    </a:solidFill>
                  </a:tcPr>
                </a:tc>
                <a:tc>
                  <a:txBody>
                    <a:bodyPr/>
                    <a:lstStyle/>
                    <a:p>
                      <a:r>
                        <a:rPr lang="en-IN" sz="1300" b="0">
                          <a:solidFill>
                            <a:srgbClr val="0B2340"/>
                          </a:solidFill>
                          <a:latin typeface="Segoe UI" panose="020B0502040204020203" pitchFamily="34" charset="0"/>
                        </a:rPr>
                        <a:t>0 – 100</a:t>
                      </a:r>
                    </a:p>
                  </a:txBody>
                  <a:tcPr>
                    <a:solidFill>
                      <a:srgbClr val="FFFFFF"/>
                    </a:solidFill>
                  </a:tcPr>
                </a:tc>
                <a:extLst>
                  <a:ext uri="{0D108BD9-81ED-4DB2-BD59-A6C34878D82A}">
                    <a16:rowId xmlns:a16="http://schemas.microsoft.com/office/drawing/2014/main" val="4214624109"/>
                  </a:ext>
                </a:extLst>
              </a:tr>
              <a:tr h="476250">
                <a:tc>
                  <a:txBody>
                    <a:bodyPr/>
                    <a:lstStyle/>
                    <a:p>
                      <a:r>
                        <a:rPr lang="en-IN" sz="1300" b="0">
                          <a:solidFill>
                            <a:srgbClr val="0B2340"/>
                          </a:solidFill>
                          <a:latin typeface="Segoe UI" panose="020B0502040204020203" pitchFamily="34" charset="0"/>
                        </a:rPr>
                        <a:t>Previous semester score</a:t>
                      </a:r>
                    </a:p>
                  </a:txBody>
                  <a:tcPr>
                    <a:solidFill>
                      <a:srgbClr val="F7FBFC"/>
                    </a:solidFill>
                  </a:tcPr>
                </a:tc>
                <a:tc>
                  <a:txBody>
                    <a:bodyPr/>
                    <a:lstStyle/>
                    <a:p>
                      <a:r>
                        <a:rPr lang="en-IN" sz="1300" b="0">
                          <a:solidFill>
                            <a:srgbClr val="0B2340"/>
                          </a:solidFill>
                          <a:latin typeface="Segoe UI" panose="020B0502040204020203" pitchFamily="34" charset="0"/>
                        </a:rPr>
                        <a:t>0 – 100</a:t>
                      </a:r>
                    </a:p>
                  </a:txBody>
                  <a:tcPr>
                    <a:solidFill>
                      <a:srgbClr val="F7FBFC"/>
                    </a:solidFill>
                  </a:tcPr>
                </a:tc>
                <a:extLst>
                  <a:ext uri="{0D108BD9-81ED-4DB2-BD59-A6C34878D82A}">
                    <a16:rowId xmlns:a16="http://schemas.microsoft.com/office/drawing/2014/main" val="615002093"/>
                  </a:ext>
                </a:extLst>
              </a:tr>
              <a:tr h="476250">
                <a:tc>
                  <a:txBody>
                    <a:bodyPr/>
                    <a:lstStyle/>
                    <a:p>
                      <a:r>
                        <a:rPr lang="en-IN" sz="1300" b="0">
                          <a:solidFill>
                            <a:srgbClr val="0B2340"/>
                          </a:solidFill>
                          <a:latin typeface="Segoe UI" panose="020B0502040204020203" pitchFamily="34" charset="0"/>
                        </a:rPr>
                        <a:t>Study hours per week</a:t>
                      </a:r>
                    </a:p>
                  </a:txBody>
                  <a:tcPr>
                    <a:solidFill>
                      <a:srgbClr val="FFFFFF"/>
                    </a:solidFill>
                  </a:tcPr>
                </a:tc>
                <a:tc>
                  <a:txBody>
                    <a:bodyPr/>
                    <a:lstStyle/>
                    <a:p>
                      <a:r>
                        <a:rPr lang="en-IN" sz="1300" b="0">
                          <a:solidFill>
                            <a:srgbClr val="0B2340"/>
                          </a:solidFill>
                          <a:latin typeface="Segoe UI" panose="020B0502040204020203" pitchFamily="34" charset="0"/>
                        </a:rPr>
                        <a:t>0 – 30</a:t>
                      </a:r>
                    </a:p>
                  </a:txBody>
                  <a:tcPr>
                    <a:solidFill>
                      <a:srgbClr val="FFFFFF"/>
                    </a:solidFill>
                  </a:tcPr>
                </a:tc>
                <a:extLst>
                  <a:ext uri="{0D108BD9-81ED-4DB2-BD59-A6C34878D82A}">
                    <a16:rowId xmlns:a16="http://schemas.microsoft.com/office/drawing/2014/main" val="890063315"/>
                  </a:ext>
                </a:extLst>
              </a:tr>
              <a:tr h="476250">
                <a:tc>
                  <a:txBody>
                    <a:bodyPr/>
                    <a:lstStyle/>
                    <a:p>
                      <a:r>
                        <a:rPr lang="en-IN" sz="1300" b="0">
                          <a:solidFill>
                            <a:srgbClr val="0B2340"/>
                          </a:solidFill>
                          <a:latin typeface="Segoe UI" panose="020B0502040204020203" pitchFamily="34" charset="0"/>
                        </a:rPr>
                        <a:t>Sleep, commute, gender, extracurricular, internet</a:t>
                      </a:r>
                    </a:p>
                  </a:txBody>
                  <a:tcPr>
                    <a:solidFill>
                      <a:srgbClr val="F7FBFC"/>
                    </a:solidFill>
                  </a:tcPr>
                </a:tc>
                <a:tc>
                  <a:txBody>
                    <a:bodyPr/>
                    <a:lstStyle/>
                    <a:p>
                      <a:r>
                        <a:rPr lang="en-IN" sz="1300" b="0">
                          <a:solidFill>
                            <a:srgbClr val="0B2340"/>
                          </a:solidFill>
                          <a:latin typeface="Segoe UI" panose="020B0502040204020203" pitchFamily="34" charset="0"/>
                        </a:rPr>
                        <a:t>candidates</a:t>
                      </a:r>
                    </a:p>
                  </a:txBody>
                  <a:tcPr>
                    <a:solidFill>
                      <a:srgbClr val="F7FBFC"/>
                    </a:solidFill>
                  </a:tcPr>
                </a:tc>
                <a:extLst>
                  <a:ext uri="{0D108BD9-81ED-4DB2-BD59-A6C34878D82A}">
                    <a16:rowId xmlns:a16="http://schemas.microsoft.com/office/drawing/2014/main" val="2245056589"/>
                  </a:ext>
                </a:extLst>
              </a:tr>
              <a:tr h="476250">
                <a:tc>
                  <a:txBody>
                    <a:bodyPr/>
                    <a:lstStyle/>
                    <a:p>
                      <a:r>
                        <a:rPr lang="en-IN" sz="1300" b="1">
                          <a:solidFill>
                            <a:srgbClr val="0B2340"/>
                          </a:solidFill>
                          <a:latin typeface="Segoe UI" panose="020B0502040204020203" pitchFamily="34" charset="0"/>
                        </a:rPr>
                        <a:t>Final score (target)</a:t>
                      </a:r>
                    </a:p>
                  </a:txBody>
                  <a:tcPr>
                    <a:solidFill>
                      <a:srgbClr val="DCEFF5"/>
                    </a:solidFill>
                  </a:tcPr>
                </a:tc>
                <a:tc>
                  <a:txBody>
                    <a:bodyPr/>
                    <a:lstStyle/>
                    <a:p>
                      <a:r>
                        <a:rPr lang="en-IN" sz="1300" b="1">
                          <a:solidFill>
                            <a:srgbClr val="0B2340"/>
                          </a:solidFill>
                          <a:latin typeface="Segoe UI" panose="020B0502040204020203" pitchFamily="34" charset="0"/>
                        </a:rPr>
                        <a:t>0 – 100</a:t>
                      </a:r>
                    </a:p>
                  </a:txBody>
                  <a:tcPr>
                    <a:solidFill>
                      <a:srgbClr val="DCEFF5"/>
                    </a:solidFill>
                  </a:tcPr>
                </a:tc>
                <a:extLst>
                  <a:ext uri="{0D108BD9-81ED-4DB2-BD59-A6C34878D82A}">
                    <a16:rowId xmlns:a16="http://schemas.microsoft.com/office/drawing/2014/main" val="4105657768"/>
                  </a:ext>
                </a:extLst>
              </a:tr>
            </a:tbl>
          </a:graphicData>
        </a:graphic>
      </p:graphicFrame>
    </p:spTree>
    <p:extLst>
      <p:ext uri="{BB962C8B-B14F-4D97-AF65-F5344CB8AC3E}">
        <p14:creationId xmlns:p14="http://schemas.microsoft.com/office/powerpoint/2010/main" val="774820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8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2842D9-C624-7C35-30FC-D01D89DE50C1}"/>
              </a:ext>
            </a:extLst>
          </p:cNvPr>
          <p:cNvSpPr txBox="1"/>
          <p:nvPr/>
        </p:nvSpPr>
        <p:spPr>
          <a:xfrm>
            <a:off x="6096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Introduction</a:t>
            </a:r>
          </a:p>
        </p:txBody>
      </p:sp>
      <p:sp>
        <p:nvSpPr>
          <p:cNvPr id="3" name="Rectangle: Rounded Corners 2">
            <a:extLst>
              <a:ext uri="{FF2B5EF4-FFF2-40B4-BE49-F238E27FC236}">
                <a16:creationId xmlns:a16="http://schemas.microsoft.com/office/drawing/2014/main" id="{C288B815-7F71-7EF2-CD44-C9A7AE67FF3A}"/>
              </a:ext>
            </a:extLst>
          </p:cNvPr>
          <p:cNvSpPr/>
          <p:nvPr/>
        </p:nvSpPr>
        <p:spPr>
          <a:xfrm>
            <a:off x="2806700" y="203200"/>
            <a:ext cx="2032000" cy="279400"/>
          </a:xfrm>
          <a:prstGeom prst="roundRect">
            <a:avLst>
              <a:gd name="adj" fmla="val 50000"/>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6634466F-FBA7-9E18-EC39-E7BBC69A00DF}"/>
              </a:ext>
            </a:extLst>
          </p:cNvPr>
          <p:cNvSpPr txBox="1"/>
          <p:nvPr/>
        </p:nvSpPr>
        <p:spPr>
          <a:xfrm>
            <a:off x="28067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FFFFFF"/>
                </a:solidFill>
                <a:latin typeface="Segoe UI Semibold" panose="020B0702040204020203" pitchFamily="34" charset="0"/>
              </a:rPr>
              <a:t>Data &amp; Methodology</a:t>
            </a:r>
          </a:p>
        </p:txBody>
      </p:sp>
      <p:sp>
        <p:nvSpPr>
          <p:cNvPr id="5" name="TextBox 4">
            <a:extLst>
              <a:ext uri="{FF2B5EF4-FFF2-40B4-BE49-F238E27FC236}">
                <a16:creationId xmlns:a16="http://schemas.microsoft.com/office/drawing/2014/main" id="{8CE08C7F-484E-5F8E-73CD-2015F64E0B47}"/>
              </a:ext>
            </a:extLst>
          </p:cNvPr>
          <p:cNvSpPr txBox="1"/>
          <p:nvPr/>
        </p:nvSpPr>
        <p:spPr>
          <a:xfrm>
            <a:off x="50038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Preprocessing &amp; EDA</a:t>
            </a:r>
          </a:p>
        </p:txBody>
      </p:sp>
      <p:sp>
        <p:nvSpPr>
          <p:cNvPr id="6" name="TextBox 5">
            <a:extLst>
              <a:ext uri="{FF2B5EF4-FFF2-40B4-BE49-F238E27FC236}">
                <a16:creationId xmlns:a16="http://schemas.microsoft.com/office/drawing/2014/main" id="{454C51B5-E9BB-7894-6F93-FA6C586AF29F}"/>
              </a:ext>
            </a:extLst>
          </p:cNvPr>
          <p:cNvSpPr txBox="1"/>
          <p:nvPr/>
        </p:nvSpPr>
        <p:spPr>
          <a:xfrm>
            <a:off x="72009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Models &amp; Results</a:t>
            </a:r>
          </a:p>
        </p:txBody>
      </p:sp>
      <p:sp>
        <p:nvSpPr>
          <p:cNvPr id="7" name="TextBox 6">
            <a:extLst>
              <a:ext uri="{FF2B5EF4-FFF2-40B4-BE49-F238E27FC236}">
                <a16:creationId xmlns:a16="http://schemas.microsoft.com/office/drawing/2014/main" id="{A3F04DB8-20C2-6515-EFAD-82B9D1ECCF71}"/>
              </a:ext>
            </a:extLst>
          </p:cNvPr>
          <p:cNvSpPr txBox="1"/>
          <p:nvPr/>
        </p:nvSpPr>
        <p:spPr>
          <a:xfrm>
            <a:off x="93980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Demo &amp; Conclusion</a:t>
            </a:r>
          </a:p>
        </p:txBody>
      </p:sp>
      <p:sp>
        <p:nvSpPr>
          <p:cNvPr id="8" name="TextBox 7">
            <a:extLst>
              <a:ext uri="{FF2B5EF4-FFF2-40B4-BE49-F238E27FC236}">
                <a16:creationId xmlns:a16="http://schemas.microsoft.com/office/drawing/2014/main" id="{AADB0140-9591-6D73-700B-9C762A4E4B0F}"/>
              </a:ext>
            </a:extLst>
          </p:cNvPr>
          <p:cNvSpPr txBox="1"/>
          <p:nvPr/>
        </p:nvSpPr>
        <p:spPr>
          <a:xfrm>
            <a:off x="609600" y="736600"/>
            <a:ext cx="8890000" cy="369332"/>
          </a:xfrm>
          <a:prstGeom prst="rect">
            <a:avLst/>
          </a:prstGeom>
          <a:noFill/>
        </p:spPr>
        <p:txBody>
          <a:bodyPr vert="horz" wrap="square" lIns="0" tIns="0" rIns="0" bIns="0" rtlCol="0">
            <a:noAutofit/>
          </a:bodyPr>
          <a:lstStyle/>
          <a:p>
            <a:pPr>
              <a:lnSpc>
                <a:spcPct val="110000"/>
              </a:lnSpc>
            </a:pPr>
            <a:r>
              <a:rPr lang="en-IN" sz="1100">
                <a:solidFill>
                  <a:srgbClr val="26658C"/>
                </a:solidFill>
                <a:latin typeface="Segoe UI Semibold" panose="020B0702040204020203" pitchFamily="34" charset="0"/>
              </a:rPr>
              <a:t>METHODOLOGY</a:t>
            </a:r>
          </a:p>
        </p:txBody>
      </p:sp>
      <p:sp>
        <p:nvSpPr>
          <p:cNvPr id="9" name="TextBox 8">
            <a:extLst>
              <a:ext uri="{FF2B5EF4-FFF2-40B4-BE49-F238E27FC236}">
                <a16:creationId xmlns:a16="http://schemas.microsoft.com/office/drawing/2014/main" id="{BF3B3F58-A4FF-D693-A9CD-65219190A6F2}"/>
              </a:ext>
            </a:extLst>
          </p:cNvPr>
          <p:cNvSpPr txBox="1"/>
          <p:nvPr/>
        </p:nvSpPr>
        <p:spPr>
          <a:xfrm>
            <a:off x="609600" y="965200"/>
            <a:ext cx="10972800" cy="369332"/>
          </a:xfrm>
          <a:prstGeom prst="rect">
            <a:avLst/>
          </a:prstGeom>
          <a:noFill/>
        </p:spPr>
        <p:txBody>
          <a:bodyPr vert="horz" wrap="square" lIns="0" tIns="0" rIns="0" bIns="0" rtlCol="0">
            <a:noAutofit/>
          </a:bodyPr>
          <a:lstStyle/>
          <a:p>
            <a:pPr>
              <a:lnSpc>
                <a:spcPct val="110000"/>
              </a:lnSpc>
            </a:pPr>
            <a:r>
              <a:rPr lang="en-US" sz="2600" b="1">
                <a:solidFill>
                  <a:srgbClr val="0B2340"/>
                </a:solidFill>
                <a:latin typeface="Georgia" panose="02040502050405020303" pitchFamily="18" charset="0"/>
              </a:rPr>
              <a:t>Six steps, from raw data to a live app</a:t>
            </a:r>
            <a:endParaRPr lang="en-IN" sz="2600" b="1">
              <a:solidFill>
                <a:srgbClr val="0B2340"/>
              </a:solidFill>
              <a:latin typeface="Georgia" panose="02040502050405020303" pitchFamily="18" charset="0"/>
            </a:endParaRPr>
          </a:p>
        </p:txBody>
      </p:sp>
      <p:sp>
        <p:nvSpPr>
          <p:cNvPr id="10" name="TextBox 9">
            <a:extLst>
              <a:ext uri="{FF2B5EF4-FFF2-40B4-BE49-F238E27FC236}">
                <a16:creationId xmlns:a16="http://schemas.microsoft.com/office/drawing/2014/main" id="{74B42626-DAB9-C068-6F8E-937554AC08EC}"/>
              </a:ext>
            </a:extLst>
          </p:cNvPr>
          <p:cNvSpPr txBox="1"/>
          <p:nvPr/>
        </p:nvSpPr>
        <p:spPr>
          <a:xfrm>
            <a:off x="609600" y="6502400"/>
            <a:ext cx="7620000" cy="369332"/>
          </a:xfrm>
          <a:prstGeom prst="rect">
            <a:avLst/>
          </a:prstGeom>
          <a:noFill/>
        </p:spPr>
        <p:txBody>
          <a:bodyPr vert="horz" wrap="square" lIns="0" tIns="0" rIns="0" bIns="0" rtlCol="0">
            <a:noAutofit/>
          </a:bodyPr>
          <a:lstStyle/>
          <a:p>
            <a:pPr>
              <a:lnSpc>
                <a:spcPct val="110000"/>
              </a:lnSpc>
            </a:pPr>
            <a:r>
              <a:rPr lang="en-US" sz="900">
                <a:solidFill>
                  <a:srgbClr val="6B8296"/>
                </a:solidFill>
                <a:latin typeface="Segoe UI" panose="020B0502040204020203" pitchFamily="34" charset="0"/>
              </a:rPr>
              <a:t>Acadrix · Student Performance Prediction System</a:t>
            </a:r>
            <a:endParaRPr lang="en-IN" sz="900">
              <a:solidFill>
                <a:srgbClr val="6B8296"/>
              </a:solidFill>
              <a:latin typeface="Segoe UI" panose="020B0502040204020203" pitchFamily="34" charset="0"/>
            </a:endParaRPr>
          </a:p>
        </p:txBody>
      </p:sp>
      <p:sp>
        <p:nvSpPr>
          <p:cNvPr id="11" name="TextBox 10">
            <a:extLst>
              <a:ext uri="{FF2B5EF4-FFF2-40B4-BE49-F238E27FC236}">
                <a16:creationId xmlns:a16="http://schemas.microsoft.com/office/drawing/2014/main" id="{FAFA7192-542D-7043-98E4-F5B51749FFDC}"/>
              </a:ext>
            </a:extLst>
          </p:cNvPr>
          <p:cNvSpPr txBox="1"/>
          <p:nvPr/>
        </p:nvSpPr>
        <p:spPr>
          <a:xfrm>
            <a:off x="10820400" y="6502400"/>
            <a:ext cx="762000" cy="369332"/>
          </a:xfrm>
          <a:prstGeom prst="rect">
            <a:avLst/>
          </a:prstGeom>
          <a:noFill/>
        </p:spPr>
        <p:txBody>
          <a:bodyPr vert="horz" wrap="square" lIns="0" tIns="0" rIns="0" bIns="0" rtlCol="0">
            <a:noAutofit/>
          </a:bodyPr>
          <a:lstStyle/>
          <a:p>
            <a:pPr algn="r">
              <a:lnSpc>
                <a:spcPct val="110000"/>
              </a:lnSpc>
            </a:pPr>
            <a:r>
              <a:rPr lang="en-IN" sz="900">
                <a:solidFill>
                  <a:srgbClr val="6B8296"/>
                </a:solidFill>
                <a:latin typeface="Segoe UI" panose="020B0502040204020203" pitchFamily="34" charset="0"/>
              </a:rPr>
              <a:t>06</a:t>
            </a:r>
          </a:p>
        </p:txBody>
      </p:sp>
      <p:sp>
        <p:nvSpPr>
          <p:cNvPr id="12" name="Rectangle: Rounded Corners 11">
            <a:extLst>
              <a:ext uri="{FF2B5EF4-FFF2-40B4-BE49-F238E27FC236}">
                <a16:creationId xmlns:a16="http://schemas.microsoft.com/office/drawing/2014/main" id="{ACCBEF43-0440-52FD-5FE4-A99324ABD6F1}"/>
              </a:ext>
            </a:extLst>
          </p:cNvPr>
          <p:cNvSpPr/>
          <p:nvPr/>
        </p:nvSpPr>
        <p:spPr>
          <a:xfrm>
            <a:off x="609600" y="1778000"/>
            <a:ext cx="3556000" cy="19812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8471480C-4739-8342-6943-C365C39CCE6E}"/>
              </a:ext>
            </a:extLst>
          </p:cNvPr>
          <p:cNvSpPr/>
          <p:nvPr/>
        </p:nvSpPr>
        <p:spPr>
          <a:xfrm>
            <a:off x="609600" y="1778000"/>
            <a:ext cx="3556000" cy="63500"/>
          </a:xfrm>
          <a:prstGeom prst="rect">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272AB7DF-B2BB-D9BC-D1F0-7A4455E8A5D4}"/>
              </a:ext>
            </a:extLst>
          </p:cNvPr>
          <p:cNvSpPr txBox="1"/>
          <p:nvPr/>
        </p:nvSpPr>
        <p:spPr>
          <a:xfrm>
            <a:off x="863600" y="2032000"/>
            <a:ext cx="2540000" cy="369332"/>
          </a:xfrm>
          <a:prstGeom prst="rect">
            <a:avLst/>
          </a:prstGeom>
          <a:noFill/>
        </p:spPr>
        <p:txBody>
          <a:bodyPr vert="horz" wrap="square" lIns="0" tIns="0" rIns="0" bIns="0" rtlCol="0">
            <a:noAutofit/>
          </a:bodyPr>
          <a:lstStyle/>
          <a:p>
            <a:pPr>
              <a:lnSpc>
                <a:spcPct val="110000"/>
              </a:lnSpc>
            </a:pPr>
            <a:r>
              <a:rPr lang="en-IN" sz="1100">
                <a:solidFill>
                  <a:srgbClr val="26658C"/>
                </a:solidFill>
                <a:latin typeface="Segoe UI Semibold" panose="020B0702040204020203" pitchFamily="34" charset="0"/>
              </a:rPr>
              <a:t>STEP 1</a:t>
            </a:r>
          </a:p>
        </p:txBody>
      </p:sp>
      <p:sp>
        <p:nvSpPr>
          <p:cNvPr id="15" name="TextBox 14">
            <a:extLst>
              <a:ext uri="{FF2B5EF4-FFF2-40B4-BE49-F238E27FC236}">
                <a16:creationId xmlns:a16="http://schemas.microsoft.com/office/drawing/2014/main" id="{590443B6-AA0F-EE26-A5E7-5CED81B11FD9}"/>
              </a:ext>
            </a:extLst>
          </p:cNvPr>
          <p:cNvSpPr txBox="1"/>
          <p:nvPr/>
        </p:nvSpPr>
        <p:spPr>
          <a:xfrm>
            <a:off x="863600" y="2286000"/>
            <a:ext cx="3048000" cy="369332"/>
          </a:xfrm>
          <a:prstGeom prst="rect">
            <a:avLst/>
          </a:prstGeom>
          <a:noFill/>
        </p:spPr>
        <p:txBody>
          <a:bodyPr vert="horz" wrap="square" lIns="0" tIns="0" rIns="0" bIns="0" rtlCol="0">
            <a:noAutofit/>
          </a:bodyPr>
          <a:lstStyle/>
          <a:p>
            <a:pPr>
              <a:lnSpc>
                <a:spcPct val="110000"/>
              </a:lnSpc>
            </a:pPr>
            <a:r>
              <a:rPr lang="en-IN" sz="1900">
                <a:solidFill>
                  <a:srgbClr val="0B2340"/>
                </a:solidFill>
                <a:latin typeface="Segoe UI Semibold" panose="020B0702040204020203" pitchFamily="34" charset="0"/>
              </a:rPr>
              <a:t>Collect</a:t>
            </a:r>
          </a:p>
        </p:txBody>
      </p:sp>
      <p:sp>
        <p:nvSpPr>
          <p:cNvPr id="16" name="TextBox 15">
            <a:extLst>
              <a:ext uri="{FF2B5EF4-FFF2-40B4-BE49-F238E27FC236}">
                <a16:creationId xmlns:a16="http://schemas.microsoft.com/office/drawing/2014/main" id="{C4658180-72BE-DA58-0DD8-61D5DFB9C2BD}"/>
              </a:ext>
            </a:extLst>
          </p:cNvPr>
          <p:cNvSpPr txBox="1"/>
          <p:nvPr/>
        </p:nvSpPr>
        <p:spPr>
          <a:xfrm>
            <a:off x="863600" y="2743200"/>
            <a:ext cx="3048000" cy="369332"/>
          </a:xfrm>
          <a:prstGeom prst="rect">
            <a:avLst/>
          </a:prstGeom>
          <a:noFill/>
        </p:spPr>
        <p:txBody>
          <a:bodyPr vert="horz" wrap="square" lIns="0" tIns="0" rIns="0" bIns="0" rtlCol="0">
            <a:noAutofit/>
          </a:bodyPr>
          <a:lstStyle/>
          <a:p>
            <a:pPr>
              <a:lnSpc>
                <a:spcPct val="110000"/>
              </a:lnSpc>
            </a:pPr>
            <a:r>
              <a:rPr lang="en-US" sz="1400">
                <a:solidFill>
                  <a:srgbClr val="3E5670"/>
                </a:solidFill>
                <a:latin typeface="Segoe UI" panose="020B0502040204020203" pitchFamily="34" charset="0"/>
              </a:rPr>
              <a:t>Generate 1,015 seeded student records</a:t>
            </a:r>
            <a:endParaRPr lang="en-IN" sz="1400">
              <a:solidFill>
                <a:srgbClr val="3E5670"/>
              </a:solidFill>
              <a:latin typeface="Segoe UI" panose="020B0502040204020203" pitchFamily="34" charset="0"/>
            </a:endParaRPr>
          </a:p>
        </p:txBody>
      </p:sp>
      <p:sp>
        <p:nvSpPr>
          <p:cNvPr id="17" name="Rectangle: Rounded Corners 16">
            <a:extLst>
              <a:ext uri="{FF2B5EF4-FFF2-40B4-BE49-F238E27FC236}">
                <a16:creationId xmlns:a16="http://schemas.microsoft.com/office/drawing/2014/main" id="{B1C01A33-7C0C-01CF-A9C6-0BE930EFA86E}"/>
              </a:ext>
            </a:extLst>
          </p:cNvPr>
          <p:cNvSpPr/>
          <p:nvPr/>
        </p:nvSpPr>
        <p:spPr>
          <a:xfrm>
            <a:off x="4318000" y="1778000"/>
            <a:ext cx="3556000" cy="19812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851C46BD-056E-82C5-D27E-39D895C3D7C9}"/>
              </a:ext>
            </a:extLst>
          </p:cNvPr>
          <p:cNvSpPr/>
          <p:nvPr/>
        </p:nvSpPr>
        <p:spPr>
          <a:xfrm>
            <a:off x="4318000" y="1778000"/>
            <a:ext cx="3556000" cy="63500"/>
          </a:xfrm>
          <a:prstGeom prst="rect">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D2EE43EC-CFCA-420A-9FB5-28D9823A7A22}"/>
              </a:ext>
            </a:extLst>
          </p:cNvPr>
          <p:cNvSpPr txBox="1"/>
          <p:nvPr/>
        </p:nvSpPr>
        <p:spPr>
          <a:xfrm>
            <a:off x="4572000" y="2032000"/>
            <a:ext cx="2540000" cy="369332"/>
          </a:xfrm>
          <a:prstGeom prst="rect">
            <a:avLst/>
          </a:prstGeom>
          <a:noFill/>
        </p:spPr>
        <p:txBody>
          <a:bodyPr vert="horz" wrap="square" lIns="0" tIns="0" rIns="0" bIns="0" rtlCol="0">
            <a:noAutofit/>
          </a:bodyPr>
          <a:lstStyle/>
          <a:p>
            <a:pPr>
              <a:lnSpc>
                <a:spcPct val="110000"/>
              </a:lnSpc>
            </a:pPr>
            <a:r>
              <a:rPr lang="en-IN" sz="1100">
                <a:solidFill>
                  <a:srgbClr val="26658C"/>
                </a:solidFill>
                <a:latin typeface="Segoe UI Semibold" panose="020B0702040204020203" pitchFamily="34" charset="0"/>
              </a:rPr>
              <a:t>STEP 2</a:t>
            </a:r>
          </a:p>
        </p:txBody>
      </p:sp>
      <p:sp>
        <p:nvSpPr>
          <p:cNvPr id="20" name="TextBox 19">
            <a:extLst>
              <a:ext uri="{FF2B5EF4-FFF2-40B4-BE49-F238E27FC236}">
                <a16:creationId xmlns:a16="http://schemas.microsoft.com/office/drawing/2014/main" id="{AC6E6B1F-F880-3762-B334-119806B3E99A}"/>
              </a:ext>
            </a:extLst>
          </p:cNvPr>
          <p:cNvSpPr txBox="1"/>
          <p:nvPr/>
        </p:nvSpPr>
        <p:spPr>
          <a:xfrm>
            <a:off x="4572000" y="2286000"/>
            <a:ext cx="3048000" cy="369332"/>
          </a:xfrm>
          <a:prstGeom prst="rect">
            <a:avLst/>
          </a:prstGeom>
          <a:noFill/>
        </p:spPr>
        <p:txBody>
          <a:bodyPr vert="horz" wrap="square" lIns="0" tIns="0" rIns="0" bIns="0" rtlCol="0">
            <a:noAutofit/>
          </a:bodyPr>
          <a:lstStyle/>
          <a:p>
            <a:pPr>
              <a:lnSpc>
                <a:spcPct val="110000"/>
              </a:lnSpc>
            </a:pPr>
            <a:r>
              <a:rPr lang="en-IN" sz="1900">
                <a:solidFill>
                  <a:srgbClr val="0B2340"/>
                </a:solidFill>
                <a:latin typeface="Segoe UI Semibold" panose="020B0702040204020203" pitchFamily="34" charset="0"/>
              </a:rPr>
              <a:t>Clean</a:t>
            </a:r>
          </a:p>
        </p:txBody>
      </p:sp>
      <p:sp>
        <p:nvSpPr>
          <p:cNvPr id="21" name="TextBox 20">
            <a:extLst>
              <a:ext uri="{FF2B5EF4-FFF2-40B4-BE49-F238E27FC236}">
                <a16:creationId xmlns:a16="http://schemas.microsoft.com/office/drawing/2014/main" id="{D5C5298A-55CB-82B3-7A45-0D13D1EF9E87}"/>
              </a:ext>
            </a:extLst>
          </p:cNvPr>
          <p:cNvSpPr txBox="1"/>
          <p:nvPr/>
        </p:nvSpPr>
        <p:spPr>
          <a:xfrm>
            <a:off x="4572000" y="2743200"/>
            <a:ext cx="3048000" cy="369332"/>
          </a:xfrm>
          <a:prstGeom prst="rect">
            <a:avLst/>
          </a:prstGeom>
          <a:noFill/>
        </p:spPr>
        <p:txBody>
          <a:bodyPr vert="horz" wrap="square" lIns="0" tIns="0" rIns="0" bIns="0" rtlCol="0">
            <a:noAutofit/>
          </a:bodyPr>
          <a:lstStyle/>
          <a:p>
            <a:pPr>
              <a:lnSpc>
                <a:spcPct val="110000"/>
              </a:lnSpc>
            </a:pPr>
            <a:r>
              <a:rPr lang="fr-FR" sz="1400">
                <a:solidFill>
                  <a:srgbClr val="3E5670"/>
                </a:solidFill>
                <a:latin typeface="Segoe UI" panose="020B0502040204020203" pitchFamily="34" charset="0"/>
              </a:rPr>
              <a:t>Duplicates, impossible values, missing values, encoding</a:t>
            </a:r>
            <a:endParaRPr lang="en-IN" sz="1400">
              <a:solidFill>
                <a:srgbClr val="3E5670"/>
              </a:solidFill>
              <a:latin typeface="Segoe UI" panose="020B0502040204020203" pitchFamily="34" charset="0"/>
            </a:endParaRPr>
          </a:p>
        </p:txBody>
      </p:sp>
      <p:sp>
        <p:nvSpPr>
          <p:cNvPr id="22" name="Rectangle: Rounded Corners 21">
            <a:extLst>
              <a:ext uri="{FF2B5EF4-FFF2-40B4-BE49-F238E27FC236}">
                <a16:creationId xmlns:a16="http://schemas.microsoft.com/office/drawing/2014/main" id="{CFE687F4-49D6-881B-4043-2A3911B704D9}"/>
              </a:ext>
            </a:extLst>
          </p:cNvPr>
          <p:cNvSpPr/>
          <p:nvPr/>
        </p:nvSpPr>
        <p:spPr>
          <a:xfrm>
            <a:off x="8026400" y="1778000"/>
            <a:ext cx="3556000" cy="19812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a:extLst>
              <a:ext uri="{FF2B5EF4-FFF2-40B4-BE49-F238E27FC236}">
                <a16:creationId xmlns:a16="http://schemas.microsoft.com/office/drawing/2014/main" id="{F3682DB0-EC18-76C4-CAEC-D87308A0BEAB}"/>
              </a:ext>
            </a:extLst>
          </p:cNvPr>
          <p:cNvSpPr/>
          <p:nvPr/>
        </p:nvSpPr>
        <p:spPr>
          <a:xfrm>
            <a:off x="8026400" y="1778000"/>
            <a:ext cx="3556000" cy="63500"/>
          </a:xfrm>
          <a:prstGeom prst="rect">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EEB9A84F-54BC-8EA5-5514-BF7AFF7C447C}"/>
              </a:ext>
            </a:extLst>
          </p:cNvPr>
          <p:cNvSpPr txBox="1"/>
          <p:nvPr/>
        </p:nvSpPr>
        <p:spPr>
          <a:xfrm>
            <a:off x="8280400" y="2032000"/>
            <a:ext cx="2540000" cy="369332"/>
          </a:xfrm>
          <a:prstGeom prst="rect">
            <a:avLst/>
          </a:prstGeom>
          <a:noFill/>
        </p:spPr>
        <p:txBody>
          <a:bodyPr vert="horz" wrap="square" lIns="0" tIns="0" rIns="0" bIns="0" rtlCol="0">
            <a:noAutofit/>
          </a:bodyPr>
          <a:lstStyle/>
          <a:p>
            <a:pPr>
              <a:lnSpc>
                <a:spcPct val="110000"/>
              </a:lnSpc>
            </a:pPr>
            <a:r>
              <a:rPr lang="en-IN" sz="1100">
                <a:solidFill>
                  <a:srgbClr val="26658C"/>
                </a:solidFill>
                <a:latin typeface="Segoe UI Semibold" panose="020B0702040204020203" pitchFamily="34" charset="0"/>
              </a:rPr>
              <a:t>STEP 3</a:t>
            </a:r>
          </a:p>
        </p:txBody>
      </p:sp>
      <p:sp>
        <p:nvSpPr>
          <p:cNvPr id="25" name="TextBox 24">
            <a:extLst>
              <a:ext uri="{FF2B5EF4-FFF2-40B4-BE49-F238E27FC236}">
                <a16:creationId xmlns:a16="http://schemas.microsoft.com/office/drawing/2014/main" id="{E3A80B49-5FC9-C2F9-9392-00647DF1F08B}"/>
              </a:ext>
            </a:extLst>
          </p:cNvPr>
          <p:cNvSpPr txBox="1"/>
          <p:nvPr/>
        </p:nvSpPr>
        <p:spPr>
          <a:xfrm>
            <a:off x="8280400" y="2286000"/>
            <a:ext cx="3048000" cy="369332"/>
          </a:xfrm>
          <a:prstGeom prst="rect">
            <a:avLst/>
          </a:prstGeom>
          <a:noFill/>
        </p:spPr>
        <p:txBody>
          <a:bodyPr vert="horz" wrap="square" lIns="0" tIns="0" rIns="0" bIns="0" rtlCol="0">
            <a:noAutofit/>
          </a:bodyPr>
          <a:lstStyle/>
          <a:p>
            <a:pPr>
              <a:lnSpc>
                <a:spcPct val="110000"/>
              </a:lnSpc>
            </a:pPr>
            <a:r>
              <a:rPr lang="en-IN" sz="1900">
                <a:solidFill>
                  <a:srgbClr val="0B2340"/>
                </a:solidFill>
                <a:latin typeface="Segoe UI Semibold" panose="020B0702040204020203" pitchFamily="34" charset="0"/>
              </a:rPr>
              <a:t>Explore</a:t>
            </a:r>
          </a:p>
        </p:txBody>
      </p:sp>
      <p:sp>
        <p:nvSpPr>
          <p:cNvPr id="26" name="TextBox 25">
            <a:extLst>
              <a:ext uri="{FF2B5EF4-FFF2-40B4-BE49-F238E27FC236}">
                <a16:creationId xmlns:a16="http://schemas.microsoft.com/office/drawing/2014/main" id="{41A7DD75-AF75-CE05-9238-C1A51ABC57C4}"/>
              </a:ext>
            </a:extLst>
          </p:cNvPr>
          <p:cNvSpPr txBox="1"/>
          <p:nvPr/>
        </p:nvSpPr>
        <p:spPr>
          <a:xfrm>
            <a:off x="8280400" y="2743200"/>
            <a:ext cx="3048000" cy="369332"/>
          </a:xfrm>
          <a:prstGeom prst="rect">
            <a:avLst/>
          </a:prstGeom>
          <a:noFill/>
        </p:spPr>
        <p:txBody>
          <a:bodyPr vert="horz" wrap="square" lIns="0" tIns="0" rIns="0" bIns="0" rtlCol="0">
            <a:noAutofit/>
          </a:bodyPr>
          <a:lstStyle/>
          <a:p>
            <a:pPr>
              <a:lnSpc>
                <a:spcPct val="110000"/>
              </a:lnSpc>
            </a:pPr>
            <a:r>
              <a:rPr lang="en-US" sz="1400">
                <a:solidFill>
                  <a:srgbClr val="3E5670"/>
                </a:solidFill>
                <a:latin typeface="Segoe UI" panose="020B0502040204020203" pitchFamily="34" charset="0"/>
              </a:rPr>
              <a:t>Histograms, boxplots, scatter plots, heatmap</a:t>
            </a:r>
            <a:endParaRPr lang="en-IN" sz="1400">
              <a:solidFill>
                <a:srgbClr val="3E5670"/>
              </a:solidFill>
              <a:latin typeface="Segoe UI" panose="020B0502040204020203" pitchFamily="34" charset="0"/>
            </a:endParaRPr>
          </a:p>
        </p:txBody>
      </p:sp>
      <p:sp>
        <p:nvSpPr>
          <p:cNvPr id="27" name="Rectangle: Rounded Corners 26">
            <a:extLst>
              <a:ext uri="{FF2B5EF4-FFF2-40B4-BE49-F238E27FC236}">
                <a16:creationId xmlns:a16="http://schemas.microsoft.com/office/drawing/2014/main" id="{2756952E-9489-16AF-606E-E0C977F39913}"/>
              </a:ext>
            </a:extLst>
          </p:cNvPr>
          <p:cNvSpPr/>
          <p:nvPr/>
        </p:nvSpPr>
        <p:spPr>
          <a:xfrm>
            <a:off x="609600" y="3937000"/>
            <a:ext cx="3556000" cy="19812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27">
            <a:extLst>
              <a:ext uri="{FF2B5EF4-FFF2-40B4-BE49-F238E27FC236}">
                <a16:creationId xmlns:a16="http://schemas.microsoft.com/office/drawing/2014/main" id="{3793D08D-8DCC-79F4-6342-7BDA744CCAC1}"/>
              </a:ext>
            </a:extLst>
          </p:cNvPr>
          <p:cNvSpPr/>
          <p:nvPr/>
        </p:nvSpPr>
        <p:spPr>
          <a:xfrm>
            <a:off x="609600" y="3937000"/>
            <a:ext cx="3556000" cy="63500"/>
          </a:xfrm>
          <a:prstGeom prst="rect">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DC1DD6C8-0B95-2CB3-A918-A22CBF97DB52}"/>
              </a:ext>
            </a:extLst>
          </p:cNvPr>
          <p:cNvSpPr txBox="1"/>
          <p:nvPr/>
        </p:nvSpPr>
        <p:spPr>
          <a:xfrm>
            <a:off x="863600" y="4191000"/>
            <a:ext cx="2540000" cy="369332"/>
          </a:xfrm>
          <a:prstGeom prst="rect">
            <a:avLst/>
          </a:prstGeom>
          <a:noFill/>
        </p:spPr>
        <p:txBody>
          <a:bodyPr vert="horz" wrap="square" lIns="0" tIns="0" rIns="0" bIns="0" rtlCol="0">
            <a:noAutofit/>
          </a:bodyPr>
          <a:lstStyle/>
          <a:p>
            <a:pPr>
              <a:lnSpc>
                <a:spcPct val="110000"/>
              </a:lnSpc>
            </a:pPr>
            <a:r>
              <a:rPr lang="en-IN" sz="1100">
                <a:solidFill>
                  <a:srgbClr val="26658C"/>
                </a:solidFill>
                <a:latin typeface="Segoe UI Semibold" panose="020B0702040204020203" pitchFamily="34" charset="0"/>
              </a:rPr>
              <a:t>STEP 4</a:t>
            </a:r>
          </a:p>
        </p:txBody>
      </p:sp>
      <p:sp>
        <p:nvSpPr>
          <p:cNvPr id="30" name="TextBox 29">
            <a:extLst>
              <a:ext uri="{FF2B5EF4-FFF2-40B4-BE49-F238E27FC236}">
                <a16:creationId xmlns:a16="http://schemas.microsoft.com/office/drawing/2014/main" id="{81CDA3DC-EDB8-44E9-44C5-08EA14C5DF8E}"/>
              </a:ext>
            </a:extLst>
          </p:cNvPr>
          <p:cNvSpPr txBox="1"/>
          <p:nvPr/>
        </p:nvSpPr>
        <p:spPr>
          <a:xfrm>
            <a:off x="863600" y="4445000"/>
            <a:ext cx="3048000" cy="369332"/>
          </a:xfrm>
          <a:prstGeom prst="rect">
            <a:avLst/>
          </a:prstGeom>
          <a:noFill/>
        </p:spPr>
        <p:txBody>
          <a:bodyPr vert="horz" wrap="square" lIns="0" tIns="0" rIns="0" bIns="0" rtlCol="0">
            <a:noAutofit/>
          </a:bodyPr>
          <a:lstStyle/>
          <a:p>
            <a:pPr>
              <a:lnSpc>
                <a:spcPct val="110000"/>
              </a:lnSpc>
            </a:pPr>
            <a:r>
              <a:rPr lang="en-IN" sz="1900">
                <a:solidFill>
                  <a:srgbClr val="0B2340"/>
                </a:solidFill>
                <a:latin typeface="Segoe UI Semibold" panose="020B0702040204020203" pitchFamily="34" charset="0"/>
              </a:rPr>
              <a:t>Select features</a:t>
            </a:r>
          </a:p>
        </p:txBody>
      </p:sp>
      <p:sp>
        <p:nvSpPr>
          <p:cNvPr id="31" name="TextBox 30">
            <a:extLst>
              <a:ext uri="{FF2B5EF4-FFF2-40B4-BE49-F238E27FC236}">
                <a16:creationId xmlns:a16="http://schemas.microsoft.com/office/drawing/2014/main" id="{FAB791E1-8205-3F80-FB9B-0F4B4313F7CE}"/>
              </a:ext>
            </a:extLst>
          </p:cNvPr>
          <p:cNvSpPr txBox="1"/>
          <p:nvPr/>
        </p:nvSpPr>
        <p:spPr>
          <a:xfrm>
            <a:off x="863600" y="4902200"/>
            <a:ext cx="3048000" cy="369332"/>
          </a:xfrm>
          <a:prstGeom prst="rect">
            <a:avLst/>
          </a:prstGeom>
          <a:noFill/>
        </p:spPr>
        <p:txBody>
          <a:bodyPr vert="horz" wrap="square" lIns="0" tIns="0" rIns="0" bIns="0" rtlCol="0">
            <a:noAutofit/>
          </a:bodyPr>
          <a:lstStyle/>
          <a:p>
            <a:pPr>
              <a:lnSpc>
                <a:spcPct val="110000"/>
              </a:lnSpc>
            </a:pPr>
            <a:r>
              <a:rPr lang="en-US" sz="1400">
                <a:solidFill>
                  <a:srgbClr val="3E5670"/>
                </a:solidFill>
                <a:latin typeface="Segoe UI" panose="020B0502040204020203" pitchFamily="34" charset="0"/>
              </a:rPr>
              <a:t>Keep |r| ≥ 0.15; test engineered features</a:t>
            </a:r>
            <a:endParaRPr lang="en-IN" sz="1400">
              <a:solidFill>
                <a:srgbClr val="3E5670"/>
              </a:solidFill>
              <a:latin typeface="Segoe UI" panose="020B0502040204020203" pitchFamily="34" charset="0"/>
            </a:endParaRPr>
          </a:p>
        </p:txBody>
      </p:sp>
      <p:sp>
        <p:nvSpPr>
          <p:cNvPr id="32" name="Rectangle: Rounded Corners 31">
            <a:extLst>
              <a:ext uri="{FF2B5EF4-FFF2-40B4-BE49-F238E27FC236}">
                <a16:creationId xmlns:a16="http://schemas.microsoft.com/office/drawing/2014/main" id="{82951C67-BE75-1B69-C00B-DC927CB63B72}"/>
              </a:ext>
            </a:extLst>
          </p:cNvPr>
          <p:cNvSpPr/>
          <p:nvPr/>
        </p:nvSpPr>
        <p:spPr>
          <a:xfrm>
            <a:off x="4318000" y="3937000"/>
            <a:ext cx="3556000" cy="19812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Rectangle 32">
            <a:extLst>
              <a:ext uri="{FF2B5EF4-FFF2-40B4-BE49-F238E27FC236}">
                <a16:creationId xmlns:a16="http://schemas.microsoft.com/office/drawing/2014/main" id="{6A009057-D93A-D94C-8206-00EF5B0670F1}"/>
              </a:ext>
            </a:extLst>
          </p:cNvPr>
          <p:cNvSpPr/>
          <p:nvPr/>
        </p:nvSpPr>
        <p:spPr>
          <a:xfrm>
            <a:off x="4318000" y="3937000"/>
            <a:ext cx="3556000" cy="63500"/>
          </a:xfrm>
          <a:prstGeom prst="rect">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TextBox 33">
            <a:extLst>
              <a:ext uri="{FF2B5EF4-FFF2-40B4-BE49-F238E27FC236}">
                <a16:creationId xmlns:a16="http://schemas.microsoft.com/office/drawing/2014/main" id="{26612D7B-A322-9C48-A232-B1C9A99387DF}"/>
              </a:ext>
            </a:extLst>
          </p:cNvPr>
          <p:cNvSpPr txBox="1"/>
          <p:nvPr/>
        </p:nvSpPr>
        <p:spPr>
          <a:xfrm>
            <a:off x="4572000" y="4191000"/>
            <a:ext cx="2540000" cy="369332"/>
          </a:xfrm>
          <a:prstGeom prst="rect">
            <a:avLst/>
          </a:prstGeom>
          <a:noFill/>
        </p:spPr>
        <p:txBody>
          <a:bodyPr vert="horz" wrap="square" lIns="0" tIns="0" rIns="0" bIns="0" rtlCol="0">
            <a:noAutofit/>
          </a:bodyPr>
          <a:lstStyle/>
          <a:p>
            <a:pPr>
              <a:lnSpc>
                <a:spcPct val="110000"/>
              </a:lnSpc>
            </a:pPr>
            <a:r>
              <a:rPr lang="en-IN" sz="1100">
                <a:solidFill>
                  <a:srgbClr val="26658C"/>
                </a:solidFill>
                <a:latin typeface="Segoe UI Semibold" panose="020B0702040204020203" pitchFamily="34" charset="0"/>
              </a:rPr>
              <a:t>STEP 5</a:t>
            </a:r>
          </a:p>
        </p:txBody>
      </p:sp>
      <p:sp>
        <p:nvSpPr>
          <p:cNvPr id="35" name="TextBox 34">
            <a:extLst>
              <a:ext uri="{FF2B5EF4-FFF2-40B4-BE49-F238E27FC236}">
                <a16:creationId xmlns:a16="http://schemas.microsoft.com/office/drawing/2014/main" id="{627072C8-29D4-FB81-2FC9-B2F07B145024}"/>
              </a:ext>
            </a:extLst>
          </p:cNvPr>
          <p:cNvSpPr txBox="1"/>
          <p:nvPr/>
        </p:nvSpPr>
        <p:spPr>
          <a:xfrm>
            <a:off x="4572000" y="4445000"/>
            <a:ext cx="3048000" cy="369332"/>
          </a:xfrm>
          <a:prstGeom prst="rect">
            <a:avLst/>
          </a:prstGeom>
          <a:noFill/>
        </p:spPr>
        <p:txBody>
          <a:bodyPr vert="horz" wrap="square" lIns="0" tIns="0" rIns="0" bIns="0" rtlCol="0">
            <a:noAutofit/>
          </a:bodyPr>
          <a:lstStyle/>
          <a:p>
            <a:pPr>
              <a:lnSpc>
                <a:spcPct val="110000"/>
              </a:lnSpc>
            </a:pPr>
            <a:r>
              <a:rPr lang="en-IN" sz="1900">
                <a:solidFill>
                  <a:srgbClr val="0B2340"/>
                </a:solidFill>
                <a:latin typeface="Segoe UI Semibold" panose="020B0702040204020203" pitchFamily="34" charset="0"/>
              </a:rPr>
              <a:t>Train and compare</a:t>
            </a:r>
          </a:p>
        </p:txBody>
      </p:sp>
      <p:sp>
        <p:nvSpPr>
          <p:cNvPr id="36" name="TextBox 35">
            <a:extLst>
              <a:ext uri="{FF2B5EF4-FFF2-40B4-BE49-F238E27FC236}">
                <a16:creationId xmlns:a16="http://schemas.microsoft.com/office/drawing/2014/main" id="{4268CD19-7A98-ADF5-53A3-AA755704179D}"/>
              </a:ext>
            </a:extLst>
          </p:cNvPr>
          <p:cNvSpPr txBox="1"/>
          <p:nvPr/>
        </p:nvSpPr>
        <p:spPr>
          <a:xfrm>
            <a:off x="4572000" y="4902200"/>
            <a:ext cx="3048000" cy="369332"/>
          </a:xfrm>
          <a:prstGeom prst="rect">
            <a:avLst/>
          </a:prstGeom>
          <a:noFill/>
        </p:spPr>
        <p:txBody>
          <a:bodyPr vert="horz" wrap="square" lIns="0" tIns="0" rIns="0" bIns="0" rtlCol="0">
            <a:noAutofit/>
          </a:bodyPr>
          <a:lstStyle/>
          <a:p>
            <a:pPr>
              <a:lnSpc>
                <a:spcPct val="110000"/>
              </a:lnSpc>
            </a:pPr>
            <a:r>
              <a:rPr lang="en-US" sz="1400">
                <a:solidFill>
                  <a:srgbClr val="3E5670"/>
                </a:solidFill>
                <a:latin typeface="Segoe UI" panose="020B0502040204020203" pitchFamily="34" charset="0"/>
              </a:rPr>
              <a:t>3 models, 80/20 split, 5-fold cross-validation</a:t>
            </a:r>
            <a:endParaRPr lang="en-IN" sz="1400">
              <a:solidFill>
                <a:srgbClr val="3E5670"/>
              </a:solidFill>
              <a:latin typeface="Segoe UI" panose="020B0502040204020203" pitchFamily="34" charset="0"/>
            </a:endParaRPr>
          </a:p>
        </p:txBody>
      </p:sp>
      <p:sp>
        <p:nvSpPr>
          <p:cNvPr id="37" name="Rectangle: Rounded Corners 36">
            <a:extLst>
              <a:ext uri="{FF2B5EF4-FFF2-40B4-BE49-F238E27FC236}">
                <a16:creationId xmlns:a16="http://schemas.microsoft.com/office/drawing/2014/main" id="{776899CA-190C-D8F0-90AE-9B0D6FA5F5B1}"/>
              </a:ext>
            </a:extLst>
          </p:cNvPr>
          <p:cNvSpPr/>
          <p:nvPr/>
        </p:nvSpPr>
        <p:spPr>
          <a:xfrm>
            <a:off x="8026400" y="3937000"/>
            <a:ext cx="3556000" cy="1981200"/>
          </a:xfrm>
          <a:prstGeom prst="roundRect">
            <a:avLst>
              <a:gd name="adj" fmla="val 8000"/>
            </a:avLst>
          </a:prstGeom>
          <a:solidFill>
            <a:srgbClr val="011C4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37">
            <a:extLst>
              <a:ext uri="{FF2B5EF4-FFF2-40B4-BE49-F238E27FC236}">
                <a16:creationId xmlns:a16="http://schemas.microsoft.com/office/drawing/2014/main" id="{E3D16E33-310A-0894-9D66-BEEF5A796C83}"/>
              </a:ext>
            </a:extLst>
          </p:cNvPr>
          <p:cNvSpPr/>
          <p:nvPr/>
        </p:nvSpPr>
        <p:spPr>
          <a:xfrm>
            <a:off x="8026400" y="3937000"/>
            <a:ext cx="3556000" cy="63500"/>
          </a:xfrm>
          <a:prstGeom prst="rect">
            <a:avLst/>
          </a:prstGeom>
          <a:solidFill>
            <a:srgbClr val="54ACB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DAE91282-BF82-D1A3-F6C1-59F5E0C5A887}"/>
              </a:ext>
            </a:extLst>
          </p:cNvPr>
          <p:cNvSpPr txBox="1"/>
          <p:nvPr/>
        </p:nvSpPr>
        <p:spPr>
          <a:xfrm>
            <a:off x="8280400" y="4191000"/>
            <a:ext cx="2540000" cy="369332"/>
          </a:xfrm>
          <a:prstGeom prst="rect">
            <a:avLst/>
          </a:prstGeom>
          <a:noFill/>
        </p:spPr>
        <p:txBody>
          <a:bodyPr vert="horz" wrap="square" lIns="0" tIns="0" rIns="0" bIns="0" rtlCol="0">
            <a:noAutofit/>
          </a:bodyPr>
          <a:lstStyle/>
          <a:p>
            <a:pPr>
              <a:lnSpc>
                <a:spcPct val="110000"/>
              </a:lnSpc>
            </a:pPr>
            <a:r>
              <a:rPr lang="en-IN" sz="1100">
                <a:solidFill>
                  <a:srgbClr val="A7EBF2"/>
                </a:solidFill>
                <a:latin typeface="Segoe UI Semibold" panose="020B0702040204020203" pitchFamily="34" charset="0"/>
              </a:rPr>
              <a:t>STEP 6</a:t>
            </a:r>
          </a:p>
        </p:txBody>
      </p:sp>
      <p:sp>
        <p:nvSpPr>
          <p:cNvPr id="40" name="TextBox 39">
            <a:extLst>
              <a:ext uri="{FF2B5EF4-FFF2-40B4-BE49-F238E27FC236}">
                <a16:creationId xmlns:a16="http://schemas.microsoft.com/office/drawing/2014/main" id="{4423F4B0-88C1-2D45-8105-790C189EB677}"/>
              </a:ext>
            </a:extLst>
          </p:cNvPr>
          <p:cNvSpPr txBox="1"/>
          <p:nvPr/>
        </p:nvSpPr>
        <p:spPr>
          <a:xfrm>
            <a:off x="8280400" y="4445000"/>
            <a:ext cx="3048000" cy="369332"/>
          </a:xfrm>
          <a:prstGeom prst="rect">
            <a:avLst/>
          </a:prstGeom>
          <a:noFill/>
        </p:spPr>
        <p:txBody>
          <a:bodyPr vert="horz" wrap="square" lIns="0" tIns="0" rIns="0" bIns="0" rtlCol="0">
            <a:noAutofit/>
          </a:bodyPr>
          <a:lstStyle/>
          <a:p>
            <a:pPr>
              <a:lnSpc>
                <a:spcPct val="110000"/>
              </a:lnSpc>
            </a:pPr>
            <a:r>
              <a:rPr lang="en-IN" sz="1900">
                <a:solidFill>
                  <a:srgbClr val="F4FBFC"/>
                </a:solidFill>
                <a:latin typeface="Segoe UI Semibold" panose="020B0702040204020203" pitchFamily="34" charset="0"/>
              </a:rPr>
              <a:t>Deploy</a:t>
            </a:r>
          </a:p>
        </p:txBody>
      </p:sp>
      <p:sp>
        <p:nvSpPr>
          <p:cNvPr id="41" name="TextBox 40">
            <a:extLst>
              <a:ext uri="{FF2B5EF4-FFF2-40B4-BE49-F238E27FC236}">
                <a16:creationId xmlns:a16="http://schemas.microsoft.com/office/drawing/2014/main" id="{215CB7E5-F742-DAC1-841A-A14F9D74D382}"/>
              </a:ext>
            </a:extLst>
          </p:cNvPr>
          <p:cNvSpPr txBox="1"/>
          <p:nvPr/>
        </p:nvSpPr>
        <p:spPr>
          <a:xfrm>
            <a:off x="8280400" y="4902200"/>
            <a:ext cx="3048000" cy="369332"/>
          </a:xfrm>
          <a:prstGeom prst="rect">
            <a:avLst/>
          </a:prstGeom>
          <a:noFill/>
        </p:spPr>
        <p:txBody>
          <a:bodyPr vert="horz" wrap="square" lIns="0" tIns="0" rIns="0" bIns="0" rtlCol="0">
            <a:noAutofit/>
          </a:bodyPr>
          <a:lstStyle/>
          <a:p>
            <a:pPr>
              <a:lnSpc>
                <a:spcPct val="110000"/>
              </a:lnSpc>
            </a:pPr>
            <a:r>
              <a:rPr lang="en-US" sz="1400">
                <a:solidFill>
                  <a:srgbClr val="B8D3DE"/>
                </a:solidFill>
                <a:latin typeface="Segoe UI" panose="020B0502040204020203" pitchFamily="34" charset="0"/>
              </a:rPr>
              <a:t>Best model served by Flask, live on Render</a:t>
            </a:r>
            <a:endParaRPr lang="en-IN" sz="1400">
              <a:solidFill>
                <a:srgbClr val="B8D3DE"/>
              </a:solidFill>
              <a:latin typeface="Segoe UI" panose="020B0502040204020203" pitchFamily="34" charset="0"/>
            </a:endParaRPr>
          </a:p>
        </p:txBody>
      </p:sp>
    </p:spTree>
    <p:extLst>
      <p:ext uri="{BB962C8B-B14F-4D97-AF65-F5344CB8AC3E}">
        <p14:creationId xmlns:p14="http://schemas.microsoft.com/office/powerpoint/2010/main" val="3473775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8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E41447-F7BA-A5CC-8611-B6A8F358C5FF}"/>
              </a:ext>
            </a:extLst>
          </p:cNvPr>
          <p:cNvSpPr txBox="1"/>
          <p:nvPr/>
        </p:nvSpPr>
        <p:spPr>
          <a:xfrm>
            <a:off x="6096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Introduction</a:t>
            </a:r>
          </a:p>
        </p:txBody>
      </p:sp>
      <p:sp>
        <p:nvSpPr>
          <p:cNvPr id="3" name="TextBox 2">
            <a:extLst>
              <a:ext uri="{FF2B5EF4-FFF2-40B4-BE49-F238E27FC236}">
                <a16:creationId xmlns:a16="http://schemas.microsoft.com/office/drawing/2014/main" id="{33720FA5-9026-DF59-66B3-7868CBDABC86}"/>
              </a:ext>
            </a:extLst>
          </p:cNvPr>
          <p:cNvSpPr txBox="1"/>
          <p:nvPr/>
        </p:nvSpPr>
        <p:spPr>
          <a:xfrm>
            <a:off x="28067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Data &amp; Methodology</a:t>
            </a:r>
          </a:p>
        </p:txBody>
      </p:sp>
      <p:sp>
        <p:nvSpPr>
          <p:cNvPr id="4" name="Rectangle: Rounded Corners 3">
            <a:extLst>
              <a:ext uri="{FF2B5EF4-FFF2-40B4-BE49-F238E27FC236}">
                <a16:creationId xmlns:a16="http://schemas.microsoft.com/office/drawing/2014/main" id="{1D533062-BC70-D03D-496F-E8EDB6BAA88D}"/>
              </a:ext>
            </a:extLst>
          </p:cNvPr>
          <p:cNvSpPr/>
          <p:nvPr/>
        </p:nvSpPr>
        <p:spPr>
          <a:xfrm>
            <a:off x="5003800" y="203200"/>
            <a:ext cx="2032000" cy="279400"/>
          </a:xfrm>
          <a:prstGeom prst="roundRect">
            <a:avLst>
              <a:gd name="adj" fmla="val 50000"/>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7FA3FDA5-C3D7-AC21-F8CB-0BD02AD735A8}"/>
              </a:ext>
            </a:extLst>
          </p:cNvPr>
          <p:cNvSpPr txBox="1"/>
          <p:nvPr/>
        </p:nvSpPr>
        <p:spPr>
          <a:xfrm>
            <a:off x="50038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FFFFFF"/>
                </a:solidFill>
                <a:latin typeface="Segoe UI Semibold" panose="020B0702040204020203" pitchFamily="34" charset="0"/>
              </a:rPr>
              <a:t>Preprocessing &amp; EDA</a:t>
            </a:r>
          </a:p>
        </p:txBody>
      </p:sp>
      <p:sp>
        <p:nvSpPr>
          <p:cNvPr id="6" name="TextBox 5">
            <a:extLst>
              <a:ext uri="{FF2B5EF4-FFF2-40B4-BE49-F238E27FC236}">
                <a16:creationId xmlns:a16="http://schemas.microsoft.com/office/drawing/2014/main" id="{BD05F06F-F463-4A05-2099-5BAB028A1CED}"/>
              </a:ext>
            </a:extLst>
          </p:cNvPr>
          <p:cNvSpPr txBox="1"/>
          <p:nvPr/>
        </p:nvSpPr>
        <p:spPr>
          <a:xfrm>
            <a:off x="72009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Models &amp; Results</a:t>
            </a:r>
          </a:p>
        </p:txBody>
      </p:sp>
      <p:sp>
        <p:nvSpPr>
          <p:cNvPr id="7" name="TextBox 6">
            <a:extLst>
              <a:ext uri="{FF2B5EF4-FFF2-40B4-BE49-F238E27FC236}">
                <a16:creationId xmlns:a16="http://schemas.microsoft.com/office/drawing/2014/main" id="{D8246DD6-1802-75F0-961B-5F87590B96EA}"/>
              </a:ext>
            </a:extLst>
          </p:cNvPr>
          <p:cNvSpPr txBox="1"/>
          <p:nvPr/>
        </p:nvSpPr>
        <p:spPr>
          <a:xfrm>
            <a:off x="93980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Demo &amp; Conclusion</a:t>
            </a:r>
          </a:p>
        </p:txBody>
      </p:sp>
      <p:sp>
        <p:nvSpPr>
          <p:cNvPr id="8" name="TextBox 7">
            <a:extLst>
              <a:ext uri="{FF2B5EF4-FFF2-40B4-BE49-F238E27FC236}">
                <a16:creationId xmlns:a16="http://schemas.microsoft.com/office/drawing/2014/main" id="{A3A8DEFF-DECC-10AA-400E-E16E18B95B62}"/>
              </a:ext>
            </a:extLst>
          </p:cNvPr>
          <p:cNvSpPr txBox="1"/>
          <p:nvPr/>
        </p:nvSpPr>
        <p:spPr>
          <a:xfrm>
            <a:off x="609600" y="736600"/>
            <a:ext cx="8890000" cy="369332"/>
          </a:xfrm>
          <a:prstGeom prst="rect">
            <a:avLst/>
          </a:prstGeom>
          <a:noFill/>
        </p:spPr>
        <p:txBody>
          <a:bodyPr vert="horz" wrap="square" lIns="0" tIns="0" rIns="0" bIns="0" rtlCol="0">
            <a:noAutofit/>
          </a:bodyPr>
          <a:lstStyle/>
          <a:p>
            <a:pPr>
              <a:lnSpc>
                <a:spcPct val="110000"/>
              </a:lnSpc>
            </a:pPr>
            <a:r>
              <a:rPr lang="en-IN" sz="1100">
                <a:solidFill>
                  <a:srgbClr val="26658C"/>
                </a:solidFill>
                <a:latin typeface="Segoe UI Semibold" panose="020B0702040204020203" pitchFamily="34" charset="0"/>
              </a:rPr>
              <a:t>DATA PREPROCESSING</a:t>
            </a:r>
          </a:p>
        </p:txBody>
      </p:sp>
      <p:sp>
        <p:nvSpPr>
          <p:cNvPr id="9" name="TextBox 8">
            <a:extLst>
              <a:ext uri="{FF2B5EF4-FFF2-40B4-BE49-F238E27FC236}">
                <a16:creationId xmlns:a16="http://schemas.microsoft.com/office/drawing/2014/main" id="{18B0EA56-1EFE-C4F0-327A-E8F35352BB77}"/>
              </a:ext>
            </a:extLst>
          </p:cNvPr>
          <p:cNvSpPr txBox="1"/>
          <p:nvPr/>
        </p:nvSpPr>
        <p:spPr>
          <a:xfrm>
            <a:off x="609600" y="965200"/>
            <a:ext cx="10972800" cy="369332"/>
          </a:xfrm>
          <a:prstGeom prst="rect">
            <a:avLst/>
          </a:prstGeom>
          <a:noFill/>
        </p:spPr>
        <p:txBody>
          <a:bodyPr vert="horz" wrap="square" lIns="0" tIns="0" rIns="0" bIns="0" rtlCol="0">
            <a:noAutofit/>
          </a:bodyPr>
          <a:lstStyle/>
          <a:p>
            <a:pPr>
              <a:lnSpc>
                <a:spcPct val="110000"/>
              </a:lnSpc>
            </a:pPr>
            <a:r>
              <a:rPr lang="en-US" sz="2600" b="1">
                <a:solidFill>
                  <a:srgbClr val="0B2340"/>
                </a:solidFill>
                <a:latin typeface="Georgia" panose="02040502050405020303" pitchFamily="18" charset="0"/>
              </a:rPr>
              <a:t>Cleaning took 1,015 raw rows down to 992 usable ones</a:t>
            </a:r>
            <a:endParaRPr lang="en-IN" sz="2600" b="1">
              <a:solidFill>
                <a:srgbClr val="0B2340"/>
              </a:solidFill>
              <a:latin typeface="Georgia" panose="02040502050405020303" pitchFamily="18" charset="0"/>
            </a:endParaRPr>
          </a:p>
        </p:txBody>
      </p:sp>
      <p:sp>
        <p:nvSpPr>
          <p:cNvPr id="10" name="TextBox 9">
            <a:extLst>
              <a:ext uri="{FF2B5EF4-FFF2-40B4-BE49-F238E27FC236}">
                <a16:creationId xmlns:a16="http://schemas.microsoft.com/office/drawing/2014/main" id="{4FDF4BD5-B798-6D28-61D9-A1278D423010}"/>
              </a:ext>
            </a:extLst>
          </p:cNvPr>
          <p:cNvSpPr txBox="1"/>
          <p:nvPr/>
        </p:nvSpPr>
        <p:spPr>
          <a:xfrm>
            <a:off x="609600" y="6502400"/>
            <a:ext cx="7620000" cy="369332"/>
          </a:xfrm>
          <a:prstGeom prst="rect">
            <a:avLst/>
          </a:prstGeom>
          <a:noFill/>
        </p:spPr>
        <p:txBody>
          <a:bodyPr vert="horz" wrap="square" lIns="0" tIns="0" rIns="0" bIns="0" rtlCol="0">
            <a:noAutofit/>
          </a:bodyPr>
          <a:lstStyle/>
          <a:p>
            <a:pPr>
              <a:lnSpc>
                <a:spcPct val="110000"/>
              </a:lnSpc>
            </a:pPr>
            <a:r>
              <a:rPr lang="en-US" sz="900">
                <a:solidFill>
                  <a:srgbClr val="6B8296"/>
                </a:solidFill>
                <a:latin typeface="Segoe UI" panose="020B0502040204020203" pitchFamily="34" charset="0"/>
              </a:rPr>
              <a:t>Acadrix · Student Performance Prediction System</a:t>
            </a:r>
            <a:endParaRPr lang="en-IN" sz="900">
              <a:solidFill>
                <a:srgbClr val="6B8296"/>
              </a:solidFill>
              <a:latin typeface="Segoe UI" panose="020B0502040204020203" pitchFamily="34" charset="0"/>
            </a:endParaRPr>
          </a:p>
        </p:txBody>
      </p:sp>
      <p:sp>
        <p:nvSpPr>
          <p:cNvPr id="11" name="TextBox 10">
            <a:extLst>
              <a:ext uri="{FF2B5EF4-FFF2-40B4-BE49-F238E27FC236}">
                <a16:creationId xmlns:a16="http://schemas.microsoft.com/office/drawing/2014/main" id="{0F79D611-A950-1858-93E5-A719A5A042E5}"/>
              </a:ext>
            </a:extLst>
          </p:cNvPr>
          <p:cNvSpPr txBox="1"/>
          <p:nvPr/>
        </p:nvSpPr>
        <p:spPr>
          <a:xfrm>
            <a:off x="10820400" y="6502400"/>
            <a:ext cx="762000" cy="369332"/>
          </a:xfrm>
          <a:prstGeom prst="rect">
            <a:avLst/>
          </a:prstGeom>
          <a:noFill/>
        </p:spPr>
        <p:txBody>
          <a:bodyPr vert="horz" wrap="square" lIns="0" tIns="0" rIns="0" bIns="0" rtlCol="0">
            <a:noAutofit/>
          </a:bodyPr>
          <a:lstStyle/>
          <a:p>
            <a:pPr algn="r">
              <a:lnSpc>
                <a:spcPct val="110000"/>
              </a:lnSpc>
            </a:pPr>
            <a:r>
              <a:rPr lang="en-IN" sz="900">
                <a:solidFill>
                  <a:srgbClr val="6B8296"/>
                </a:solidFill>
                <a:latin typeface="Segoe UI" panose="020B0502040204020203" pitchFamily="34" charset="0"/>
              </a:rPr>
              <a:t>07</a:t>
            </a:r>
          </a:p>
        </p:txBody>
      </p:sp>
      <p:sp>
        <p:nvSpPr>
          <p:cNvPr id="12" name="Rectangle: Rounded Corners 11">
            <a:extLst>
              <a:ext uri="{FF2B5EF4-FFF2-40B4-BE49-F238E27FC236}">
                <a16:creationId xmlns:a16="http://schemas.microsoft.com/office/drawing/2014/main" id="{42D5F221-F0F0-E7E4-DC3B-BEE0622F715C}"/>
              </a:ext>
            </a:extLst>
          </p:cNvPr>
          <p:cNvSpPr/>
          <p:nvPr/>
        </p:nvSpPr>
        <p:spPr>
          <a:xfrm>
            <a:off x="609600" y="1905000"/>
            <a:ext cx="2413000" cy="13970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49435700-89D0-5FE4-DF09-D06E122DBB82}"/>
              </a:ext>
            </a:extLst>
          </p:cNvPr>
          <p:cNvSpPr txBox="1"/>
          <p:nvPr/>
        </p:nvSpPr>
        <p:spPr>
          <a:xfrm>
            <a:off x="863600" y="2108200"/>
            <a:ext cx="2032000" cy="369332"/>
          </a:xfrm>
          <a:prstGeom prst="rect">
            <a:avLst/>
          </a:prstGeom>
          <a:noFill/>
        </p:spPr>
        <p:txBody>
          <a:bodyPr vert="horz" wrap="square" lIns="0" tIns="0" rIns="0" bIns="0" rtlCol="0">
            <a:noAutofit/>
          </a:bodyPr>
          <a:lstStyle/>
          <a:p>
            <a:pPr>
              <a:lnSpc>
                <a:spcPct val="110000"/>
              </a:lnSpc>
            </a:pPr>
            <a:r>
              <a:rPr lang="en-IN" sz="3600" b="1">
                <a:solidFill>
                  <a:srgbClr val="0B2340"/>
                </a:solidFill>
                <a:latin typeface="Georgia" panose="02040502050405020303" pitchFamily="18" charset="0"/>
              </a:rPr>
              <a:t>1,015</a:t>
            </a:r>
          </a:p>
        </p:txBody>
      </p:sp>
      <p:sp>
        <p:nvSpPr>
          <p:cNvPr id="14" name="TextBox 13">
            <a:extLst>
              <a:ext uri="{FF2B5EF4-FFF2-40B4-BE49-F238E27FC236}">
                <a16:creationId xmlns:a16="http://schemas.microsoft.com/office/drawing/2014/main" id="{7BC2DC80-EE0C-0D95-C4F4-E288CFC9CF61}"/>
              </a:ext>
            </a:extLst>
          </p:cNvPr>
          <p:cNvSpPr txBox="1"/>
          <p:nvPr/>
        </p:nvSpPr>
        <p:spPr>
          <a:xfrm>
            <a:off x="863600" y="2794000"/>
            <a:ext cx="2032000" cy="369332"/>
          </a:xfrm>
          <a:prstGeom prst="rect">
            <a:avLst/>
          </a:prstGeom>
          <a:noFill/>
        </p:spPr>
        <p:txBody>
          <a:bodyPr vert="horz" wrap="square" lIns="0" tIns="0" rIns="0" bIns="0" rtlCol="0">
            <a:noAutofit/>
          </a:bodyPr>
          <a:lstStyle/>
          <a:p>
            <a:pPr>
              <a:lnSpc>
                <a:spcPct val="110000"/>
              </a:lnSpc>
            </a:pPr>
            <a:r>
              <a:rPr lang="en-IN" sz="1400">
                <a:solidFill>
                  <a:srgbClr val="3E5670"/>
                </a:solidFill>
                <a:latin typeface="Segoe UI" panose="020B0502040204020203" pitchFamily="34" charset="0"/>
              </a:rPr>
              <a:t>raw rows</a:t>
            </a:r>
          </a:p>
        </p:txBody>
      </p:sp>
      <p:sp>
        <p:nvSpPr>
          <p:cNvPr id="15" name="Arrow: Right 14">
            <a:extLst>
              <a:ext uri="{FF2B5EF4-FFF2-40B4-BE49-F238E27FC236}">
                <a16:creationId xmlns:a16="http://schemas.microsoft.com/office/drawing/2014/main" id="{7BCE2CEA-02BF-0F7A-1ED5-FF36786B4741}"/>
              </a:ext>
            </a:extLst>
          </p:cNvPr>
          <p:cNvSpPr/>
          <p:nvPr/>
        </p:nvSpPr>
        <p:spPr>
          <a:xfrm>
            <a:off x="3098800" y="2476500"/>
            <a:ext cx="279400" cy="254000"/>
          </a:xfrm>
          <a:prstGeom prst="rightArrow">
            <a:avLst/>
          </a:prstGeom>
          <a:solidFill>
            <a:srgbClr val="54ACB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A123746A-87C1-E6C1-E18C-26C4F5463447}"/>
              </a:ext>
            </a:extLst>
          </p:cNvPr>
          <p:cNvSpPr/>
          <p:nvPr/>
        </p:nvSpPr>
        <p:spPr>
          <a:xfrm>
            <a:off x="3429000" y="1905000"/>
            <a:ext cx="2413000" cy="13970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C0B6FA21-6D84-D752-DFC6-4B9196FC4976}"/>
              </a:ext>
            </a:extLst>
          </p:cNvPr>
          <p:cNvSpPr txBox="1"/>
          <p:nvPr/>
        </p:nvSpPr>
        <p:spPr>
          <a:xfrm>
            <a:off x="3683000" y="2108200"/>
            <a:ext cx="2032000" cy="369332"/>
          </a:xfrm>
          <a:prstGeom prst="rect">
            <a:avLst/>
          </a:prstGeom>
          <a:noFill/>
        </p:spPr>
        <p:txBody>
          <a:bodyPr vert="horz" wrap="square" lIns="0" tIns="0" rIns="0" bIns="0" rtlCol="0">
            <a:noAutofit/>
          </a:bodyPr>
          <a:lstStyle/>
          <a:p>
            <a:pPr>
              <a:lnSpc>
                <a:spcPct val="110000"/>
              </a:lnSpc>
            </a:pPr>
            <a:r>
              <a:rPr lang="en-IN" sz="3600" b="1">
                <a:solidFill>
                  <a:srgbClr val="C9304D"/>
                </a:solidFill>
                <a:latin typeface="Georgia" panose="02040502050405020303" pitchFamily="18" charset="0"/>
              </a:rPr>
              <a:t>−15</a:t>
            </a:r>
          </a:p>
        </p:txBody>
      </p:sp>
      <p:sp>
        <p:nvSpPr>
          <p:cNvPr id="18" name="TextBox 17">
            <a:extLst>
              <a:ext uri="{FF2B5EF4-FFF2-40B4-BE49-F238E27FC236}">
                <a16:creationId xmlns:a16="http://schemas.microsoft.com/office/drawing/2014/main" id="{E821C7CD-8712-1728-9D6C-2E86A1D6E5CA}"/>
              </a:ext>
            </a:extLst>
          </p:cNvPr>
          <p:cNvSpPr txBox="1"/>
          <p:nvPr/>
        </p:nvSpPr>
        <p:spPr>
          <a:xfrm>
            <a:off x="3683000" y="2794000"/>
            <a:ext cx="2032000" cy="369332"/>
          </a:xfrm>
          <a:prstGeom prst="rect">
            <a:avLst/>
          </a:prstGeom>
          <a:noFill/>
        </p:spPr>
        <p:txBody>
          <a:bodyPr vert="horz" wrap="square" lIns="0" tIns="0" rIns="0" bIns="0" rtlCol="0">
            <a:noAutofit/>
          </a:bodyPr>
          <a:lstStyle/>
          <a:p>
            <a:pPr>
              <a:lnSpc>
                <a:spcPct val="110000"/>
              </a:lnSpc>
            </a:pPr>
            <a:r>
              <a:rPr lang="en-IN" sz="1400">
                <a:solidFill>
                  <a:srgbClr val="3E5670"/>
                </a:solidFill>
                <a:latin typeface="Segoe UI" panose="020B0502040204020203" pitchFamily="34" charset="0"/>
              </a:rPr>
              <a:t>duplicate rows</a:t>
            </a:r>
          </a:p>
        </p:txBody>
      </p:sp>
      <p:sp>
        <p:nvSpPr>
          <p:cNvPr id="19" name="Arrow: Right 18">
            <a:extLst>
              <a:ext uri="{FF2B5EF4-FFF2-40B4-BE49-F238E27FC236}">
                <a16:creationId xmlns:a16="http://schemas.microsoft.com/office/drawing/2014/main" id="{0792BD81-F7C2-7184-827C-AF3E5426BB3E}"/>
              </a:ext>
            </a:extLst>
          </p:cNvPr>
          <p:cNvSpPr/>
          <p:nvPr/>
        </p:nvSpPr>
        <p:spPr>
          <a:xfrm>
            <a:off x="5918200" y="2476500"/>
            <a:ext cx="279400" cy="254000"/>
          </a:xfrm>
          <a:prstGeom prst="rightArrow">
            <a:avLst/>
          </a:prstGeom>
          <a:solidFill>
            <a:srgbClr val="54ACB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62E260B7-EE69-349A-9C66-A582105DE8E1}"/>
              </a:ext>
            </a:extLst>
          </p:cNvPr>
          <p:cNvSpPr/>
          <p:nvPr/>
        </p:nvSpPr>
        <p:spPr>
          <a:xfrm>
            <a:off x="6248400" y="1905000"/>
            <a:ext cx="2413000" cy="13970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AFECE140-F773-2D57-56A5-C14295FDB165}"/>
              </a:ext>
            </a:extLst>
          </p:cNvPr>
          <p:cNvSpPr txBox="1"/>
          <p:nvPr/>
        </p:nvSpPr>
        <p:spPr>
          <a:xfrm>
            <a:off x="6502400" y="2108200"/>
            <a:ext cx="2032000" cy="369332"/>
          </a:xfrm>
          <a:prstGeom prst="rect">
            <a:avLst/>
          </a:prstGeom>
          <a:noFill/>
        </p:spPr>
        <p:txBody>
          <a:bodyPr vert="horz" wrap="square" lIns="0" tIns="0" rIns="0" bIns="0" rtlCol="0">
            <a:noAutofit/>
          </a:bodyPr>
          <a:lstStyle/>
          <a:p>
            <a:pPr>
              <a:lnSpc>
                <a:spcPct val="110000"/>
              </a:lnSpc>
            </a:pPr>
            <a:r>
              <a:rPr lang="en-IN" sz="3600" b="1">
                <a:solidFill>
                  <a:srgbClr val="C9304D"/>
                </a:solidFill>
                <a:latin typeface="Georgia" panose="02040502050405020303" pitchFamily="18" charset="0"/>
              </a:rPr>
              <a:t>−8</a:t>
            </a:r>
          </a:p>
        </p:txBody>
      </p:sp>
      <p:sp>
        <p:nvSpPr>
          <p:cNvPr id="22" name="TextBox 21">
            <a:extLst>
              <a:ext uri="{FF2B5EF4-FFF2-40B4-BE49-F238E27FC236}">
                <a16:creationId xmlns:a16="http://schemas.microsoft.com/office/drawing/2014/main" id="{E99B1EFF-9D25-B7ED-A580-70CA4B6F27E5}"/>
              </a:ext>
            </a:extLst>
          </p:cNvPr>
          <p:cNvSpPr txBox="1"/>
          <p:nvPr/>
        </p:nvSpPr>
        <p:spPr>
          <a:xfrm>
            <a:off x="6502400" y="2794000"/>
            <a:ext cx="2032000" cy="369332"/>
          </a:xfrm>
          <a:prstGeom prst="rect">
            <a:avLst/>
          </a:prstGeom>
          <a:noFill/>
        </p:spPr>
        <p:txBody>
          <a:bodyPr vert="horz" wrap="square" lIns="0" tIns="0" rIns="0" bIns="0" rtlCol="0">
            <a:noAutofit/>
          </a:bodyPr>
          <a:lstStyle/>
          <a:p>
            <a:pPr>
              <a:lnSpc>
                <a:spcPct val="110000"/>
              </a:lnSpc>
            </a:pPr>
            <a:r>
              <a:rPr lang="en-IN" sz="1400">
                <a:solidFill>
                  <a:srgbClr val="3E5670"/>
                </a:solidFill>
                <a:latin typeface="Segoe UI" panose="020B0502040204020203" pitchFamily="34" charset="0"/>
              </a:rPr>
              <a:t>impossible values</a:t>
            </a:r>
          </a:p>
        </p:txBody>
      </p:sp>
      <p:sp>
        <p:nvSpPr>
          <p:cNvPr id="23" name="Arrow: Right 22">
            <a:extLst>
              <a:ext uri="{FF2B5EF4-FFF2-40B4-BE49-F238E27FC236}">
                <a16:creationId xmlns:a16="http://schemas.microsoft.com/office/drawing/2014/main" id="{E0EFBD59-D965-A5DF-4BF2-22145B61827E}"/>
              </a:ext>
            </a:extLst>
          </p:cNvPr>
          <p:cNvSpPr/>
          <p:nvPr/>
        </p:nvSpPr>
        <p:spPr>
          <a:xfrm>
            <a:off x="8737600" y="2476500"/>
            <a:ext cx="279400" cy="254000"/>
          </a:xfrm>
          <a:prstGeom prst="rightArrow">
            <a:avLst/>
          </a:prstGeom>
          <a:solidFill>
            <a:srgbClr val="54ACB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Rounded Corners 23">
            <a:extLst>
              <a:ext uri="{FF2B5EF4-FFF2-40B4-BE49-F238E27FC236}">
                <a16:creationId xmlns:a16="http://schemas.microsoft.com/office/drawing/2014/main" id="{4FEBBE90-8CDA-3B78-2BAD-9EF37E6A24F5}"/>
              </a:ext>
            </a:extLst>
          </p:cNvPr>
          <p:cNvSpPr/>
          <p:nvPr/>
        </p:nvSpPr>
        <p:spPr>
          <a:xfrm>
            <a:off x="9067800" y="1905000"/>
            <a:ext cx="2413000" cy="1397000"/>
          </a:xfrm>
          <a:prstGeom prst="roundRect">
            <a:avLst>
              <a:gd name="adj" fmla="val 8000"/>
            </a:avLst>
          </a:prstGeom>
          <a:solidFill>
            <a:srgbClr val="011C4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1A9BA7DC-5A06-1E63-6CA7-0B820DD7F6C2}"/>
              </a:ext>
            </a:extLst>
          </p:cNvPr>
          <p:cNvSpPr txBox="1"/>
          <p:nvPr/>
        </p:nvSpPr>
        <p:spPr>
          <a:xfrm>
            <a:off x="9321800" y="2108200"/>
            <a:ext cx="2032000" cy="369332"/>
          </a:xfrm>
          <a:prstGeom prst="rect">
            <a:avLst/>
          </a:prstGeom>
          <a:noFill/>
        </p:spPr>
        <p:txBody>
          <a:bodyPr vert="horz" wrap="square" lIns="0" tIns="0" rIns="0" bIns="0" rtlCol="0">
            <a:noAutofit/>
          </a:bodyPr>
          <a:lstStyle/>
          <a:p>
            <a:pPr>
              <a:lnSpc>
                <a:spcPct val="110000"/>
              </a:lnSpc>
            </a:pPr>
            <a:r>
              <a:rPr lang="en-IN" sz="3600" b="1">
                <a:solidFill>
                  <a:srgbClr val="A7EBF2"/>
                </a:solidFill>
                <a:latin typeface="Georgia" panose="02040502050405020303" pitchFamily="18" charset="0"/>
              </a:rPr>
              <a:t>992</a:t>
            </a:r>
          </a:p>
        </p:txBody>
      </p:sp>
      <p:sp>
        <p:nvSpPr>
          <p:cNvPr id="26" name="TextBox 25">
            <a:extLst>
              <a:ext uri="{FF2B5EF4-FFF2-40B4-BE49-F238E27FC236}">
                <a16:creationId xmlns:a16="http://schemas.microsoft.com/office/drawing/2014/main" id="{FB888F3E-36C5-6B53-702A-972898A783E6}"/>
              </a:ext>
            </a:extLst>
          </p:cNvPr>
          <p:cNvSpPr txBox="1"/>
          <p:nvPr/>
        </p:nvSpPr>
        <p:spPr>
          <a:xfrm>
            <a:off x="9321800" y="2794000"/>
            <a:ext cx="2032000" cy="369332"/>
          </a:xfrm>
          <a:prstGeom prst="rect">
            <a:avLst/>
          </a:prstGeom>
          <a:noFill/>
        </p:spPr>
        <p:txBody>
          <a:bodyPr vert="horz" wrap="square" lIns="0" tIns="0" rIns="0" bIns="0" rtlCol="0">
            <a:noAutofit/>
          </a:bodyPr>
          <a:lstStyle/>
          <a:p>
            <a:pPr>
              <a:lnSpc>
                <a:spcPct val="110000"/>
              </a:lnSpc>
            </a:pPr>
            <a:r>
              <a:rPr lang="en-IN" sz="1400">
                <a:solidFill>
                  <a:srgbClr val="B8D3DE"/>
                </a:solidFill>
                <a:latin typeface="Segoe UI" panose="020B0502040204020203" pitchFamily="34" charset="0"/>
              </a:rPr>
              <a:t>clean rows</a:t>
            </a:r>
          </a:p>
        </p:txBody>
      </p:sp>
      <p:sp>
        <p:nvSpPr>
          <p:cNvPr id="27" name="Rectangle 26">
            <a:extLst>
              <a:ext uri="{FF2B5EF4-FFF2-40B4-BE49-F238E27FC236}">
                <a16:creationId xmlns:a16="http://schemas.microsoft.com/office/drawing/2014/main" id="{9D065599-DB1F-1B0B-7FB6-50AF9198E1C7}"/>
              </a:ext>
            </a:extLst>
          </p:cNvPr>
          <p:cNvSpPr/>
          <p:nvPr/>
        </p:nvSpPr>
        <p:spPr>
          <a:xfrm>
            <a:off x="609600" y="3810000"/>
            <a:ext cx="50800" cy="1143000"/>
          </a:xfrm>
          <a:prstGeom prst="rect">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Box 27">
            <a:extLst>
              <a:ext uri="{FF2B5EF4-FFF2-40B4-BE49-F238E27FC236}">
                <a16:creationId xmlns:a16="http://schemas.microsoft.com/office/drawing/2014/main" id="{9B0480CD-398E-93FC-DE10-7C53EBC03C32}"/>
              </a:ext>
            </a:extLst>
          </p:cNvPr>
          <p:cNvSpPr txBox="1"/>
          <p:nvPr/>
        </p:nvSpPr>
        <p:spPr>
          <a:xfrm>
            <a:off x="812800" y="3835400"/>
            <a:ext cx="3302000" cy="369332"/>
          </a:xfrm>
          <a:prstGeom prst="rect">
            <a:avLst/>
          </a:prstGeom>
          <a:noFill/>
        </p:spPr>
        <p:txBody>
          <a:bodyPr vert="horz" wrap="square" lIns="0" tIns="0" rIns="0" bIns="0" rtlCol="0">
            <a:noAutofit/>
          </a:bodyPr>
          <a:lstStyle/>
          <a:p>
            <a:pPr>
              <a:lnSpc>
                <a:spcPct val="110000"/>
              </a:lnSpc>
            </a:pPr>
            <a:r>
              <a:rPr lang="en-IN" sz="1700">
                <a:solidFill>
                  <a:srgbClr val="0B2340"/>
                </a:solidFill>
                <a:latin typeface="Segoe UI Semibold" panose="020B0702040204020203" pitchFamily="34" charset="0"/>
              </a:rPr>
              <a:t>79 gaps filled</a:t>
            </a:r>
          </a:p>
        </p:txBody>
      </p:sp>
      <p:sp>
        <p:nvSpPr>
          <p:cNvPr id="29" name="TextBox 28">
            <a:extLst>
              <a:ext uri="{FF2B5EF4-FFF2-40B4-BE49-F238E27FC236}">
                <a16:creationId xmlns:a16="http://schemas.microsoft.com/office/drawing/2014/main" id="{74D79832-7982-E83E-9730-144288FAED96}"/>
              </a:ext>
            </a:extLst>
          </p:cNvPr>
          <p:cNvSpPr txBox="1"/>
          <p:nvPr/>
        </p:nvSpPr>
        <p:spPr>
          <a:xfrm>
            <a:off x="812800" y="4191000"/>
            <a:ext cx="3302000" cy="369332"/>
          </a:xfrm>
          <a:prstGeom prst="rect">
            <a:avLst/>
          </a:prstGeom>
          <a:noFill/>
        </p:spPr>
        <p:txBody>
          <a:bodyPr vert="horz" wrap="square" lIns="0" tIns="0" rIns="0" bIns="0" rtlCol="0">
            <a:noAutofit/>
          </a:bodyPr>
          <a:lstStyle/>
          <a:p>
            <a:pPr>
              <a:lnSpc>
                <a:spcPct val="110000"/>
              </a:lnSpc>
            </a:pPr>
            <a:r>
              <a:rPr lang="en-US" sz="1400">
                <a:solidFill>
                  <a:srgbClr val="3E5670"/>
                </a:solidFill>
                <a:latin typeface="Segoe UI" panose="020B0502040204020203" pitchFamily="34" charset="0"/>
              </a:rPr>
              <a:t>Median for numbers, most common value for categories</a:t>
            </a:r>
            <a:endParaRPr lang="en-IN" sz="1400">
              <a:solidFill>
                <a:srgbClr val="3E5670"/>
              </a:solidFill>
              <a:latin typeface="Segoe UI" panose="020B0502040204020203" pitchFamily="34" charset="0"/>
            </a:endParaRPr>
          </a:p>
        </p:txBody>
      </p:sp>
      <p:sp>
        <p:nvSpPr>
          <p:cNvPr id="30" name="Rectangle 29">
            <a:extLst>
              <a:ext uri="{FF2B5EF4-FFF2-40B4-BE49-F238E27FC236}">
                <a16:creationId xmlns:a16="http://schemas.microsoft.com/office/drawing/2014/main" id="{43CB2444-17AA-680E-59AA-9747B84B1FE0}"/>
              </a:ext>
            </a:extLst>
          </p:cNvPr>
          <p:cNvSpPr/>
          <p:nvPr/>
        </p:nvSpPr>
        <p:spPr>
          <a:xfrm>
            <a:off x="4318000" y="3810000"/>
            <a:ext cx="50800" cy="1143000"/>
          </a:xfrm>
          <a:prstGeom prst="rect">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a:extLst>
              <a:ext uri="{FF2B5EF4-FFF2-40B4-BE49-F238E27FC236}">
                <a16:creationId xmlns:a16="http://schemas.microsoft.com/office/drawing/2014/main" id="{370D131B-ACCD-9153-536C-D49B5155A0ED}"/>
              </a:ext>
            </a:extLst>
          </p:cNvPr>
          <p:cNvSpPr txBox="1"/>
          <p:nvPr/>
        </p:nvSpPr>
        <p:spPr>
          <a:xfrm>
            <a:off x="4521200" y="3835400"/>
            <a:ext cx="3302000" cy="369332"/>
          </a:xfrm>
          <a:prstGeom prst="rect">
            <a:avLst/>
          </a:prstGeom>
          <a:noFill/>
        </p:spPr>
        <p:txBody>
          <a:bodyPr vert="horz" wrap="square" lIns="0" tIns="0" rIns="0" bIns="0" rtlCol="0">
            <a:noAutofit/>
          </a:bodyPr>
          <a:lstStyle/>
          <a:p>
            <a:pPr>
              <a:lnSpc>
                <a:spcPct val="110000"/>
              </a:lnSpc>
            </a:pPr>
            <a:r>
              <a:rPr lang="en-IN" sz="1700">
                <a:solidFill>
                  <a:srgbClr val="0B2340"/>
                </a:solidFill>
                <a:latin typeface="Segoe UI Semibold" panose="020B0702040204020203" pitchFamily="34" charset="0"/>
              </a:rPr>
              <a:t>3 columns encoded</a:t>
            </a:r>
          </a:p>
        </p:txBody>
      </p:sp>
      <p:sp>
        <p:nvSpPr>
          <p:cNvPr id="32" name="TextBox 31">
            <a:extLst>
              <a:ext uri="{FF2B5EF4-FFF2-40B4-BE49-F238E27FC236}">
                <a16:creationId xmlns:a16="http://schemas.microsoft.com/office/drawing/2014/main" id="{EF7BB5B6-B8FE-D10C-CB42-3A2BA0634979}"/>
              </a:ext>
            </a:extLst>
          </p:cNvPr>
          <p:cNvSpPr txBox="1"/>
          <p:nvPr/>
        </p:nvSpPr>
        <p:spPr>
          <a:xfrm>
            <a:off x="4521200" y="4191000"/>
            <a:ext cx="3302000" cy="369332"/>
          </a:xfrm>
          <a:prstGeom prst="rect">
            <a:avLst/>
          </a:prstGeom>
          <a:noFill/>
        </p:spPr>
        <p:txBody>
          <a:bodyPr vert="horz" wrap="square" lIns="0" tIns="0" rIns="0" bIns="0" rtlCol="0">
            <a:noAutofit/>
          </a:bodyPr>
          <a:lstStyle/>
          <a:p>
            <a:pPr>
              <a:lnSpc>
                <a:spcPct val="110000"/>
              </a:lnSpc>
            </a:pPr>
            <a:r>
              <a:rPr lang="en-US" sz="1400">
                <a:solidFill>
                  <a:srgbClr val="3E5670"/>
                </a:solidFill>
                <a:latin typeface="Segoe UI" panose="020B0502040204020203" pitchFamily="34" charset="0"/>
              </a:rPr>
              <a:t>yes/no and gender turned into 0/1</a:t>
            </a:r>
            <a:endParaRPr lang="en-IN" sz="1400">
              <a:solidFill>
                <a:srgbClr val="3E5670"/>
              </a:solidFill>
              <a:latin typeface="Segoe UI" panose="020B0502040204020203" pitchFamily="34" charset="0"/>
            </a:endParaRPr>
          </a:p>
        </p:txBody>
      </p:sp>
      <p:sp>
        <p:nvSpPr>
          <p:cNvPr id="33" name="Rectangle 32">
            <a:extLst>
              <a:ext uri="{FF2B5EF4-FFF2-40B4-BE49-F238E27FC236}">
                <a16:creationId xmlns:a16="http://schemas.microsoft.com/office/drawing/2014/main" id="{24FCA3A8-5DE5-6DA9-410F-01BCE1AE53B9}"/>
              </a:ext>
            </a:extLst>
          </p:cNvPr>
          <p:cNvSpPr/>
          <p:nvPr/>
        </p:nvSpPr>
        <p:spPr>
          <a:xfrm>
            <a:off x="8026400" y="3810000"/>
            <a:ext cx="50800" cy="1143000"/>
          </a:xfrm>
          <a:prstGeom prst="rect">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TextBox 33">
            <a:extLst>
              <a:ext uri="{FF2B5EF4-FFF2-40B4-BE49-F238E27FC236}">
                <a16:creationId xmlns:a16="http://schemas.microsoft.com/office/drawing/2014/main" id="{4BA21244-4609-B873-D197-1DC46A031D57}"/>
              </a:ext>
            </a:extLst>
          </p:cNvPr>
          <p:cNvSpPr txBox="1"/>
          <p:nvPr/>
        </p:nvSpPr>
        <p:spPr>
          <a:xfrm>
            <a:off x="8229600" y="3835400"/>
            <a:ext cx="3302000" cy="369332"/>
          </a:xfrm>
          <a:prstGeom prst="rect">
            <a:avLst/>
          </a:prstGeom>
          <a:noFill/>
        </p:spPr>
        <p:txBody>
          <a:bodyPr vert="horz" wrap="square" lIns="0" tIns="0" rIns="0" bIns="0" rtlCol="0">
            <a:noAutofit/>
          </a:bodyPr>
          <a:lstStyle/>
          <a:p>
            <a:pPr>
              <a:lnSpc>
                <a:spcPct val="110000"/>
              </a:lnSpc>
            </a:pPr>
            <a:r>
              <a:rPr lang="en-IN" sz="1700">
                <a:solidFill>
                  <a:srgbClr val="0B2340"/>
                </a:solidFill>
                <a:latin typeface="Segoe UI Semibold" panose="020B0702040204020203" pitchFamily="34" charset="0"/>
              </a:rPr>
              <a:t>Scaled when needed</a:t>
            </a:r>
          </a:p>
        </p:txBody>
      </p:sp>
      <p:sp>
        <p:nvSpPr>
          <p:cNvPr id="35" name="TextBox 34">
            <a:extLst>
              <a:ext uri="{FF2B5EF4-FFF2-40B4-BE49-F238E27FC236}">
                <a16:creationId xmlns:a16="http://schemas.microsoft.com/office/drawing/2014/main" id="{735E6C96-3DD8-6CDB-AB57-E8FE23350441}"/>
              </a:ext>
            </a:extLst>
          </p:cNvPr>
          <p:cNvSpPr txBox="1"/>
          <p:nvPr/>
        </p:nvSpPr>
        <p:spPr>
          <a:xfrm>
            <a:off x="8229600" y="4191000"/>
            <a:ext cx="3302000" cy="369332"/>
          </a:xfrm>
          <a:prstGeom prst="rect">
            <a:avLst/>
          </a:prstGeom>
          <a:noFill/>
        </p:spPr>
        <p:txBody>
          <a:bodyPr vert="horz" wrap="square" lIns="0" tIns="0" rIns="0" bIns="0" rtlCol="0">
            <a:noAutofit/>
          </a:bodyPr>
          <a:lstStyle/>
          <a:p>
            <a:pPr>
              <a:lnSpc>
                <a:spcPct val="110000"/>
              </a:lnSpc>
            </a:pPr>
            <a:r>
              <a:rPr lang="en-US" sz="1400">
                <a:solidFill>
                  <a:srgbClr val="3E5670"/>
                </a:solidFill>
                <a:latin typeface="Segoe UI" panose="020B0502040204020203" pitchFamily="34" charset="0"/>
              </a:rPr>
              <a:t>StandardScaler for Linear Regression only</a:t>
            </a:r>
            <a:endParaRPr lang="en-IN" sz="1400">
              <a:solidFill>
                <a:srgbClr val="3E5670"/>
              </a:solidFill>
              <a:latin typeface="Segoe UI" panose="020B0502040204020203" pitchFamily="34" charset="0"/>
            </a:endParaRPr>
          </a:p>
        </p:txBody>
      </p:sp>
    </p:spTree>
    <p:extLst>
      <p:ext uri="{BB962C8B-B14F-4D97-AF65-F5344CB8AC3E}">
        <p14:creationId xmlns:p14="http://schemas.microsoft.com/office/powerpoint/2010/main" val="2664553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8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731693-4A53-52CC-3216-DCBFB352D31B}"/>
              </a:ext>
            </a:extLst>
          </p:cNvPr>
          <p:cNvSpPr txBox="1"/>
          <p:nvPr/>
        </p:nvSpPr>
        <p:spPr>
          <a:xfrm>
            <a:off x="6096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Introduction</a:t>
            </a:r>
          </a:p>
        </p:txBody>
      </p:sp>
      <p:sp>
        <p:nvSpPr>
          <p:cNvPr id="3" name="TextBox 2">
            <a:extLst>
              <a:ext uri="{FF2B5EF4-FFF2-40B4-BE49-F238E27FC236}">
                <a16:creationId xmlns:a16="http://schemas.microsoft.com/office/drawing/2014/main" id="{D9D33991-FFD7-16C8-9917-54593B5CC2C4}"/>
              </a:ext>
            </a:extLst>
          </p:cNvPr>
          <p:cNvSpPr txBox="1"/>
          <p:nvPr/>
        </p:nvSpPr>
        <p:spPr>
          <a:xfrm>
            <a:off x="28067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Data &amp; Methodology</a:t>
            </a:r>
          </a:p>
        </p:txBody>
      </p:sp>
      <p:sp>
        <p:nvSpPr>
          <p:cNvPr id="4" name="Rectangle: Rounded Corners 3">
            <a:extLst>
              <a:ext uri="{FF2B5EF4-FFF2-40B4-BE49-F238E27FC236}">
                <a16:creationId xmlns:a16="http://schemas.microsoft.com/office/drawing/2014/main" id="{F0FD2F8E-1051-4B85-FE2B-20C031A86E38}"/>
              </a:ext>
            </a:extLst>
          </p:cNvPr>
          <p:cNvSpPr/>
          <p:nvPr/>
        </p:nvSpPr>
        <p:spPr>
          <a:xfrm>
            <a:off x="5003800" y="203200"/>
            <a:ext cx="2032000" cy="279400"/>
          </a:xfrm>
          <a:prstGeom prst="roundRect">
            <a:avLst>
              <a:gd name="adj" fmla="val 50000"/>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3D32EA58-21FE-5B94-50DB-6A98AA1D2F43}"/>
              </a:ext>
            </a:extLst>
          </p:cNvPr>
          <p:cNvSpPr txBox="1"/>
          <p:nvPr/>
        </p:nvSpPr>
        <p:spPr>
          <a:xfrm>
            <a:off x="50038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FFFFFF"/>
                </a:solidFill>
                <a:latin typeface="Segoe UI Semibold" panose="020B0702040204020203" pitchFamily="34" charset="0"/>
              </a:rPr>
              <a:t>Preprocessing &amp; EDA</a:t>
            </a:r>
          </a:p>
        </p:txBody>
      </p:sp>
      <p:sp>
        <p:nvSpPr>
          <p:cNvPr id="6" name="TextBox 5">
            <a:extLst>
              <a:ext uri="{FF2B5EF4-FFF2-40B4-BE49-F238E27FC236}">
                <a16:creationId xmlns:a16="http://schemas.microsoft.com/office/drawing/2014/main" id="{40609263-7600-F358-1CC9-E7C440212B37}"/>
              </a:ext>
            </a:extLst>
          </p:cNvPr>
          <p:cNvSpPr txBox="1"/>
          <p:nvPr/>
        </p:nvSpPr>
        <p:spPr>
          <a:xfrm>
            <a:off x="72009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Models &amp; Results</a:t>
            </a:r>
          </a:p>
        </p:txBody>
      </p:sp>
      <p:sp>
        <p:nvSpPr>
          <p:cNvPr id="7" name="TextBox 6">
            <a:extLst>
              <a:ext uri="{FF2B5EF4-FFF2-40B4-BE49-F238E27FC236}">
                <a16:creationId xmlns:a16="http://schemas.microsoft.com/office/drawing/2014/main" id="{7952FA51-443C-D183-6885-D66171193B04}"/>
              </a:ext>
            </a:extLst>
          </p:cNvPr>
          <p:cNvSpPr txBox="1"/>
          <p:nvPr/>
        </p:nvSpPr>
        <p:spPr>
          <a:xfrm>
            <a:off x="93980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Demo &amp; Conclusion</a:t>
            </a:r>
          </a:p>
        </p:txBody>
      </p:sp>
      <p:sp>
        <p:nvSpPr>
          <p:cNvPr id="8" name="TextBox 7">
            <a:extLst>
              <a:ext uri="{FF2B5EF4-FFF2-40B4-BE49-F238E27FC236}">
                <a16:creationId xmlns:a16="http://schemas.microsoft.com/office/drawing/2014/main" id="{06C1E4B9-9A28-0B2C-0CD1-7A779F436785}"/>
              </a:ext>
            </a:extLst>
          </p:cNvPr>
          <p:cNvSpPr txBox="1"/>
          <p:nvPr/>
        </p:nvSpPr>
        <p:spPr>
          <a:xfrm>
            <a:off x="609600" y="736600"/>
            <a:ext cx="8890000" cy="369332"/>
          </a:xfrm>
          <a:prstGeom prst="rect">
            <a:avLst/>
          </a:prstGeom>
          <a:noFill/>
        </p:spPr>
        <p:txBody>
          <a:bodyPr vert="horz" wrap="square" lIns="0" tIns="0" rIns="0" bIns="0" rtlCol="0">
            <a:noAutofit/>
          </a:bodyPr>
          <a:lstStyle/>
          <a:p>
            <a:pPr>
              <a:lnSpc>
                <a:spcPct val="110000"/>
              </a:lnSpc>
            </a:pPr>
            <a:r>
              <a:rPr lang="en-IN" sz="1100">
                <a:solidFill>
                  <a:srgbClr val="26658C"/>
                </a:solidFill>
                <a:latin typeface="Segoe UI Semibold" panose="020B0702040204020203" pitchFamily="34" charset="0"/>
              </a:rPr>
              <a:t>EXPLORATORY DATA ANALYSIS</a:t>
            </a:r>
          </a:p>
        </p:txBody>
      </p:sp>
      <p:sp>
        <p:nvSpPr>
          <p:cNvPr id="9" name="TextBox 8">
            <a:extLst>
              <a:ext uri="{FF2B5EF4-FFF2-40B4-BE49-F238E27FC236}">
                <a16:creationId xmlns:a16="http://schemas.microsoft.com/office/drawing/2014/main" id="{B72D20DC-D582-ECE3-5131-D93B744ACE88}"/>
              </a:ext>
            </a:extLst>
          </p:cNvPr>
          <p:cNvSpPr txBox="1"/>
          <p:nvPr/>
        </p:nvSpPr>
        <p:spPr>
          <a:xfrm>
            <a:off x="609600" y="965200"/>
            <a:ext cx="10972800" cy="369332"/>
          </a:xfrm>
          <a:prstGeom prst="rect">
            <a:avLst/>
          </a:prstGeom>
          <a:noFill/>
        </p:spPr>
        <p:txBody>
          <a:bodyPr vert="horz" wrap="square" lIns="0" tIns="0" rIns="0" bIns="0" rtlCol="0">
            <a:noAutofit/>
          </a:bodyPr>
          <a:lstStyle/>
          <a:p>
            <a:pPr>
              <a:lnSpc>
                <a:spcPct val="110000"/>
              </a:lnSpc>
            </a:pPr>
            <a:r>
              <a:rPr lang="en-US" sz="2600" b="1">
                <a:solidFill>
                  <a:srgbClr val="0B2340"/>
                </a:solidFill>
                <a:latin typeface="Georgia" panose="02040502050405020303" pitchFamily="18" charset="0"/>
              </a:rPr>
              <a:t>Internal marks track the final score most closely</a:t>
            </a:r>
            <a:endParaRPr lang="en-IN" sz="2600" b="1">
              <a:solidFill>
                <a:srgbClr val="0B2340"/>
              </a:solidFill>
              <a:latin typeface="Georgia" panose="02040502050405020303" pitchFamily="18" charset="0"/>
            </a:endParaRPr>
          </a:p>
        </p:txBody>
      </p:sp>
      <p:sp>
        <p:nvSpPr>
          <p:cNvPr id="10" name="TextBox 9">
            <a:extLst>
              <a:ext uri="{FF2B5EF4-FFF2-40B4-BE49-F238E27FC236}">
                <a16:creationId xmlns:a16="http://schemas.microsoft.com/office/drawing/2014/main" id="{95103004-9049-E0E3-0E00-0CE4D01C4D4D}"/>
              </a:ext>
            </a:extLst>
          </p:cNvPr>
          <p:cNvSpPr txBox="1"/>
          <p:nvPr/>
        </p:nvSpPr>
        <p:spPr>
          <a:xfrm>
            <a:off x="609600" y="6502400"/>
            <a:ext cx="7620000" cy="369332"/>
          </a:xfrm>
          <a:prstGeom prst="rect">
            <a:avLst/>
          </a:prstGeom>
          <a:noFill/>
        </p:spPr>
        <p:txBody>
          <a:bodyPr vert="horz" wrap="square" lIns="0" tIns="0" rIns="0" bIns="0" rtlCol="0">
            <a:noAutofit/>
          </a:bodyPr>
          <a:lstStyle/>
          <a:p>
            <a:pPr>
              <a:lnSpc>
                <a:spcPct val="110000"/>
              </a:lnSpc>
            </a:pPr>
            <a:r>
              <a:rPr lang="en-US" sz="900">
                <a:solidFill>
                  <a:srgbClr val="6B8296"/>
                </a:solidFill>
                <a:latin typeface="Segoe UI" panose="020B0502040204020203" pitchFamily="34" charset="0"/>
              </a:rPr>
              <a:t>Acadrix · Student Performance Prediction System</a:t>
            </a:r>
            <a:endParaRPr lang="en-IN" sz="900">
              <a:solidFill>
                <a:srgbClr val="6B8296"/>
              </a:solidFill>
              <a:latin typeface="Segoe UI" panose="020B0502040204020203" pitchFamily="34" charset="0"/>
            </a:endParaRPr>
          </a:p>
        </p:txBody>
      </p:sp>
      <p:sp>
        <p:nvSpPr>
          <p:cNvPr id="11" name="TextBox 10">
            <a:extLst>
              <a:ext uri="{FF2B5EF4-FFF2-40B4-BE49-F238E27FC236}">
                <a16:creationId xmlns:a16="http://schemas.microsoft.com/office/drawing/2014/main" id="{38FA5657-5F8F-9889-512F-EE09B9D5AF37}"/>
              </a:ext>
            </a:extLst>
          </p:cNvPr>
          <p:cNvSpPr txBox="1"/>
          <p:nvPr/>
        </p:nvSpPr>
        <p:spPr>
          <a:xfrm>
            <a:off x="10820400" y="6502400"/>
            <a:ext cx="762000" cy="369332"/>
          </a:xfrm>
          <a:prstGeom prst="rect">
            <a:avLst/>
          </a:prstGeom>
          <a:noFill/>
        </p:spPr>
        <p:txBody>
          <a:bodyPr vert="horz" wrap="square" lIns="0" tIns="0" rIns="0" bIns="0" rtlCol="0">
            <a:noAutofit/>
          </a:bodyPr>
          <a:lstStyle/>
          <a:p>
            <a:pPr algn="r">
              <a:lnSpc>
                <a:spcPct val="110000"/>
              </a:lnSpc>
            </a:pPr>
            <a:r>
              <a:rPr lang="en-IN" sz="900">
                <a:solidFill>
                  <a:srgbClr val="6B8296"/>
                </a:solidFill>
                <a:latin typeface="Segoe UI" panose="020B0502040204020203" pitchFamily="34" charset="0"/>
              </a:rPr>
              <a:t>08</a:t>
            </a:r>
          </a:p>
        </p:txBody>
      </p:sp>
      <p:sp>
        <p:nvSpPr>
          <p:cNvPr id="12" name="Rectangle: Rounded Corners 11">
            <a:extLst>
              <a:ext uri="{FF2B5EF4-FFF2-40B4-BE49-F238E27FC236}">
                <a16:creationId xmlns:a16="http://schemas.microsoft.com/office/drawing/2014/main" id="{292CA8BA-4108-B378-D170-3A0C38AD9C29}"/>
              </a:ext>
            </a:extLst>
          </p:cNvPr>
          <p:cNvSpPr/>
          <p:nvPr/>
        </p:nvSpPr>
        <p:spPr>
          <a:xfrm>
            <a:off x="609600" y="1727200"/>
            <a:ext cx="5384800" cy="36830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1F5E0FEE-C671-3364-7FFD-325E4BA25B2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36600" y="2102757"/>
            <a:ext cx="5130800" cy="2931886"/>
          </a:xfrm>
          <a:prstGeom prst="rect">
            <a:avLst/>
          </a:prstGeom>
        </p:spPr>
      </p:pic>
      <p:sp>
        <p:nvSpPr>
          <p:cNvPr id="15" name="Rectangle: Rounded Corners 14">
            <a:extLst>
              <a:ext uri="{FF2B5EF4-FFF2-40B4-BE49-F238E27FC236}">
                <a16:creationId xmlns:a16="http://schemas.microsoft.com/office/drawing/2014/main" id="{5D2A7EA6-DB08-62A4-F584-5F366720C015}"/>
              </a:ext>
            </a:extLst>
          </p:cNvPr>
          <p:cNvSpPr/>
          <p:nvPr/>
        </p:nvSpPr>
        <p:spPr>
          <a:xfrm>
            <a:off x="6197600" y="1727200"/>
            <a:ext cx="5384800" cy="36830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Picture 16">
            <a:extLst>
              <a:ext uri="{FF2B5EF4-FFF2-40B4-BE49-F238E27FC236}">
                <a16:creationId xmlns:a16="http://schemas.microsoft.com/office/drawing/2014/main" id="{C7C7723A-478D-F009-5552-D3C436EC963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779846" y="1854200"/>
            <a:ext cx="4220308" cy="3429000"/>
          </a:xfrm>
          <a:prstGeom prst="rect">
            <a:avLst/>
          </a:prstGeom>
        </p:spPr>
      </p:pic>
      <p:sp>
        <p:nvSpPr>
          <p:cNvPr id="18" name="TextBox 17">
            <a:extLst>
              <a:ext uri="{FF2B5EF4-FFF2-40B4-BE49-F238E27FC236}">
                <a16:creationId xmlns:a16="http://schemas.microsoft.com/office/drawing/2014/main" id="{013321E8-0F90-8AB6-66E9-89C5509661B8}"/>
              </a:ext>
            </a:extLst>
          </p:cNvPr>
          <p:cNvSpPr txBox="1"/>
          <p:nvPr/>
        </p:nvSpPr>
        <p:spPr>
          <a:xfrm>
            <a:off x="609600" y="5562600"/>
            <a:ext cx="5384800" cy="369332"/>
          </a:xfrm>
          <a:prstGeom prst="rect">
            <a:avLst/>
          </a:prstGeom>
          <a:noFill/>
        </p:spPr>
        <p:txBody>
          <a:bodyPr vert="horz" wrap="square" lIns="0" tIns="0" rIns="0" bIns="0" rtlCol="0">
            <a:noAutofit/>
          </a:bodyPr>
          <a:lstStyle/>
          <a:p>
            <a:pPr>
              <a:lnSpc>
                <a:spcPct val="110000"/>
              </a:lnSpc>
            </a:pPr>
            <a:r>
              <a:rPr lang="en-US" sz="1300" b="1">
                <a:solidFill>
                  <a:srgbClr val="3E5670"/>
                </a:solidFill>
                <a:latin typeface="Segoe UI" panose="020B0502040204020203" pitchFamily="34" charset="0"/>
              </a:rPr>
              <a:t>Univariate:</a:t>
            </a:r>
            <a:r>
              <a:rPr lang="en-US" sz="1300">
                <a:solidFill>
                  <a:srgbClr val="3E5670"/>
                </a:solidFill>
                <a:latin typeface="Segoe UI" panose="020B0502040204020203" pitchFamily="34" charset="0"/>
              </a:rPr>
              <a:t> scores average 66.6 (range 30–100); most students sit between 55 and 80.</a:t>
            </a:r>
            <a:endParaRPr lang="en-IN" sz="1300">
              <a:solidFill>
                <a:srgbClr val="3E5670"/>
              </a:solidFill>
              <a:latin typeface="Segoe UI" panose="020B0502040204020203" pitchFamily="34" charset="0"/>
            </a:endParaRPr>
          </a:p>
        </p:txBody>
      </p:sp>
      <p:sp>
        <p:nvSpPr>
          <p:cNvPr id="19" name="TextBox 18">
            <a:extLst>
              <a:ext uri="{FF2B5EF4-FFF2-40B4-BE49-F238E27FC236}">
                <a16:creationId xmlns:a16="http://schemas.microsoft.com/office/drawing/2014/main" id="{EAE6E2AF-3635-7A8E-C9FD-2914476B343D}"/>
              </a:ext>
            </a:extLst>
          </p:cNvPr>
          <p:cNvSpPr txBox="1"/>
          <p:nvPr/>
        </p:nvSpPr>
        <p:spPr>
          <a:xfrm>
            <a:off x="6197600" y="5562600"/>
            <a:ext cx="5384800" cy="369332"/>
          </a:xfrm>
          <a:prstGeom prst="rect">
            <a:avLst/>
          </a:prstGeom>
          <a:noFill/>
        </p:spPr>
        <p:txBody>
          <a:bodyPr vert="horz" wrap="square" lIns="0" tIns="0" rIns="0" bIns="0" rtlCol="0">
            <a:noAutofit/>
          </a:bodyPr>
          <a:lstStyle/>
          <a:p>
            <a:pPr>
              <a:lnSpc>
                <a:spcPct val="110000"/>
              </a:lnSpc>
            </a:pPr>
            <a:r>
              <a:rPr lang="en-US" sz="1300" b="1">
                <a:solidFill>
                  <a:srgbClr val="3E5670"/>
                </a:solidFill>
                <a:latin typeface="Segoe UI" panose="020B0502040204020203" pitchFamily="34" charset="0"/>
              </a:rPr>
              <a:t>Correlation:</a:t>
            </a:r>
            <a:r>
              <a:rPr lang="en-US" sz="1300">
                <a:solidFill>
                  <a:srgbClr val="3E5670"/>
                </a:solidFill>
                <a:latin typeface="Segoe UI" panose="020B0502040204020203" pitchFamily="34" charset="0"/>
              </a:rPr>
              <a:t> internal assessment r = 0.84; sleep, commute and gender all under 0.08.</a:t>
            </a:r>
            <a:endParaRPr lang="en-IN" sz="1300">
              <a:solidFill>
                <a:srgbClr val="3E5670"/>
              </a:solidFill>
              <a:latin typeface="Segoe UI" panose="020B0502040204020203" pitchFamily="34" charset="0"/>
            </a:endParaRPr>
          </a:p>
        </p:txBody>
      </p:sp>
    </p:spTree>
    <p:extLst>
      <p:ext uri="{BB962C8B-B14F-4D97-AF65-F5344CB8AC3E}">
        <p14:creationId xmlns:p14="http://schemas.microsoft.com/office/powerpoint/2010/main" val="678106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8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BC47-7C19-EAC3-33A3-B207C052B66E}"/>
              </a:ext>
            </a:extLst>
          </p:cNvPr>
          <p:cNvSpPr txBox="1"/>
          <p:nvPr/>
        </p:nvSpPr>
        <p:spPr>
          <a:xfrm>
            <a:off x="6096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Introduction</a:t>
            </a:r>
          </a:p>
        </p:txBody>
      </p:sp>
      <p:sp>
        <p:nvSpPr>
          <p:cNvPr id="3" name="TextBox 2">
            <a:extLst>
              <a:ext uri="{FF2B5EF4-FFF2-40B4-BE49-F238E27FC236}">
                <a16:creationId xmlns:a16="http://schemas.microsoft.com/office/drawing/2014/main" id="{F8796710-CECC-D9FB-8749-69C92D4D1AED}"/>
              </a:ext>
            </a:extLst>
          </p:cNvPr>
          <p:cNvSpPr txBox="1"/>
          <p:nvPr/>
        </p:nvSpPr>
        <p:spPr>
          <a:xfrm>
            <a:off x="28067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Data &amp; Methodology</a:t>
            </a:r>
          </a:p>
        </p:txBody>
      </p:sp>
      <p:sp>
        <p:nvSpPr>
          <p:cNvPr id="4" name="Rectangle: Rounded Corners 3">
            <a:extLst>
              <a:ext uri="{FF2B5EF4-FFF2-40B4-BE49-F238E27FC236}">
                <a16:creationId xmlns:a16="http://schemas.microsoft.com/office/drawing/2014/main" id="{B531A824-9F39-0BD7-569F-CA0E254E5AA6}"/>
              </a:ext>
            </a:extLst>
          </p:cNvPr>
          <p:cNvSpPr/>
          <p:nvPr/>
        </p:nvSpPr>
        <p:spPr>
          <a:xfrm>
            <a:off x="5003800" y="203200"/>
            <a:ext cx="2032000" cy="279400"/>
          </a:xfrm>
          <a:prstGeom prst="roundRect">
            <a:avLst>
              <a:gd name="adj" fmla="val 50000"/>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75D0FE84-7833-930C-060F-E644467ED3DD}"/>
              </a:ext>
            </a:extLst>
          </p:cNvPr>
          <p:cNvSpPr txBox="1"/>
          <p:nvPr/>
        </p:nvSpPr>
        <p:spPr>
          <a:xfrm>
            <a:off x="50038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FFFFFF"/>
                </a:solidFill>
                <a:latin typeface="Segoe UI Semibold" panose="020B0702040204020203" pitchFamily="34" charset="0"/>
              </a:rPr>
              <a:t>Preprocessing &amp; EDA</a:t>
            </a:r>
          </a:p>
        </p:txBody>
      </p:sp>
      <p:sp>
        <p:nvSpPr>
          <p:cNvPr id="6" name="TextBox 5">
            <a:extLst>
              <a:ext uri="{FF2B5EF4-FFF2-40B4-BE49-F238E27FC236}">
                <a16:creationId xmlns:a16="http://schemas.microsoft.com/office/drawing/2014/main" id="{6711A348-535D-AF14-1088-E045531B8997}"/>
              </a:ext>
            </a:extLst>
          </p:cNvPr>
          <p:cNvSpPr txBox="1"/>
          <p:nvPr/>
        </p:nvSpPr>
        <p:spPr>
          <a:xfrm>
            <a:off x="72009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Models &amp; Results</a:t>
            </a:r>
          </a:p>
        </p:txBody>
      </p:sp>
      <p:sp>
        <p:nvSpPr>
          <p:cNvPr id="7" name="TextBox 6">
            <a:extLst>
              <a:ext uri="{FF2B5EF4-FFF2-40B4-BE49-F238E27FC236}">
                <a16:creationId xmlns:a16="http://schemas.microsoft.com/office/drawing/2014/main" id="{AC4E7314-1D45-71EA-5EB6-7E1C23BE246B}"/>
              </a:ext>
            </a:extLst>
          </p:cNvPr>
          <p:cNvSpPr txBox="1"/>
          <p:nvPr/>
        </p:nvSpPr>
        <p:spPr>
          <a:xfrm>
            <a:off x="93980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Demo &amp; Conclusion</a:t>
            </a:r>
          </a:p>
        </p:txBody>
      </p:sp>
      <p:sp>
        <p:nvSpPr>
          <p:cNvPr id="8" name="TextBox 7">
            <a:extLst>
              <a:ext uri="{FF2B5EF4-FFF2-40B4-BE49-F238E27FC236}">
                <a16:creationId xmlns:a16="http://schemas.microsoft.com/office/drawing/2014/main" id="{DDED5C90-EB51-B507-8753-811D9B0E0234}"/>
              </a:ext>
            </a:extLst>
          </p:cNvPr>
          <p:cNvSpPr txBox="1"/>
          <p:nvPr/>
        </p:nvSpPr>
        <p:spPr>
          <a:xfrm>
            <a:off x="609600" y="736600"/>
            <a:ext cx="8890000" cy="369332"/>
          </a:xfrm>
          <a:prstGeom prst="rect">
            <a:avLst/>
          </a:prstGeom>
          <a:noFill/>
        </p:spPr>
        <p:txBody>
          <a:bodyPr vert="horz" wrap="square" lIns="0" tIns="0" rIns="0" bIns="0" rtlCol="0">
            <a:noAutofit/>
          </a:bodyPr>
          <a:lstStyle/>
          <a:p>
            <a:pPr>
              <a:lnSpc>
                <a:spcPct val="110000"/>
              </a:lnSpc>
            </a:pPr>
            <a:r>
              <a:rPr lang="en-IN" sz="1100">
                <a:solidFill>
                  <a:srgbClr val="26658C"/>
                </a:solidFill>
                <a:latin typeface="Segoe UI Semibold" panose="020B0702040204020203" pitchFamily="34" charset="0"/>
              </a:rPr>
              <a:t>FEATURE ENGINEERING AND SELECTION</a:t>
            </a:r>
          </a:p>
        </p:txBody>
      </p:sp>
      <p:sp>
        <p:nvSpPr>
          <p:cNvPr id="9" name="TextBox 8">
            <a:extLst>
              <a:ext uri="{FF2B5EF4-FFF2-40B4-BE49-F238E27FC236}">
                <a16:creationId xmlns:a16="http://schemas.microsoft.com/office/drawing/2014/main" id="{BCB3E81A-579D-C7C7-8779-CD8AFCA29BC8}"/>
              </a:ext>
            </a:extLst>
          </p:cNvPr>
          <p:cNvSpPr txBox="1"/>
          <p:nvPr/>
        </p:nvSpPr>
        <p:spPr>
          <a:xfrm>
            <a:off x="609600" y="965200"/>
            <a:ext cx="10972800" cy="369332"/>
          </a:xfrm>
          <a:prstGeom prst="rect">
            <a:avLst/>
          </a:prstGeom>
          <a:noFill/>
        </p:spPr>
        <p:txBody>
          <a:bodyPr vert="horz" wrap="square" lIns="0" tIns="0" rIns="0" bIns="0" rtlCol="0">
            <a:noAutofit/>
          </a:bodyPr>
          <a:lstStyle/>
          <a:p>
            <a:pPr>
              <a:lnSpc>
                <a:spcPct val="110000"/>
              </a:lnSpc>
            </a:pPr>
            <a:r>
              <a:rPr lang="en-US" sz="2600" b="1">
                <a:solidFill>
                  <a:srgbClr val="0B2340"/>
                </a:solidFill>
                <a:latin typeface="Georgia" panose="02040502050405020303" pitchFamily="18" charset="0"/>
              </a:rPr>
              <a:t>Five academic features kept, five lifestyle columns dropped</a:t>
            </a:r>
            <a:endParaRPr lang="en-IN" sz="2600" b="1">
              <a:solidFill>
                <a:srgbClr val="0B2340"/>
              </a:solidFill>
              <a:latin typeface="Georgia" panose="02040502050405020303" pitchFamily="18" charset="0"/>
            </a:endParaRPr>
          </a:p>
        </p:txBody>
      </p:sp>
      <p:sp>
        <p:nvSpPr>
          <p:cNvPr id="10" name="TextBox 9">
            <a:extLst>
              <a:ext uri="{FF2B5EF4-FFF2-40B4-BE49-F238E27FC236}">
                <a16:creationId xmlns:a16="http://schemas.microsoft.com/office/drawing/2014/main" id="{B4187E01-3C79-D9E3-73E1-153C3FF16600}"/>
              </a:ext>
            </a:extLst>
          </p:cNvPr>
          <p:cNvSpPr txBox="1"/>
          <p:nvPr/>
        </p:nvSpPr>
        <p:spPr>
          <a:xfrm>
            <a:off x="609600" y="6502400"/>
            <a:ext cx="7620000" cy="369332"/>
          </a:xfrm>
          <a:prstGeom prst="rect">
            <a:avLst/>
          </a:prstGeom>
          <a:noFill/>
        </p:spPr>
        <p:txBody>
          <a:bodyPr vert="horz" wrap="square" lIns="0" tIns="0" rIns="0" bIns="0" rtlCol="0">
            <a:noAutofit/>
          </a:bodyPr>
          <a:lstStyle/>
          <a:p>
            <a:pPr>
              <a:lnSpc>
                <a:spcPct val="110000"/>
              </a:lnSpc>
            </a:pPr>
            <a:r>
              <a:rPr lang="en-US" sz="900">
                <a:solidFill>
                  <a:srgbClr val="6B8296"/>
                </a:solidFill>
                <a:latin typeface="Segoe UI" panose="020B0502040204020203" pitchFamily="34" charset="0"/>
              </a:rPr>
              <a:t>Acadrix · Student Performance Prediction System</a:t>
            </a:r>
            <a:endParaRPr lang="en-IN" sz="900">
              <a:solidFill>
                <a:srgbClr val="6B8296"/>
              </a:solidFill>
              <a:latin typeface="Segoe UI" panose="020B0502040204020203" pitchFamily="34" charset="0"/>
            </a:endParaRPr>
          </a:p>
        </p:txBody>
      </p:sp>
      <p:sp>
        <p:nvSpPr>
          <p:cNvPr id="11" name="TextBox 10">
            <a:extLst>
              <a:ext uri="{FF2B5EF4-FFF2-40B4-BE49-F238E27FC236}">
                <a16:creationId xmlns:a16="http://schemas.microsoft.com/office/drawing/2014/main" id="{4E39E5AA-4A3A-CF5C-73F9-8CAB1C5A646D}"/>
              </a:ext>
            </a:extLst>
          </p:cNvPr>
          <p:cNvSpPr txBox="1"/>
          <p:nvPr/>
        </p:nvSpPr>
        <p:spPr>
          <a:xfrm>
            <a:off x="10820400" y="6502400"/>
            <a:ext cx="762000" cy="369332"/>
          </a:xfrm>
          <a:prstGeom prst="rect">
            <a:avLst/>
          </a:prstGeom>
          <a:noFill/>
        </p:spPr>
        <p:txBody>
          <a:bodyPr vert="horz" wrap="square" lIns="0" tIns="0" rIns="0" bIns="0" rtlCol="0">
            <a:noAutofit/>
          </a:bodyPr>
          <a:lstStyle/>
          <a:p>
            <a:pPr algn="r">
              <a:lnSpc>
                <a:spcPct val="110000"/>
              </a:lnSpc>
            </a:pPr>
            <a:r>
              <a:rPr lang="en-IN" sz="900">
                <a:solidFill>
                  <a:srgbClr val="6B8296"/>
                </a:solidFill>
                <a:latin typeface="Segoe UI" panose="020B0502040204020203" pitchFamily="34" charset="0"/>
              </a:rPr>
              <a:t>09</a:t>
            </a:r>
          </a:p>
        </p:txBody>
      </p:sp>
      <p:sp>
        <p:nvSpPr>
          <p:cNvPr id="12" name="TextBox 11">
            <a:extLst>
              <a:ext uri="{FF2B5EF4-FFF2-40B4-BE49-F238E27FC236}">
                <a16:creationId xmlns:a16="http://schemas.microsoft.com/office/drawing/2014/main" id="{1C68C6D2-C3C6-675A-984E-D18CAF3CA4A6}"/>
              </a:ext>
            </a:extLst>
          </p:cNvPr>
          <p:cNvSpPr txBox="1"/>
          <p:nvPr/>
        </p:nvSpPr>
        <p:spPr>
          <a:xfrm>
            <a:off x="609600" y="1701800"/>
            <a:ext cx="6604000" cy="369332"/>
          </a:xfrm>
          <a:prstGeom prst="rect">
            <a:avLst/>
          </a:prstGeom>
          <a:noFill/>
        </p:spPr>
        <p:txBody>
          <a:bodyPr vert="horz" wrap="square" lIns="0" tIns="0" rIns="0" bIns="0" rtlCol="0">
            <a:noAutofit/>
          </a:bodyPr>
          <a:lstStyle/>
          <a:p>
            <a:pPr>
              <a:lnSpc>
                <a:spcPct val="110000"/>
              </a:lnSpc>
            </a:pPr>
            <a:r>
              <a:rPr lang="en-US" sz="1100">
                <a:solidFill>
                  <a:srgbClr val="6B8296"/>
                </a:solidFill>
                <a:latin typeface="Segoe UI" panose="020B0502040204020203" pitchFamily="34" charset="0"/>
              </a:rPr>
              <a:t>Correlation with final score (r) · keep if r ≥ 0.15</a:t>
            </a:r>
            <a:endParaRPr lang="en-IN" sz="1100">
              <a:solidFill>
                <a:srgbClr val="6B8296"/>
              </a:solidFill>
              <a:latin typeface="Segoe UI" panose="020B0502040204020203" pitchFamily="34" charset="0"/>
            </a:endParaRPr>
          </a:p>
        </p:txBody>
      </p:sp>
      <p:sp>
        <p:nvSpPr>
          <p:cNvPr id="13" name="TextBox 12">
            <a:extLst>
              <a:ext uri="{FF2B5EF4-FFF2-40B4-BE49-F238E27FC236}">
                <a16:creationId xmlns:a16="http://schemas.microsoft.com/office/drawing/2014/main" id="{E82B9DB3-4BB4-F402-18F0-6E31ABA33FE1}"/>
              </a:ext>
            </a:extLst>
          </p:cNvPr>
          <p:cNvSpPr txBox="1"/>
          <p:nvPr/>
        </p:nvSpPr>
        <p:spPr>
          <a:xfrm>
            <a:off x="609600" y="2057400"/>
            <a:ext cx="2159000" cy="369332"/>
          </a:xfrm>
          <a:prstGeom prst="rect">
            <a:avLst/>
          </a:prstGeom>
          <a:noFill/>
        </p:spPr>
        <p:txBody>
          <a:bodyPr vert="horz" wrap="square" lIns="0" tIns="0" rIns="0" bIns="0" rtlCol="0">
            <a:noAutofit/>
          </a:bodyPr>
          <a:lstStyle/>
          <a:p>
            <a:pPr algn="r">
              <a:lnSpc>
                <a:spcPct val="110000"/>
              </a:lnSpc>
            </a:pPr>
            <a:r>
              <a:rPr lang="en-IN" sz="1300">
                <a:solidFill>
                  <a:srgbClr val="0B2340"/>
                </a:solidFill>
                <a:latin typeface="Segoe UI Semibold" panose="020B0702040204020203" pitchFamily="34" charset="0"/>
              </a:rPr>
              <a:t>Internal assessment</a:t>
            </a:r>
          </a:p>
        </p:txBody>
      </p:sp>
      <p:sp>
        <p:nvSpPr>
          <p:cNvPr id="14" name="Rectangle: Rounded Corners 13">
            <a:extLst>
              <a:ext uri="{FF2B5EF4-FFF2-40B4-BE49-F238E27FC236}">
                <a16:creationId xmlns:a16="http://schemas.microsoft.com/office/drawing/2014/main" id="{D68DB1EF-B275-5CEA-FA80-D2B5D0819AD2}"/>
              </a:ext>
            </a:extLst>
          </p:cNvPr>
          <p:cNvSpPr/>
          <p:nvPr/>
        </p:nvSpPr>
        <p:spPr>
          <a:xfrm>
            <a:off x="2921000" y="2057400"/>
            <a:ext cx="4051300" cy="228600"/>
          </a:xfrm>
          <a:prstGeom prst="roundRect">
            <a:avLst>
              <a:gd name="adj" fmla="val 20000"/>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49677B39-3490-D1A4-1A9D-D404E2AA3C48}"/>
              </a:ext>
            </a:extLst>
          </p:cNvPr>
          <p:cNvSpPr txBox="1"/>
          <p:nvPr/>
        </p:nvSpPr>
        <p:spPr>
          <a:xfrm>
            <a:off x="7073900" y="2057400"/>
            <a:ext cx="762000" cy="369332"/>
          </a:xfrm>
          <a:prstGeom prst="rect">
            <a:avLst/>
          </a:prstGeom>
          <a:noFill/>
        </p:spPr>
        <p:txBody>
          <a:bodyPr vert="horz" wrap="square" lIns="0" tIns="0" rIns="0" bIns="0" rtlCol="0">
            <a:noAutofit/>
          </a:bodyPr>
          <a:lstStyle/>
          <a:p>
            <a:pPr>
              <a:lnSpc>
                <a:spcPct val="110000"/>
              </a:lnSpc>
            </a:pPr>
            <a:r>
              <a:rPr lang="en-IN" sz="1300">
                <a:solidFill>
                  <a:srgbClr val="0B2340"/>
                </a:solidFill>
                <a:latin typeface="Segoe UI" panose="020B0502040204020203" pitchFamily="34" charset="0"/>
              </a:rPr>
              <a:t>0.84</a:t>
            </a:r>
          </a:p>
        </p:txBody>
      </p:sp>
      <p:sp>
        <p:nvSpPr>
          <p:cNvPr id="16" name="TextBox 15">
            <a:extLst>
              <a:ext uri="{FF2B5EF4-FFF2-40B4-BE49-F238E27FC236}">
                <a16:creationId xmlns:a16="http://schemas.microsoft.com/office/drawing/2014/main" id="{75C0CD84-F2F4-7693-D215-51E4A4F04485}"/>
              </a:ext>
            </a:extLst>
          </p:cNvPr>
          <p:cNvSpPr txBox="1"/>
          <p:nvPr/>
        </p:nvSpPr>
        <p:spPr>
          <a:xfrm>
            <a:off x="609600" y="2489200"/>
            <a:ext cx="2159000" cy="369332"/>
          </a:xfrm>
          <a:prstGeom prst="rect">
            <a:avLst/>
          </a:prstGeom>
          <a:noFill/>
        </p:spPr>
        <p:txBody>
          <a:bodyPr vert="horz" wrap="square" lIns="0" tIns="0" rIns="0" bIns="0" rtlCol="0">
            <a:noAutofit/>
          </a:bodyPr>
          <a:lstStyle/>
          <a:p>
            <a:pPr algn="r">
              <a:lnSpc>
                <a:spcPct val="110000"/>
              </a:lnSpc>
            </a:pPr>
            <a:r>
              <a:rPr lang="en-IN" sz="1300">
                <a:solidFill>
                  <a:srgbClr val="0B2340"/>
                </a:solidFill>
                <a:latin typeface="Segoe UI Semibold" panose="020B0702040204020203" pitchFamily="34" charset="0"/>
              </a:rPr>
              <a:t>Assignment score</a:t>
            </a:r>
          </a:p>
        </p:txBody>
      </p:sp>
      <p:sp>
        <p:nvSpPr>
          <p:cNvPr id="17" name="Rectangle: Rounded Corners 16">
            <a:extLst>
              <a:ext uri="{FF2B5EF4-FFF2-40B4-BE49-F238E27FC236}">
                <a16:creationId xmlns:a16="http://schemas.microsoft.com/office/drawing/2014/main" id="{67E3DEAF-FE8A-6154-3C04-6F3BBEB4B532}"/>
              </a:ext>
            </a:extLst>
          </p:cNvPr>
          <p:cNvSpPr/>
          <p:nvPr/>
        </p:nvSpPr>
        <p:spPr>
          <a:xfrm>
            <a:off x="2921000" y="2489200"/>
            <a:ext cx="3670300" cy="228600"/>
          </a:xfrm>
          <a:prstGeom prst="roundRect">
            <a:avLst>
              <a:gd name="adj" fmla="val 20000"/>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FED635CA-BB5A-30AF-871F-41E3E89B0B4F}"/>
              </a:ext>
            </a:extLst>
          </p:cNvPr>
          <p:cNvSpPr txBox="1"/>
          <p:nvPr/>
        </p:nvSpPr>
        <p:spPr>
          <a:xfrm>
            <a:off x="6692900" y="2489200"/>
            <a:ext cx="762000" cy="369332"/>
          </a:xfrm>
          <a:prstGeom prst="rect">
            <a:avLst/>
          </a:prstGeom>
          <a:noFill/>
        </p:spPr>
        <p:txBody>
          <a:bodyPr vert="horz" wrap="square" lIns="0" tIns="0" rIns="0" bIns="0" rtlCol="0">
            <a:noAutofit/>
          </a:bodyPr>
          <a:lstStyle/>
          <a:p>
            <a:pPr>
              <a:lnSpc>
                <a:spcPct val="110000"/>
              </a:lnSpc>
            </a:pPr>
            <a:r>
              <a:rPr lang="en-IN" sz="1300">
                <a:solidFill>
                  <a:srgbClr val="0B2340"/>
                </a:solidFill>
                <a:latin typeface="Segoe UI" panose="020B0502040204020203" pitchFamily="34" charset="0"/>
              </a:rPr>
              <a:t>0.76</a:t>
            </a:r>
          </a:p>
        </p:txBody>
      </p:sp>
      <p:sp>
        <p:nvSpPr>
          <p:cNvPr id="19" name="TextBox 18">
            <a:extLst>
              <a:ext uri="{FF2B5EF4-FFF2-40B4-BE49-F238E27FC236}">
                <a16:creationId xmlns:a16="http://schemas.microsoft.com/office/drawing/2014/main" id="{A40EB2C6-42A9-AA25-4EA7-F64699349466}"/>
              </a:ext>
            </a:extLst>
          </p:cNvPr>
          <p:cNvSpPr txBox="1"/>
          <p:nvPr/>
        </p:nvSpPr>
        <p:spPr>
          <a:xfrm>
            <a:off x="609600" y="2921000"/>
            <a:ext cx="2159000" cy="369332"/>
          </a:xfrm>
          <a:prstGeom prst="rect">
            <a:avLst/>
          </a:prstGeom>
          <a:noFill/>
        </p:spPr>
        <p:txBody>
          <a:bodyPr vert="horz" wrap="square" lIns="0" tIns="0" rIns="0" bIns="0" rtlCol="0">
            <a:noAutofit/>
          </a:bodyPr>
          <a:lstStyle/>
          <a:p>
            <a:pPr algn="r">
              <a:lnSpc>
                <a:spcPct val="110000"/>
              </a:lnSpc>
            </a:pPr>
            <a:r>
              <a:rPr lang="en-IN" sz="1300">
                <a:solidFill>
                  <a:srgbClr val="0B2340"/>
                </a:solidFill>
                <a:latin typeface="Segoe UI Semibold" panose="020B0702040204020203" pitchFamily="34" charset="0"/>
              </a:rPr>
              <a:t>Attendance</a:t>
            </a:r>
          </a:p>
        </p:txBody>
      </p:sp>
      <p:sp>
        <p:nvSpPr>
          <p:cNvPr id="20" name="Rectangle: Rounded Corners 19">
            <a:extLst>
              <a:ext uri="{FF2B5EF4-FFF2-40B4-BE49-F238E27FC236}">
                <a16:creationId xmlns:a16="http://schemas.microsoft.com/office/drawing/2014/main" id="{E2C1D83D-2AE9-8443-5340-90C4F131583D}"/>
              </a:ext>
            </a:extLst>
          </p:cNvPr>
          <p:cNvSpPr/>
          <p:nvPr/>
        </p:nvSpPr>
        <p:spPr>
          <a:xfrm>
            <a:off x="2921000" y="2921000"/>
            <a:ext cx="3517900" cy="228600"/>
          </a:xfrm>
          <a:prstGeom prst="roundRect">
            <a:avLst>
              <a:gd name="adj" fmla="val 20000"/>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73003033-7FF4-A58A-7474-ED112E52D0F1}"/>
              </a:ext>
            </a:extLst>
          </p:cNvPr>
          <p:cNvSpPr txBox="1"/>
          <p:nvPr/>
        </p:nvSpPr>
        <p:spPr>
          <a:xfrm>
            <a:off x="6540500" y="2921000"/>
            <a:ext cx="762000" cy="369332"/>
          </a:xfrm>
          <a:prstGeom prst="rect">
            <a:avLst/>
          </a:prstGeom>
          <a:noFill/>
        </p:spPr>
        <p:txBody>
          <a:bodyPr vert="horz" wrap="square" lIns="0" tIns="0" rIns="0" bIns="0" rtlCol="0">
            <a:noAutofit/>
          </a:bodyPr>
          <a:lstStyle/>
          <a:p>
            <a:pPr>
              <a:lnSpc>
                <a:spcPct val="110000"/>
              </a:lnSpc>
            </a:pPr>
            <a:r>
              <a:rPr lang="en-IN" sz="1300">
                <a:solidFill>
                  <a:srgbClr val="0B2340"/>
                </a:solidFill>
                <a:latin typeface="Segoe UI" panose="020B0502040204020203" pitchFamily="34" charset="0"/>
              </a:rPr>
              <a:t>0.73</a:t>
            </a:r>
          </a:p>
        </p:txBody>
      </p:sp>
      <p:sp>
        <p:nvSpPr>
          <p:cNvPr id="22" name="TextBox 21">
            <a:extLst>
              <a:ext uri="{FF2B5EF4-FFF2-40B4-BE49-F238E27FC236}">
                <a16:creationId xmlns:a16="http://schemas.microsoft.com/office/drawing/2014/main" id="{B778E97A-4056-DD2F-8825-F6045E043049}"/>
              </a:ext>
            </a:extLst>
          </p:cNvPr>
          <p:cNvSpPr txBox="1"/>
          <p:nvPr/>
        </p:nvSpPr>
        <p:spPr>
          <a:xfrm>
            <a:off x="609600" y="3352800"/>
            <a:ext cx="2159000" cy="369332"/>
          </a:xfrm>
          <a:prstGeom prst="rect">
            <a:avLst/>
          </a:prstGeom>
          <a:noFill/>
        </p:spPr>
        <p:txBody>
          <a:bodyPr vert="horz" wrap="square" lIns="0" tIns="0" rIns="0" bIns="0" rtlCol="0">
            <a:noAutofit/>
          </a:bodyPr>
          <a:lstStyle/>
          <a:p>
            <a:pPr algn="r">
              <a:lnSpc>
                <a:spcPct val="110000"/>
              </a:lnSpc>
            </a:pPr>
            <a:r>
              <a:rPr lang="en-IN" sz="1300">
                <a:solidFill>
                  <a:srgbClr val="0B2340"/>
                </a:solidFill>
                <a:latin typeface="Segoe UI Semibold" panose="020B0702040204020203" pitchFamily="34" charset="0"/>
              </a:rPr>
              <a:t>Study hours / week</a:t>
            </a:r>
          </a:p>
        </p:txBody>
      </p:sp>
      <p:sp>
        <p:nvSpPr>
          <p:cNvPr id="23" name="Rectangle: Rounded Corners 22">
            <a:extLst>
              <a:ext uri="{FF2B5EF4-FFF2-40B4-BE49-F238E27FC236}">
                <a16:creationId xmlns:a16="http://schemas.microsoft.com/office/drawing/2014/main" id="{2785C8F6-64F2-8AB7-D965-F31C1C66AED8}"/>
              </a:ext>
            </a:extLst>
          </p:cNvPr>
          <p:cNvSpPr/>
          <p:nvPr/>
        </p:nvSpPr>
        <p:spPr>
          <a:xfrm>
            <a:off x="2921000" y="3352800"/>
            <a:ext cx="3238500" cy="228600"/>
          </a:xfrm>
          <a:prstGeom prst="roundRect">
            <a:avLst>
              <a:gd name="adj" fmla="val 20000"/>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AF812EB7-230A-B227-2308-48B3EC4D2182}"/>
              </a:ext>
            </a:extLst>
          </p:cNvPr>
          <p:cNvSpPr txBox="1"/>
          <p:nvPr/>
        </p:nvSpPr>
        <p:spPr>
          <a:xfrm>
            <a:off x="6261100" y="3352800"/>
            <a:ext cx="762000" cy="369332"/>
          </a:xfrm>
          <a:prstGeom prst="rect">
            <a:avLst/>
          </a:prstGeom>
          <a:noFill/>
        </p:spPr>
        <p:txBody>
          <a:bodyPr vert="horz" wrap="square" lIns="0" tIns="0" rIns="0" bIns="0" rtlCol="0">
            <a:noAutofit/>
          </a:bodyPr>
          <a:lstStyle/>
          <a:p>
            <a:pPr>
              <a:lnSpc>
                <a:spcPct val="110000"/>
              </a:lnSpc>
            </a:pPr>
            <a:r>
              <a:rPr lang="en-IN" sz="1300">
                <a:solidFill>
                  <a:srgbClr val="0B2340"/>
                </a:solidFill>
                <a:latin typeface="Segoe UI" panose="020B0502040204020203" pitchFamily="34" charset="0"/>
              </a:rPr>
              <a:t>0.67</a:t>
            </a:r>
          </a:p>
        </p:txBody>
      </p:sp>
      <p:sp>
        <p:nvSpPr>
          <p:cNvPr id="25" name="TextBox 24">
            <a:extLst>
              <a:ext uri="{FF2B5EF4-FFF2-40B4-BE49-F238E27FC236}">
                <a16:creationId xmlns:a16="http://schemas.microsoft.com/office/drawing/2014/main" id="{2F24B419-BD0B-B674-2391-537A0F96D3DE}"/>
              </a:ext>
            </a:extLst>
          </p:cNvPr>
          <p:cNvSpPr txBox="1"/>
          <p:nvPr/>
        </p:nvSpPr>
        <p:spPr>
          <a:xfrm>
            <a:off x="609600" y="3784600"/>
            <a:ext cx="2159000" cy="369332"/>
          </a:xfrm>
          <a:prstGeom prst="rect">
            <a:avLst/>
          </a:prstGeom>
          <a:noFill/>
        </p:spPr>
        <p:txBody>
          <a:bodyPr vert="horz" wrap="square" lIns="0" tIns="0" rIns="0" bIns="0" rtlCol="0">
            <a:noAutofit/>
          </a:bodyPr>
          <a:lstStyle/>
          <a:p>
            <a:pPr algn="r">
              <a:lnSpc>
                <a:spcPct val="110000"/>
              </a:lnSpc>
            </a:pPr>
            <a:r>
              <a:rPr lang="en-IN" sz="1300">
                <a:solidFill>
                  <a:srgbClr val="0B2340"/>
                </a:solidFill>
                <a:latin typeface="Segoe UI Semibold" panose="020B0702040204020203" pitchFamily="34" charset="0"/>
              </a:rPr>
              <a:t>Previous sem score</a:t>
            </a:r>
          </a:p>
        </p:txBody>
      </p:sp>
      <p:sp>
        <p:nvSpPr>
          <p:cNvPr id="26" name="Rectangle: Rounded Corners 25">
            <a:extLst>
              <a:ext uri="{FF2B5EF4-FFF2-40B4-BE49-F238E27FC236}">
                <a16:creationId xmlns:a16="http://schemas.microsoft.com/office/drawing/2014/main" id="{70369AA0-F80A-9320-863A-004392084D1A}"/>
              </a:ext>
            </a:extLst>
          </p:cNvPr>
          <p:cNvSpPr/>
          <p:nvPr/>
        </p:nvSpPr>
        <p:spPr>
          <a:xfrm>
            <a:off x="2921000" y="3784600"/>
            <a:ext cx="3187700" cy="228600"/>
          </a:xfrm>
          <a:prstGeom prst="roundRect">
            <a:avLst>
              <a:gd name="adj" fmla="val 20000"/>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F59B767A-2533-B157-C317-A45F83F8FAF5}"/>
              </a:ext>
            </a:extLst>
          </p:cNvPr>
          <p:cNvSpPr txBox="1"/>
          <p:nvPr/>
        </p:nvSpPr>
        <p:spPr>
          <a:xfrm>
            <a:off x="6210300" y="3784600"/>
            <a:ext cx="762000" cy="369332"/>
          </a:xfrm>
          <a:prstGeom prst="rect">
            <a:avLst/>
          </a:prstGeom>
          <a:noFill/>
        </p:spPr>
        <p:txBody>
          <a:bodyPr vert="horz" wrap="square" lIns="0" tIns="0" rIns="0" bIns="0" rtlCol="0">
            <a:noAutofit/>
          </a:bodyPr>
          <a:lstStyle/>
          <a:p>
            <a:pPr>
              <a:lnSpc>
                <a:spcPct val="110000"/>
              </a:lnSpc>
            </a:pPr>
            <a:r>
              <a:rPr lang="en-IN" sz="1300">
                <a:solidFill>
                  <a:srgbClr val="0B2340"/>
                </a:solidFill>
                <a:latin typeface="Segoe UI" panose="020B0502040204020203" pitchFamily="34" charset="0"/>
              </a:rPr>
              <a:t>0.66</a:t>
            </a:r>
          </a:p>
        </p:txBody>
      </p:sp>
      <p:sp>
        <p:nvSpPr>
          <p:cNvPr id="28" name="TextBox 27">
            <a:extLst>
              <a:ext uri="{FF2B5EF4-FFF2-40B4-BE49-F238E27FC236}">
                <a16:creationId xmlns:a16="http://schemas.microsoft.com/office/drawing/2014/main" id="{A84D892D-F71F-FC0F-DF29-EEF5A27CDEC2}"/>
              </a:ext>
            </a:extLst>
          </p:cNvPr>
          <p:cNvSpPr txBox="1"/>
          <p:nvPr/>
        </p:nvSpPr>
        <p:spPr>
          <a:xfrm>
            <a:off x="609600" y="4216400"/>
            <a:ext cx="2159000" cy="369332"/>
          </a:xfrm>
          <a:prstGeom prst="rect">
            <a:avLst/>
          </a:prstGeom>
          <a:noFill/>
        </p:spPr>
        <p:txBody>
          <a:bodyPr vert="horz" wrap="square" lIns="0" tIns="0" rIns="0" bIns="0" rtlCol="0">
            <a:noAutofit/>
          </a:bodyPr>
          <a:lstStyle/>
          <a:p>
            <a:pPr algn="r">
              <a:lnSpc>
                <a:spcPct val="110000"/>
              </a:lnSpc>
            </a:pPr>
            <a:r>
              <a:rPr lang="en-IN" sz="1300">
                <a:solidFill>
                  <a:srgbClr val="6B8296"/>
                </a:solidFill>
                <a:latin typeface="Segoe UI" panose="020B0502040204020203" pitchFamily="34" charset="0"/>
              </a:rPr>
              <a:t>Sleep hours</a:t>
            </a:r>
          </a:p>
        </p:txBody>
      </p:sp>
      <p:sp>
        <p:nvSpPr>
          <p:cNvPr id="29" name="Rectangle: Rounded Corners 28">
            <a:extLst>
              <a:ext uri="{FF2B5EF4-FFF2-40B4-BE49-F238E27FC236}">
                <a16:creationId xmlns:a16="http://schemas.microsoft.com/office/drawing/2014/main" id="{C75F287D-A5E5-6851-DEA5-BF04CD9061E6}"/>
              </a:ext>
            </a:extLst>
          </p:cNvPr>
          <p:cNvSpPr/>
          <p:nvPr/>
        </p:nvSpPr>
        <p:spPr>
          <a:xfrm>
            <a:off x="2921000" y="4216400"/>
            <a:ext cx="342900" cy="228600"/>
          </a:xfrm>
          <a:prstGeom prst="roundRect">
            <a:avLst>
              <a:gd name="adj" fmla="val 20000"/>
            </a:avLst>
          </a:prstGeom>
          <a:solidFill>
            <a:srgbClr val="C9D6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826C6B61-26BB-94BB-0FF5-E007B803F0CB}"/>
              </a:ext>
            </a:extLst>
          </p:cNvPr>
          <p:cNvSpPr txBox="1"/>
          <p:nvPr/>
        </p:nvSpPr>
        <p:spPr>
          <a:xfrm>
            <a:off x="3759200" y="4216400"/>
            <a:ext cx="762000" cy="369332"/>
          </a:xfrm>
          <a:prstGeom prst="rect">
            <a:avLst/>
          </a:prstGeom>
          <a:noFill/>
        </p:spPr>
        <p:txBody>
          <a:bodyPr vert="horz" wrap="square" lIns="0" tIns="0" rIns="0" bIns="0" rtlCol="0">
            <a:noAutofit/>
          </a:bodyPr>
          <a:lstStyle/>
          <a:p>
            <a:pPr>
              <a:lnSpc>
                <a:spcPct val="110000"/>
              </a:lnSpc>
            </a:pPr>
            <a:r>
              <a:rPr lang="en-IN" sz="1300">
                <a:solidFill>
                  <a:srgbClr val="6B8296"/>
                </a:solidFill>
                <a:latin typeface="Segoe UI" panose="020B0502040204020203" pitchFamily="34" charset="0"/>
              </a:rPr>
              <a:t>0.07</a:t>
            </a:r>
          </a:p>
        </p:txBody>
      </p:sp>
      <p:sp>
        <p:nvSpPr>
          <p:cNvPr id="31" name="TextBox 30">
            <a:extLst>
              <a:ext uri="{FF2B5EF4-FFF2-40B4-BE49-F238E27FC236}">
                <a16:creationId xmlns:a16="http://schemas.microsoft.com/office/drawing/2014/main" id="{BB75A0D6-244E-F070-851E-CE124FDDA4BF}"/>
              </a:ext>
            </a:extLst>
          </p:cNvPr>
          <p:cNvSpPr txBox="1"/>
          <p:nvPr/>
        </p:nvSpPr>
        <p:spPr>
          <a:xfrm>
            <a:off x="609600" y="4648200"/>
            <a:ext cx="2159000" cy="369332"/>
          </a:xfrm>
          <a:prstGeom prst="rect">
            <a:avLst/>
          </a:prstGeom>
          <a:noFill/>
        </p:spPr>
        <p:txBody>
          <a:bodyPr vert="horz" wrap="square" lIns="0" tIns="0" rIns="0" bIns="0" rtlCol="0">
            <a:noAutofit/>
          </a:bodyPr>
          <a:lstStyle/>
          <a:p>
            <a:pPr algn="r">
              <a:lnSpc>
                <a:spcPct val="110000"/>
              </a:lnSpc>
            </a:pPr>
            <a:r>
              <a:rPr lang="en-IN" sz="1300">
                <a:solidFill>
                  <a:srgbClr val="6B8296"/>
                </a:solidFill>
                <a:latin typeface="Segoe UI" panose="020B0502040204020203" pitchFamily="34" charset="0"/>
              </a:rPr>
              <a:t>Gender</a:t>
            </a:r>
          </a:p>
        </p:txBody>
      </p:sp>
      <p:sp>
        <p:nvSpPr>
          <p:cNvPr id="32" name="Rectangle: Rounded Corners 31">
            <a:extLst>
              <a:ext uri="{FF2B5EF4-FFF2-40B4-BE49-F238E27FC236}">
                <a16:creationId xmlns:a16="http://schemas.microsoft.com/office/drawing/2014/main" id="{3D546DB0-2B89-EB03-6DA1-399BCF3EAFDF}"/>
              </a:ext>
            </a:extLst>
          </p:cNvPr>
          <p:cNvSpPr/>
          <p:nvPr/>
        </p:nvSpPr>
        <p:spPr>
          <a:xfrm>
            <a:off x="2921000" y="4648200"/>
            <a:ext cx="342900" cy="228600"/>
          </a:xfrm>
          <a:prstGeom prst="roundRect">
            <a:avLst>
              <a:gd name="adj" fmla="val 20000"/>
            </a:avLst>
          </a:prstGeom>
          <a:solidFill>
            <a:srgbClr val="C9D6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8F20D57E-441A-79E1-C057-1B358D57CBD1}"/>
              </a:ext>
            </a:extLst>
          </p:cNvPr>
          <p:cNvSpPr txBox="1"/>
          <p:nvPr/>
        </p:nvSpPr>
        <p:spPr>
          <a:xfrm>
            <a:off x="3759200" y="4648200"/>
            <a:ext cx="762000" cy="369332"/>
          </a:xfrm>
          <a:prstGeom prst="rect">
            <a:avLst/>
          </a:prstGeom>
          <a:noFill/>
        </p:spPr>
        <p:txBody>
          <a:bodyPr vert="horz" wrap="square" lIns="0" tIns="0" rIns="0" bIns="0" rtlCol="0">
            <a:noAutofit/>
          </a:bodyPr>
          <a:lstStyle/>
          <a:p>
            <a:pPr>
              <a:lnSpc>
                <a:spcPct val="110000"/>
              </a:lnSpc>
            </a:pPr>
            <a:r>
              <a:rPr lang="en-IN" sz="1300">
                <a:solidFill>
                  <a:srgbClr val="6B8296"/>
                </a:solidFill>
                <a:latin typeface="Segoe UI" panose="020B0502040204020203" pitchFamily="34" charset="0"/>
              </a:rPr>
              <a:t>0.07</a:t>
            </a:r>
          </a:p>
        </p:txBody>
      </p:sp>
      <p:sp>
        <p:nvSpPr>
          <p:cNvPr id="34" name="TextBox 33">
            <a:extLst>
              <a:ext uri="{FF2B5EF4-FFF2-40B4-BE49-F238E27FC236}">
                <a16:creationId xmlns:a16="http://schemas.microsoft.com/office/drawing/2014/main" id="{72C3622A-C1F5-D208-1A5F-AC61B5A6D084}"/>
              </a:ext>
            </a:extLst>
          </p:cNvPr>
          <p:cNvSpPr txBox="1"/>
          <p:nvPr/>
        </p:nvSpPr>
        <p:spPr>
          <a:xfrm>
            <a:off x="609600" y="5080000"/>
            <a:ext cx="2159000" cy="369332"/>
          </a:xfrm>
          <a:prstGeom prst="rect">
            <a:avLst/>
          </a:prstGeom>
          <a:noFill/>
        </p:spPr>
        <p:txBody>
          <a:bodyPr vert="horz" wrap="square" lIns="0" tIns="0" rIns="0" bIns="0" rtlCol="0">
            <a:noAutofit/>
          </a:bodyPr>
          <a:lstStyle/>
          <a:p>
            <a:pPr algn="r">
              <a:lnSpc>
                <a:spcPct val="110000"/>
              </a:lnSpc>
            </a:pPr>
            <a:r>
              <a:rPr lang="en-IN" sz="1300">
                <a:solidFill>
                  <a:srgbClr val="6B8296"/>
                </a:solidFill>
                <a:latin typeface="Segoe UI" panose="020B0502040204020203" pitchFamily="34" charset="0"/>
              </a:rPr>
              <a:t>Commute minutes</a:t>
            </a:r>
          </a:p>
        </p:txBody>
      </p:sp>
      <p:sp>
        <p:nvSpPr>
          <p:cNvPr id="35" name="Rectangle: Rounded Corners 34">
            <a:extLst>
              <a:ext uri="{FF2B5EF4-FFF2-40B4-BE49-F238E27FC236}">
                <a16:creationId xmlns:a16="http://schemas.microsoft.com/office/drawing/2014/main" id="{0DC5A650-D1FF-3FF2-4B2E-AB1D55974DDC}"/>
              </a:ext>
            </a:extLst>
          </p:cNvPr>
          <p:cNvSpPr/>
          <p:nvPr/>
        </p:nvSpPr>
        <p:spPr>
          <a:xfrm>
            <a:off x="2921000" y="5080000"/>
            <a:ext cx="190500" cy="228600"/>
          </a:xfrm>
          <a:prstGeom prst="roundRect">
            <a:avLst>
              <a:gd name="adj" fmla="val 20000"/>
            </a:avLst>
          </a:prstGeom>
          <a:solidFill>
            <a:srgbClr val="C9D6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81DB1AF1-7DD1-B514-587A-931E7AD6C057}"/>
              </a:ext>
            </a:extLst>
          </p:cNvPr>
          <p:cNvSpPr txBox="1"/>
          <p:nvPr/>
        </p:nvSpPr>
        <p:spPr>
          <a:xfrm>
            <a:off x="3759200" y="5080000"/>
            <a:ext cx="762000" cy="369332"/>
          </a:xfrm>
          <a:prstGeom prst="rect">
            <a:avLst/>
          </a:prstGeom>
          <a:noFill/>
        </p:spPr>
        <p:txBody>
          <a:bodyPr vert="horz" wrap="square" lIns="0" tIns="0" rIns="0" bIns="0" rtlCol="0">
            <a:noAutofit/>
          </a:bodyPr>
          <a:lstStyle/>
          <a:p>
            <a:pPr>
              <a:lnSpc>
                <a:spcPct val="110000"/>
              </a:lnSpc>
            </a:pPr>
            <a:r>
              <a:rPr lang="en-IN" sz="1300">
                <a:solidFill>
                  <a:srgbClr val="6B8296"/>
                </a:solidFill>
                <a:latin typeface="Segoe UI" panose="020B0502040204020203" pitchFamily="34" charset="0"/>
              </a:rPr>
              <a:t>0.04</a:t>
            </a:r>
          </a:p>
        </p:txBody>
      </p:sp>
      <p:sp>
        <p:nvSpPr>
          <p:cNvPr id="37" name="TextBox 36">
            <a:extLst>
              <a:ext uri="{FF2B5EF4-FFF2-40B4-BE49-F238E27FC236}">
                <a16:creationId xmlns:a16="http://schemas.microsoft.com/office/drawing/2014/main" id="{56D458C2-AAC0-3AF5-C4A9-1557B4233B87}"/>
              </a:ext>
            </a:extLst>
          </p:cNvPr>
          <p:cNvSpPr txBox="1"/>
          <p:nvPr/>
        </p:nvSpPr>
        <p:spPr>
          <a:xfrm>
            <a:off x="609600" y="5511800"/>
            <a:ext cx="2159000" cy="369332"/>
          </a:xfrm>
          <a:prstGeom prst="rect">
            <a:avLst/>
          </a:prstGeom>
          <a:noFill/>
        </p:spPr>
        <p:txBody>
          <a:bodyPr vert="horz" wrap="square" lIns="0" tIns="0" rIns="0" bIns="0" rtlCol="0">
            <a:noAutofit/>
          </a:bodyPr>
          <a:lstStyle/>
          <a:p>
            <a:pPr algn="r">
              <a:lnSpc>
                <a:spcPct val="110000"/>
              </a:lnSpc>
            </a:pPr>
            <a:r>
              <a:rPr lang="en-IN" sz="1300">
                <a:solidFill>
                  <a:srgbClr val="6B8296"/>
                </a:solidFill>
                <a:latin typeface="Segoe UI" panose="020B0502040204020203" pitchFamily="34" charset="0"/>
              </a:rPr>
              <a:t>Internet, extracurricular</a:t>
            </a:r>
          </a:p>
        </p:txBody>
      </p:sp>
      <p:sp>
        <p:nvSpPr>
          <p:cNvPr id="38" name="Rectangle: Rounded Corners 37">
            <a:extLst>
              <a:ext uri="{FF2B5EF4-FFF2-40B4-BE49-F238E27FC236}">
                <a16:creationId xmlns:a16="http://schemas.microsoft.com/office/drawing/2014/main" id="{6583B2E2-4138-DE4A-19C7-2BBC2561A3D1}"/>
              </a:ext>
            </a:extLst>
          </p:cNvPr>
          <p:cNvSpPr/>
          <p:nvPr/>
        </p:nvSpPr>
        <p:spPr>
          <a:xfrm>
            <a:off x="2921000" y="5511800"/>
            <a:ext cx="101600" cy="228600"/>
          </a:xfrm>
          <a:prstGeom prst="roundRect">
            <a:avLst>
              <a:gd name="adj" fmla="val 20000"/>
            </a:avLst>
          </a:prstGeom>
          <a:solidFill>
            <a:srgbClr val="C9D6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6F574758-E5A9-ED34-EB3C-E15230FF03F4}"/>
              </a:ext>
            </a:extLst>
          </p:cNvPr>
          <p:cNvSpPr txBox="1"/>
          <p:nvPr/>
        </p:nvSpPr>
        <p:spPr>
          <a:xfrm>
            <a:off x="3759200" y="5511800"/>
            <a:ext cx="762000" cy="369332"/>
          </a:xfrm>
          <a:prstGeom prst="rect">
            <a:avLst/>
          </a:prstGeom>
          <a:noFill/>
        </p:spPr>
        <p:txBody>
          <a:bodyPr vert="horz" wrap="square" lIns="0" tIns="0" rIns="0" bIns="0" rtlCol="0">
            <a:noAutofit/>
          </a:bodyPr>
          <a:lstStyle/>
          <a:p>
            <a:pPr>
              <a:lnSpc>
                <a:spcPct val="110000"/>
              </a:lnSpc>
            </a:pPr>
            <a:r>
              <a:rPr lang="en-IN" sz="1300">
                <a:solidFill>
                  <a:srgbClr val="6B8296"/>
                </a:solidFill>
                <a:latin typeface="Segoe UI" panose="020B0502040204020203" pitchFamily="34" charset="0"/>
              </a:rPr>
              <a:t>0.02</a:t>
            </a:r>
          </a:p>
        </p:txBody>
      </p:sp>
      <p:sp>
        <p:nvSpPr>
          <p:cNvPr id="40" name="Rectangle 39">
            <a:extLst>
              <a:ext uri="{FF2B5EF4-FFF2-40B4-BE49-F238E27FC236}">
                <a16:creationId xmlns:a16="http://schemas.microsoft.com/office/drawing/2014/main" id="{B3041AB0-BD94-5DAB-29AC-2B829E86FBEB}"/>
              </a:ext>
            </a:extLst>
          </p:cNvPr>
          <p:cNvSpPr/>
          <p:nvPr/>
        </p:nvSpPr>
        <p:spPr>
          <a:xfrm>
            <a:off x="3644900" y="1930400"/>
            <a:ext cx="15240" cy="3962400"/>
          </a:xfrm>
          <a:prstGeom prst="rect">
            <a:avLst/>
          </a:prstGeom>
          <a:solidFill>
            <a:srgbClr val="6B829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Rectangle: Rounded Corners 40">
            <a:extLst>
              <a:ext uri="{FF2B5EF4-FFF2-40B4-BE49-F238E27FC236}">
                <a16:creationId xmlns:a16="http://schemas.microsoft.com/office/drawing/2014/main" id="{29375F3E-CDE8-20C5-A0E8-316FDCA7ECD0}"/>
              </a:ext>
            </a:extLst>
          </p:cNvPr>
          <p:cNvSpPr/>
          <p:nvPr/>
        </p:nvSpPr>
        <p:spPr>
          <a:xfrm>
            <a:off x="8585200" y="1778000"/>
            <a:ext cx="2997200" cy="40132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6DA5E0EF-BBE6-87BB-D44E-DF419ABCE12D}"/>
              </a:ext>
            </a:extLst>
          </p:cNvPr>
          <p:cNvSpPr txBox="1"/>
          <p:nvPr/>
        </p:nvSpPr>
        <p:spPr>
          <a:xfrm>
            <a:off x="8788400" y="1981200"/>
            <a:ext cx="2667000" cy="369332"/>
          </a:xfrm>
          <a:prstGeom prst="rect">
            <a:avLst/>
          </a:prstGeom>
          <a:noFill/>
        </p:spPr>
        <p:txBody>
          <a:bodyPr vert="horz" wrap="square" lIns="0" tIns="0" rIns="0" bIns="0" rtlCol="0">
            <a:noAutofit/>
          </a:bodyPr>
          <a:lstStyle/>
          <a:p>
            <a:pPr>
              <a:lnSpc>
                <a:spcPct val="110000"/>
              </a:lnSpc>
            </a:pPr>
            <a:r>
              <a:rPr lang="en-IN" sz="1500">
                <a:solidFill>
                  <a:srgbClr val="0B2340"/>
                </a:solidFill>
                <a:latin typeface="Segoe UI Semibold" panose="020B0702040204020203" pitchFamily="34" charset="0"/>
              </a:rPr>
              <a:t>Engineered features tested</a:t>
            </a:r>
          </a:p>
        </p:txBody>
      </p:sp>
      <p:sp>
        <p:nvSpPr>
          <p:cNvPr id="43" name="TextBox 42">
            <a:extLst>
              <a:ext uri="{FF2B5EF4-FFF2-40B4-BE49-F238E27FC236}">
                <a16:creationId xmlns:a16="http://schemas.microsoft.com/office/drawing/2014/main" id="{7513970C-6D68-657E-B05E-4B46073401DD}"/>
              </a:ext>
            </a:extLst>
          </p:cNvPr>
          <p:cNvSpPr txBox="1"/>
          <p:nvPr/>
        </p:nvSpPr>
        <p:spPr>
          <a:xfrm>
            <a:off x="8788400" y="2590800"/>
            <a:ext cx="2667000" cy="369332"/>
          </a:xfrm>
          <a:prstGeom prst="rect">
            <a:avLst/>
          </a:prstGeom>
          <a:noFill/>
        </p:spPr>
        <p:txBody>
          <a:bodyPr vert="horz" wrap="square" lIns="0" tIns="0" rIns="0" bIns="0" rtlCol="0">
            <a:noAutofit/>
          </a:bodyPr>
          <a:lstStyle/>
          <a:p>
            <a:pPr>
              <a:lnSpc>
                <a:spcPct val="110000"/>
              </a:lnSpc>
            </a:pPr>
            <a:r>
              <a:rPr lang="en-IN" sz="1200" b="1">
                <a:solidFill>
                  <a:srgbClr val="3E5670"/>
                </a:solidFill>
                <a:latin typeface="Segoe UI" panose="020B0502040204020203" pitchFamily="34" charset="0"/>
              </a:rPr>
              <a:t>Engagement index</a:t>
            </a:r>
          </a:p>
          <a:p>
            <a:pPr>
              <a:lnSpc>
                <a:spcPct val="110000"/>
              </a:lnSpc>
            </a:pPr>
            <a:r>
              <a:rPr lang="en-IN" sz="1200">
                <a:solidFill>
                  <a:srgbClr val="3E5670"/>
                </a:solidFill>
                <a:latin typeface="Segoe UI" panose="020B0502040204020203" pitchFamily="34" charset="0"/>
              </a:rPr>
              <a:t>(attendance + assignment) / 2</a:t>
            </a:r>
          </a:p>
          <a:p>
            <a:pPr>
              <a:lnSpc>
                <a:spcPct val="110000"/>
              </a:lnSpc>
            </a:pPr>
            <a:r>
              <a:rPr lang="en-IN" sz="1200">
                <a:solidFill>
                  <a:srgbClr val="3E5670"/>
                </a:solidFill>
                <a:latin typeface="Segoe UI" panose="020B0502040204020203" pitchFamily="34" charset="0"/>
              </a:rPr>
              <a:t>CV R² change: −0.0065 · dropped</a:t>
            </a:r>
          </a:p>
        </p:txBody>
      </p:sp>
      <p:sp>
        <p:nvSpPr>
          <p:cNvPr id="44" name="TextBox 43">
            <a:extLst>
              <a:ext uri="{FF2B5EF4-FFF2-40B4-BE49-F238E27FC236}">
                <a16:creationId xmlns:a16="http://schemas.microsoft.com/office/drawing/2014/main" id="{6E7234C8-705A-4441-0402-0348A74BC78D}"/>
              </a:ext>
            </a:extLst>
          </p:cNvPr>
          <p:cNvSpPr txBox="1"/>
          <p:nvPr/>
        </p:nvSpPr>
        <p:spPr>
          <a:xfrm>
            <a:off x="8788400" y="3810000"/>
            <a:ext cx="2667000" cy="369332"/>
          </a:xfrm>
          <a:prstGeom prst="rect">
            <a:avLst/>
          </a:prstGeom>
          <a:noFill/>
        </p:spPr>
        <p:txBody>
          <a:bodyPr vert="horz" wrap="square" lIns="0" tIns="0" rIns="0" bIns="0" rtlCol="0">
            <a:noAutofit/>
          </a:bodyPr>
          <a:lstStyle/>
          <a:p>
            <a:pPr>
              <a:lnSpc>
                <a:spcPct val="110000"/>
              </a:lnSpc>
            </a:pPr>
            <a:r>
              <a:rPr lang="en-US" sz="1200" b="1">
                <a:solidFill>
                  <a:srgbClr val="3E5670"/>
                </a:solidFill>
                <a:latin typeface="Segoe UI" panose="020B0502040204020203" pitchFamily="34" charset="0"/>
              </a:rPr>
              <a:t>Study efficiency</a:t>
            </a:r>
          </a:p>
          <a:p>
            <a:pPr>
              <a:lnSpc>
                <a:spcPct val="110000"/>
              </a:lnSpc>
            </a:pPr>
            <a:r>
              <a:rPr lang="en-US" sz="1200">
                <a:solidFill>
                  <a:srgbClr val="3E5670"/>
                </a:solidFill>
                <a:latin typeface="Segoe UI" panose="020B0502040204020203" pitchFamily="34" charset="0"/>
              </a:rPr>
              <a:t>internal ÷ (study hours + 1)</a:t>
            </a:r>
          </a:p>
          <a:p>
            <a:pPr>
              <a:lnSpc>
                <a:spcPct val="110000"/>
              </a:lnSpc>
            </a:pPr>
            <a:r>
              <a:rPr lang="en-US" sz="1200">
                <a:solidFill>
                  <a:srgbClr val="3E5670"/>
                </a:solidFill>
                <a:latin typeface="Segoe UI" panose="020B0502040204020203" pitchFamily="34" charset="0"/>
              </a:rPr>
              <a:t>CV R² change: −0.0033 · dropped</a:t>
            </a:r>
            <a:endParaRPr lang="en-IN" sz="1200">
              <a:solidFill>
                <a:srgbClr val="3E5670"/>
              </a:solidFill>
              <a:latin typeface="Segoe UI" panose="020B0502040204020203" pitchFamily="34" charset="0"/>
            </a:endParaRPr>
          </a:p>
        </p:txBody>
      </p:sp>
      <p:sp>
        <p:nvSpPr>
          <p:cNvPr id="45" name="TextBox 44">
            <a:extLst>
              <a:ext uri="{FF2B5EF4-FFF2-40B4-BE49-F238E27FC236}">
                <a16:creationId xmlns:a16="http://schemas.microsoft.com/office/drawing/2014/main" id="{EE7BE917-64E3-CDA8-7FDC-E2AD5CF2680D}"/>
              </a:ext>
            </a:extLst>
          </p:cNvPr>
          <p:cNvSpPr txBox="1"/>
          <p:nvPr/>
        </p:nvSpPr>
        <p:spPr>
          <a:xfrm>
            <a:off x="8788400" y="5029200"/>
            <a:ext cx="2667000" cy="369332"/>
          </a:xfrm>
          <a:prstGeom prst="rect">
            <a:avLst/>
          </a:prstGeom>
          <a:noFill/>
        </p:spPr>
        <p:txBody>
          <a:bodyPr vert="horz" wrap="square" lIns="0" tIns="0" rIns="0" bIns="0" rtlCol="0">
            <a:noAutofit/>
          </a:bodyPr>
          <a:lstStyle/>
          <a:p>
            <a:pPr>
              <a:lnSpc>
                <a:spcPct val="110000"/>
              </a:lnSpc>
            </a:pPr>
            <a:r>
              <a:rPr lang="en-US" sz="1100">
                <a:solidFill>
                  <a:srgbClr val="6B8296"/>
                </a:solidFill>
                <a:latin typeface="Segoe UI" panose="020B0502040204020203" pitchFamily="34" charset="0"/>
              </a:rPr>
              <a:t>Kept only if they raised cross-validated R² by more than 0.005.</a:t>
            </a:r>
            <a:endParaRPr lang="en-IN" sz="1100">
              <a:solidFill>
                <a:srgbClr val="6B8296"/>
              </a:solidFill>
              <a:latin typeface="Segoe UI" panose="020B0502040204020203" pitchFamily="34" charset="0"/>
            </a:endParaRPr>
          </a:p>
        </p:txBody>
      </p:sp>
    </p:spTree>
    <p:extLst>
      <p:ext uri="{BB962C8B-B14F-4D97-AF65-F5344CB8AC3E}">
        <p14:creationId xmlns:p14="http://schemas.microsoft.com/office/powerpoint/2010/main" val="3773601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8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EAA3D9-1786-178F-B03A-E032AA454890}"/>
              </a:ext>
            </a:extLst>
          </p:cNvPr>
          <p:cNvSpPr txBox="1"/>
          <p:nvPr/>
        </p:nvSpPr>
        <p:spPr>
          <a:xfrm>
            <a:off x="6096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Introduction</a:t>
            </a:r>
          </a:p>
        </p:txBody>
      </p:sp>
      <p:sp>
        <p:nvSpPr>
          <p:cNvPr id="3" name="TextBox 2">
            <a:extLst>
              <a:ext uri="{FF2B5EF4-FFF2-40B4-BE49-F238E27FC236}">
                <a16:creationId xmlns:a16="http://schemas.microsoft.com/office/drawing/2014/main" id="{8BB94C21-F69D-16CF-7939-EBD177DB4701}"/>
              </a:ext>
            </a:extLst>
          </p:cNvPr>
          <p:cNvSpPr txBox="1"/>
          <p:nvPr/>
        </p:nvSpPr>
        <p:spPr>
          <a:xfrm>
            <a:off x="28067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Data &amp; Methodology</a:t>
            </a:r>
          </a:p>
        </p:txBody>
      </p:sp>
      <p:sp>
        <p:nvSpPr>
          <p:cNvPr id="4" name="TextBox 3">
            <a:extLst>
              <a:ext uri="{FF2B5EF4-FFF2-40B4-BE49-F238E27FC236}">
                <a16:creationId xmlns:a16="http://schemas.microsoft.com/office/drawing/2014/main" id="{256AD5C9-3000-08C2-A136-053BE33EF754}"/>
              </a:ext>
            </a:extLst>
          </p:cNvPr>
          <p:cNvSpPr txBox="1"/>
          <p:nvPr/>
        </p:nvSpPr>
        <p:spPr>
          <a:xfrm>
            <a:off x="50038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Preprocessing &amp; EDA</a:t>
            </a:r>
          </a:p>
        </p:txBody>
      </p:sp>
      <p:sp>
        <p:nvSpPr>
          <p:cNvPr id="5" name="Rectangle: Rounded Corners 4">
            <a:extLst>
              <a:ext uri="{FF2B5EF4-FFF2-40B4-BE49-F238E27FC236}">
                <a16:creationId xmlns:a16="http://schemas.microsoft.com/office/drawing/2014/main" id="{327504CF-CE1A-2235-2DEE-D795C53F6E71}"/>
              </a:ext>
            </a:extLst>
          </p:cNvPr>
          <p:cNvSpPr/>
          <p:nvPr/>
        </p:nvSpPr>
        <p:spPr>
          <a:xfrm>
            <a:off x="7200900" y="203200"/>
            <a:ext cx="2032000" cy="279400"/>
          </a:xfrm>
          <a:prstGeom prst="roundRect">
            <a:avLst>
              <a:gd name="adj" fmla="val 50000"/>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F47EA011-0BF6-00F8-E036-77572E11AC98}"/>
              </a:ext>
            </a:extLst>
          </p:cNvPr>
          <p:cNvSpPr txBox="1"/>
          <p:nvPr/>
        </p:nvSpPr>
        <p:spPr>
          <a:xfrm>
            <a:off x="72009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FFFFFF"/>
                </a:solidFill>
                <a:latin typeface="Segoe UI Semibold" panose="020B0702040204020203" pitchFamily="34" charset="0"/>
              </a:rPr>
              <a:t>Models &amp; Results</a:t>
            </a:r>
          </a:p>
        </p:txBody>
      </p:sp>
      <p:sp>
        <p:nvSpPr>
          <p:cNvPr id="7" name="TextBox 6">
            <a:extLst>
              <a:ext uri="{FF2B5EF4-FFF2-40B4-BE49-F238E27FC236}">
                <a16:creationId xmlns:a16="http://schemas.microsoft.com/office/drawing/2014/main" id="{D9909D28-C9F4-480C-DC52-EF5FCFE82C7C}"/>
              </a:ext>
            </a:extLst>
          </p:cNvPr>
          <p:cNvSpPr txBox="1"/>
          <p:nvPr/>
        </p:nvSpPr>
        <p:spPr>
          <a:xfrm>
            <a:off x="93980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Demo &amp; Conclusion</a:t>
            </a:r>
          </a:p>
        </p:txBody>
      </p:sp>
      <p:sp>
        <p:nvSpPr>
          <p:cNvPr id="8" name="TextBox 7">
            <a:extLst>
              <a:ext uri="{FF2B5EF4-FFF2-40B4-BE49-F238E27FC236}">
                <a16:creationId xmlns:a16="http://schemas.microsoft.com/office/drawing/2014/main" id="{6DCE6A49-5D0D-C03F-DFF6-5232D5956F39}"/>
              </a:ext>
            </a:extLst>
          </p:cNvPr>
          <p:cNvSpPr txBox="1"/>
          <p:nvPr/>
        </p:nvSpPr>
        <p:spPr>
          <a:xfrm>
            <a:off x="609600" y="736600"/>
            <a:ext cx="8890000" cy="369332"/>
          </a:xfrm>
          <a:prstGeom prst="rect">
            <a:avLst/>
          </a:prstGeom>
          <a:noFill/>
        </p:spPr>
        <p:txBody>
          <a:bodyPr vert="horz" wrap="square" lIns="0" tIns="0" rIns="0" bIns="0" rtlCol="0">
            <a:noAutofit/>
          </a:bodyPr>
          <a:lstStyle/>
          <a:p>
            <a:pPr>
              <a:lnSpc>
                <a:spcPct val="110000"/>
              </a:lnSpc>
            </a:pPr>
            <a:r>
              <a:rPr lang="en-IN" sz="1100">
                <a:solidFill>
                  <a:srgbClr val="26658C"/>
                </a:solidFill>
                <a:latin typeface="Segoe UI Semibold" panose="020B0702040204020203" pitchFamily="34" charset="0"/>
              </a:rPr>
              <a:t>MODELS USED</a:t>
            </a:r>
          </a:p>
        </p:txBody>
      </p:sp>
      <p:sp>
        <p:nvSpPr>
          <p:cNvPr id="9" name="TextBox 8">
            <a:extLst>
              <a:ext uri="{FF2B5EF4-FFF2-40B4-BE49-F238E27FC236}">
                <a16:creationId xmlns:a16="http://schemas.microsoft.com/office/drawing/2014/main" id="{12853DCA-6C57-6523-EB5F-A4CFC6552EF1}"/>
              </a:ext>
            </a:extLst>
          </p:cNvPr>
          <p:cNvSpPr txBox="1"/>
          <p:nvPr/>
        </p:nvSpPr>
        <p:spPr>
          <a:xfrm>
            <a:off x="609600" y="965200"/>
            <a:ext cx="10972800" cy="369332"/>
          </a:xfrm>
          <a:prstGeom prst="rect">
            <a:avLst/>
          </a:prstGeom>
          <a:noFill/>
        </p:spPr>
        <p:txBody>
          <a:bodyPr vert="horz" wrap="square" lIns="0" tIns="0" rIns="0" bIns="0" rtlCol="0">
            <a:noAutofit/>
          </a:bodyPr>
          <a:lstStyle/>
          <a:p>
            <a:pPr>
              <a:lnSpc>
                <a:spcPct val="110000"/>
              </a:lnSpc>
            </a:pPr>
            <a:r>
              <a:rPr lang="en-US" sz="2600" b="1">
                <a:solidFill>
                  <a:srgbClr val="0B2340"/>
                </a:solidFill>
                <a:latin typeface="Georgia" panose="02040502050405020303" pitchFamily="18" charset="0"/>
              </a:rPr>
              <a:t>One model from each family, trained on the same data</a:t>
            </a:r>
            <a:endParaRPr lang="en-IN" sz="2600" b="1">
              <a:solidFill>
                <a:srgbClr val="0B2340"/>
              </a:solidFill>
              <a:latin typeface="Georgia" panose="02040502050405020303" pitchFamily="18" charset="0"/>
            </a:endParaRPr>
          </a:p>
        </p:txBody>
      </p:sp>
      <p:sp>
        <p:nvSpPr>
          <p:cNvPr id="10" name="TextBox 9">
            <a:extLst>
              <a:ext uri="{FF2B5EF4-FFF2-40B4-BE49-F238E27FC236}">
                <a16:creationId xmlns:a16="http://schemas.microsoft.com/office/drawing/2014/main" id="{AE6411CB-FEB2-B7B8-0B68-F7B7077FF703}"/>
              </a:ext>
            </a:extLst>
          </p:cNvPr>
          <p:cNvSpPr txBox="1"/>
          <p:nvPr/>
        </p:nvSpPr>
        <p:spPr>
          <a:xfrm>
            <a:off x="609600" y="6502400"/>
            <a:ext cx="7620000" cy="369332"/>
          </a:xfrm>
          <a:prstGeom prst="rect">
            <a:avLst/>
          </a:prstGeom>
          <a:noFill/>
        </p:spPr>
        <p:txBody>
          <a:bodyPr vert="horz" wrap="square" lIns="0" tIns="0" rIns="0" bIns="0" rtlCol="0">
            <a:noAutofit/>
          </a:bodyPr>
          <a:lstStyle/>
          <a:p>
            <a:pPr>
              <a:lnSpc>
                <a:spcPct val="110000"/>
              </a:lnSpc>
            </a:pPr>
            <a:r>
              <a:rPr lang="en-US" sz="900">
                <a:solidFill>
                  <a:srgbClr val="6B8296"/>
                </a:solidFill>
                <a:latin typeface="Segoe UI" panose="020B0502040204020203" pitchFamily="34" charset="0"/>
              </a:rPr>
              <a:t>Acadrix · Student Performance Prediction System</a:t>
            </a:r>
            <a:endParaRPr lang="en-IN" sz="900">
              <a:solidFill>
                <a:srgbClr val="6B8296"/>
              </a:solidFill>
              <a:latin typeface="Segoe UI" panose="020B0502040204020203" pitchFamily="34" charset="0"/>
            </a:endParaRPr>
          </a:p>
        </p:txBody>
      </p:sp>
      <p:sp>
        <p:nvSpPr>
          <p:cNvPr id="11" name="TextBox 10">
            <a:extLst>
              <a:ext uri="{FF2B5EF4-FFF2-40B4-BE49-F238E27FC236}">
                <a16:creationId xmlns:a16="http://schemas.microsoft.com/office/drawing/2014/main" id="{1EBD859A-209B-6703-08FE-DB3E1CAB490C}"/>
              </a:ext>
            </a:extLst>
          </p:cNvPr>
          <p:cNvSpPr txBox="1"/>
          <p:nvPr/>
        </p:nvSpPr>
        <p:spPr>
          <a:xfrm>
            <a:off x="10820400" y="6502400"/>
            <a:ext cx="762000" cy="369332"/>
          </a:xfrm>
          <a:prstGeom prst="rect">
            <a:avLst/>
          </a:prstGeom>
          <a:noFill/>
        </p:spPr>
        <p:txBody>
          <a:bodyPr vert="horz" wrap="square" lIns="0" tIns="0" rIns="0" bIns="0" rtlCol="0">
            <a:noAutofit/>
          </a:bodyPr>
          <a:lstStyle/>
          <a:p>
            <a:pPr algn="r">
              <a:lnSpc>
                <a:spcPct val="110000"/>
              </a:lnSpc>
            </a:pPr>
            <a:r>
              <a:rPr lang="en-IN" sz="900">
                <a:solidFill>
                  <a:srgbClr val="6B8296"/>
                </a:solidFill>
                <a:latin typeface="Segoe UI" panose="020B0502040204020203" pitchFamily="34" charset="0"/>
              </a:rPr>
              <a:t>10</a:t>
            </a:r>
          </a:p>
        </p:txBody>
      </p:sp>
      <p:sp>
        <p:nvSpPr>
          <p:cNvPr id="12" name="Rectangle: Rounded Corners 11">
            <a:extLst>
              <a:ext uri="{FF2B5EF4-FFF2-40B4-BE49-F238E27FC236}">
                <a16:creationId xmlns:a16="http://schemas.microsoft.com/office/drawing/2014/main" id="{1589FF4F-8455-1C12-BCC3-3776A2E41E16}"/>
              </a:ext>
            </a:extLst>
          </p:cNvPr>
          <p:cNvSpPr/>
          <p:nvPr/>
        </p:nvSpPr>
        <p:spPr>
          <a:xfrm>
            <a:off x="609600" y="1778000"/>
            <a:ext cx="3556000" cy="34290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03082659-E8BE-E954-2758-C09AED793DF5}"/>
              </a:ext>
            </a:extLst>
          </p:cNvPr>
          <p:cNvSpPr txBox="1"/>
          <p:nvPr/>
        </p:nvSpPr>
        <p:spPr>
          <a:xfrm>
            <a:off x="863600" y="2032000"/>
            <a:ext cx="3048000" cy="369332"/>
          </a:xfrm>
          <a:prstGeom prst="rect">
            <a:avLst/>
          </a:prstGeom>
          <a:noFill/>
        </p:spPr>
        <p:txBody>
          <a:bodyPr vert="horz" wrap="square" lIns="0" tIns="0" rIns="0" bIns="0" rtlCol="0">
            <a:noAutofit/>
          </a:bodyPr>
          <a:lstStyle/>
          <a:p>
            <a:pPr>
              <a:lnSpc>
                <a:spcPct val="110000"/>
              </a:lnSpc>
            </a:pPr>
            <a:r>
              <a:rPr lang="en-IN" sz="1100">
                <a:solidFill>
                  <a:srgbClr val="26658C"/>
                </a:solidFill>
                <a:latin typeface="Segoe UI Semibold" panose="020B0702040204020203" pitchFamily="34" charset="0"/>
              </a:rPr>
              <a:t>STATISTICAL</a:t>
            </a:r>
          </a:p>
        </p:txBody>
      </p:sp>
      <p:sp>
        <p:nvSpPr>
          <p:cNvPr id="14" name="TextBox 13">
            <a:extLst>
              <a:ext uri="{FF2B5EF4-FFF2-40B4-BE49-F238E27FC236}">
                <a16:creationId xmlns:a16="http://schemas.microsoft.com/office/drawing/2014/main" id="{A2971162-3203-5AA3-07BE-32FE3DED842F}"/>
              </a:ext>
            </a:extLst>
          </p:cNvPr>
          <p:cNvSpPr txBox="1"/>
          <p:nvPr/>
        </p:nvSpPr>
        <p:spPr>
          <a:xfrm>
            <a:off x="863600" y="2286000"/>
            <a:ext cx="3048000" cy="381000"/>
          </a:xfrm>
          <a:prstGeom prst="rect">
            <a:avLst/>
          </a:prstGeom>
          <a:noFill/>
        </p:spPr>
        <p:txBody>
          <a:bodyPr vert="horz" wrap="square" lIns="0" tIns="0" rIns="0" bIns="0" rtlCol="0">
            <a:noAutofit/>
          </a:bodyPr>
          <a:lstStyle/>
          <a:p>
            <a:pPr>
              <a:lnSpc>
                <a:spcPct val="110000"/>
              </a:lnSpc>
            </a:pPr>
            <a:r>
              <a:rPr lang="en-IN" sz="2200" b="1">
                <a:solidFill>
                  <a:srgbClr val="0B2340"/>
                </a:solidFill>
                <a:latin typeface="Georgia" panose="02040502050405020303" pitchFamily="18" charset="0"/>
              </a:rPr>
              <a:t>Linear Regression</a:t>
            </a:r>
          </a:p>
        </p:txBody>
      </p:sp>
      <p:sp>
        <p:nvSpPr>
          <p:cNvPr id="15" name="TextBox 14">
            <a:extLst>
              <a:ext uri="{FF2B5EF4-FFF2-40B4-BE49-F238E27FC236}">
                <a16:creationId xmlns:a16="http://schemas.microsoft.com/office/drawing/2014/main" id="{6932EE66-8FC4-72F9-D8BA-272BAE192116}"/>
              </a:ext>
            </a:extLst>
          </p:cNvPr>
          <p:cNvSpPr txBox="1"/>
          <p:nvPr/>
        </p:nvSpPr>
        <p:spPr>
          <a:xfrm>
            <a:off x="863600" y="2844800"/>
            <a:ext cx="3048000" cy="369332"/>
          </a:xfrm>
          <a:prstGeom prst="rect">
            <a:avLst/>
          </a:prstGeom>
          <a:noFill/>
        </p:spPr>
        <p:txBody>
          <a:bodyPr vert="horz" wrap="square" lIns="0" tIns="0" rIns="0" bIns="0" rtlCol="0">
            <a:noAutofit/>
          </a:bodyPr>
          <a:lstStyle/>
          <a:p>
            <a:pPr>
              <a:lnSpc>
                <a:spcPct val="110000"/>
              </a:lnSpc>
            </a:pPr>
            <a:r>
              <a:rPr lang="en-US" sz="1400">
                <a:solidFill>
                  <a:srgbClr val="3E5670"/>
                </a:solidFill>
                <a:latin typeface="Segoe UI" panose="020B0502040204020203" pitchFamily="34" charset="0"/>
              </a:rPr>
              <a:t>Score = a weighted sum of the five inputs, with weights that minimise squared error.</a:t>
            </a:r>
            <a:endParaRPr lang="en-IN" sz="1400">
              <a:solidFill>
                <a:srgbClr val="3E5670"/>
              </a:solidFill>
              <a:latin typeface="Segoe UI" panose="020B0502040204020203" pitchFamily="34" charset="0"/>
            </a:endParaRPr>
          </a:p>
        </p:txBody>
      </p:sp>
      <p:sp>
        <p:nvSpPr>
          <p:cNvPr id="16" name="TextBox 15">
            <a:extLst>
              <a:ext uri="{FF2B5EF4-FFF2-40B4-BE49-F238E27FC236}">
                <a16:creationId xmlns:a16="http://schemas.microsoft.com/office/drawing/2014/main" id="{618EF13D-12EA-5143-771A-E35F3C33F54E}"/>
              </a:ext>
            </a:extLst>
          </p:cNvPr>
          <p:cNvSpPr txBox="1"/>
          <p:nvPr/>
        </p:nvSpPr>
        <p:spPr>
          <a:xfrm>
            <a:off x="863600" y="4267200"/>
            <a:ext cx="3048000" cy="369332"/>
          </a:xfrm>
          <a:prstGeom prst="rect">
            <a:avLst/>
          </a:prstGeom>
          <a:noFill/>
        </p:spPr>
        <p:txBody>
          <a:bodyPr vert="horz" wrap="square" lIns="0" tIns="0" rIns="0" bIns="0" rtlCol="0">
            <a:noAutofit/>
          </a:bodyPr>
          <a:lstStyle/>
          <a:p>
            <a:pPr>
              <a:lnSpc>
                <a:spcPct val="110000"/>
              </a:lnSpc>
            </a:pPr>
            <a:r>
              <a:rPr lang="en-US" sz="1200">
                <a:solidFill>
                  <a:srgbClr val="6B8296"/>
                </a:solidFill>
                <a:latin typeface="Segoe UI" panose="020B0502040204020203" pitchFamily="34" charset="0"/>
              </a:rPr>
              <a:t>Settings: StandardScaler + ordinary least squares</a:t>
            </a:r>
            <a:endParaRPr lang="en-IN" sz="1200">
              <a:solidFill>
                <a:srgbClr val="6B8296"/>
              </a:solidFill>
              <a:latin typeface="Segoe UI" panose="020B0502040204020203" pitchFamily="34" charset="0"/>
            </a:endParaRPr>
          </a:p>
        </p:txBody>
      </p:sp>
      <p:sp>
        <p:nvSpPr>
          <p:cNvPr id="17" name="Rectangle: Rounded Corners 16">
            <a:extLst>
              <a:ext uri="{FF2B5EF4-FFF2-40B4-BE49-F238E27FC236}">
                <a16:creationId xmlns:a16="http://schemas.microsoft.com/office/drawing/2014/main" id="{6A0018C0-338A-4BBC-217A-3D609416CE3C}"/>
              </a:ext>
            </a:extLst>
          </p:cNvPr>
          <p:cNvSpPr/>
          <p:nvPr/>
        </p:nvSpPr>
        <p:spPr>
          <a:xfrm>
            <a:off x="4318000" y="1778000"/>
            <a:ext cx="3556000" cy="34290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BE788C2F-E790-1709-D03E-563130E338CB}"/>
              </a:ext>
            </a:extLst>
          </p:cNvPr>
          <p:cNvSpPr txBox="1"/>
          <p:nvPr/>
        </p:nvSpPr>
        <p:spPr>
          <a:xfrm>
            <a:off x="4572000" y="2032000"/>
            <a:ext cx="3048000" cy="369332"/>
          </a:xfrm>
          <a:prstGeom prst="rect">
            <a:avLst/>
          </a:prstGeom>
          <a:noFill/>
        </p:spPr>
        <p:txBody>
          <a:bodyPr vert="horz" wrap="square" lIns="0" tIns="0" rIns="0" bIns="0" rtlCol="0">
            <a:noAutofit/>
          </a:bodyPr>
          <a:lstStyle/>
          <a:p>
            <a:pPr>
              <a:lnSpc>
                <a:spcPct val="110000"/>
              </a:lnSpc>
            </a:pPr>
            <a:r>
              <a:rPr lang="en-IN" sz="1100">
                <a:solidFill>
                  <a:srgbClr val="26658C"/>
                </a:solidFill>
                <a:latin typeface="Segoe UI Semibold" panose="020B0702040204020203" pitchFamily="34" charset="0"/>
              </a:rPr>
              <a:t>BAGGING ENSEMBLE</a:t>
            </a:r>
          </a:p>
        </p:txBody>
      </p:sp>
      <p:sp>
        <p:nvSpPr>
          <p:cNvPr id="19" name="TextBox 18">
            <a:extLst>
              <a:ext uri="{FF2B5EF4-FFF2-40B4-BE49-F238E27FC236}">
                <a16:creationId xmlns:a16="http://schemas.microsoft.com/office/drawing/2014/main" id="{D6E88FF3-82BB-41C7-8EC2-68164F6B849E}"/>
              </a:ext>
            </a:extLst>
          </p:cNvPr>
          <p:cNvSpPr txBox="1"/>
          <p:nvPr/>
        </p:nvSpPr>
        <p:spPr>
          <a:xfrm>
            <a:off x="4572000" y="2286000"/>
            <a:ext cx="3048000" cy="381000"/>
          </a:xfrm>
          <a:prstGeom prst="rect">
            <a:avLst/>
          </a:prstGeom>
          <a:noFill/>
        </p:spPr>
        <p:txBody>
          <a:bodyPr vert="horz" wrap="square" lIns="0" tIns="0" rIns="0" bIns="0" rtlCol="0">
            <a:noAutofit/>
          </a:bodyPr>
          <a:lstStyle/>
          <a:p>
            <a:pPr>
              <a:lnSpc>
                <a:spcPct val="110000"/>
              </a:lnSpc>
            </a:pPr>
            <a:r>
              <a:rPr lang="en-IN" sz="2200" b="1">
                <a:solidFill>
                  <a:srgbClr val="0B2340"/>
                </a:solidFill>
                <a:latin typeface="Georgia" panose="02040502050405020303" pitchFamily="18" charset="0"/>
              </a:rPr>
              <a:t>Random Forest</a:t>
            </a:r>
          </a:p>
        </p:txBody>
      </p:sp>
      <p:sp>
        <p:nvSpPr>
          <p:cNvPr id="20" name="TextBox 19">
            <a:extLst>
              <a:ext uri="{FF2B5EF4-FFF2-40B4-BE49-F238E27FC236}">
                <a16:creationId xmlns:a16="http://schemas.microsoft.com/office/drawing/2014/main" id="{E16A5438-7176-38CB-04DB-0379A97F2D08}"/>
              </a:ext>
            </a:extLst>
          </p:cNvPr>
          <p:cNvSpPr txBox="1"/>
          <p:nvPr/>
        </p:nvSpPr>
        <p:spPr>
          <a:xfrm>
            <a:off x="4572000" y="2844800"/>
            <a:ext cx="3048000" cy="369332"/>
          </a:xfrm>
          <a:prstGeom prst="rect">
            <a:avLst/>
          </a:prstGeom>
          <a:noFill/>
        </p:spPr>
        <p:txBody>
          <a:bodyPr vert="horz" wrap="square" lIns="0" tIns="0" rIns="0" bIns="0" rtlCol="0">
            <a:noAutofit/>
          </a:bodyPr>
          <a:lstStyle/>
          <a:p>
            <a:pPr>
              <a:lnSpc>
                <a:spcPct val="110000"/>
              </a:lnSpc>
            </a:pPr>
            <a:r>
              <a:rPr lang="en-US" sz="1400">
                <a:solidFill>
                  <a:srgbClr val="3E5670"/>
                </a:solidFill>
                <a:latin typeface="Segoe UI" panose="020B0502040204020203" pitchFamily="34" charset="0"/>
              </a:rPr>
              <a:t>Averages many decision trees, each trained on a random sample of rows and features.</a:t>
            </a:r>
            <a:endParaRPr lang="en-IN" sz="1400">
              <a:solidFill>
                <a:srgbClr val="3E5670"/>
              </a:solidFill>
              <a:latin typeface="Segoe UI" panose="020B0502040204020203" pitchFamily="34" charset="0"/>
            </a:endParaRPr>
          </a:p>
        </p:txBody>
      </p:sp>
      <p:sp>
        <p:nvSpPr>
          <p:cNvPr id="21" name="TextBox 20">
            <a:extLst>
              <a:ext uri="{FF2B5EF4-FFF2-40B4-BE49-F238E27FC236}">
                <a16:creationId xmlns:a16="http://schemas.microsoft.com/office/drawing/2014/main" id="{68238990-AF04-66AD-5D6B-F377F73521B6}"/>
              </a:ext>
            </a:extLst>
          </p:cNvPr>
          <p:cNvSpPr txBox="1"/>
          <p:nvPr/>
        </p:nvSpPr>
        <p:spPr>
          <a:xfrm>
            <a:off x="4572000" y="4267200"/>
            <a:ext cx="3048000" cy="369332"/>
          </a:xfrm>
          <a:prstGeom prst="rect">
            <a:avLst/>
          </a:prstGeom>
          <a:noFill/>
        </p:spPr>
        <p:txBody>
          <a:bodyPr vert="horz" wrap="square" lIns="0" tIns="0" rIns="0" bIns="0" rtlCol="0">
            <a:noAutofit/>
          </a:bodyPr>
          <a:lstStyle/>
          <a:p>
            <a:pPr>
              <a:lnSpc>
                <a:spcPct val="110000"/>
              </a:lnSpc>
            </a:pPr>
            <a:r>
              <a:rPr lang="en-US" sz="1200">
                <a:solidFill>
                  <a:srgbClr val="6B8296"/>
                </a:solidFill>
                <a:latin typeface="Segoe UI" panose="020B0502040204020203" pitchFamily="34" charset="0"/>
              </a:rPr>
              <a:t>Settings: 300 trees, min 3 samples per leaf</a:t>
            </a:r>
            <a:endParaRPr lang="en-IN" sz="1200">
              <a:solidFill>
                <a:srgbClr val="6B8296"/>
              </a:solidFill>
              <a:latin typeface="Segoe UI" panose="020B0502040204020203" pitchFamily="34" charset="0"/>
            </a:endParaRPr>
          </a:p>
        </p:txBody>
      </p:sp>
      <p:sp>
        <p:nvSpPr>
          <p:cNvPr id="22" name="Rectangle: Rounded Corners 21">
            <a:extLst>
              <a:ext uri="{FF2B5EF4-FFF2-40B4-BE49-F238E27FC236}">
                <a16:creationId xmlns:a16="http://schemas.microsoft.com/office/drawing/2014/main" id="{30F3A617-18B0-C496-4DEA-AC57860F0DA4}"/>
              </a:ext>
            </a:extLst>
          </p:cNvPr>
          <p:cNvSpPr/>
          <p:nvPr/>
        </p:nvSpPr>
        <p:spPr>
          <a:xfrm>
            <a:off x="8026400" y="1778000"/>
            <a:ext cx="3556000" cy="34290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B27B3709-3B94-D1F0-BA89-2BCB716EA810}"/>
              </a:ext>
            </a:extLst>
          </p:cNvPr>
          <p:cNvSpPr txBox="1"/>
          <p:nvPr/>
        </p:nvSpPr>
        <p:spPr>
          <a:xfrm>
            <a:off x="8280400" y="2032000"/>
            <a:ext cx="3048000" cy="369332"/>
          </a:xfrm>
          <a:prstGeom prst="rect">
            <a:avLst/>
          </a:prstGeom>
          <a:noFill/>
        </p:spPr>
        <p:txBody>
          <a:bodyPr vert="horz" wrap="square" lIns="0" tIns="0" rIns="0" bIns="0" rtlCol="0">
            <a:noAutofit/>
          </a:bodyPr>
          <a:lstStyle/>
          <a:p>
            <a:pPr>
              <a:lnSpc>
                <a:spcPct val="110000"/>
              </a:lnSpc>
            </a:pPr>
            <a:r>
              <a:rPr lang="en-IN" sz="1100">
                <a:solidFill>
                  <a:srgbClr val="26658C"/>
                </a:solidFill>
                <a:latin typeface="Segoe UI Semibold" panose="020B0702040204020203" pitchFamily="34" charset="0"/>
              </a:rPr>
              <a:t>BOOSTING ENSEMBLE</a:t>
            </a:r>
          </a:p>
        </p:txBody>
      </p:sp>
      <p:sp>
        <p:nvSpPr>
          <p:cNvPr id="24" name="TextBox 23">
            <a:extLst>
              <a:ext uri="{FF2B5EF4-FFF2-40B4-BE49-F238E27FC236}">
                <a16:creationId xmlns:a16="http://schemas.microsoft.com/office/drawing/2014/main" id="{E4823759-6F89-8186-0128-ACA2651D7E2F}"/>
              </a:ext>
            </a:extLst>
          </p:cNvPr>
          <p:cNvSpPr txBox="1"/>
          <p:nvPr/>
        </p:nvSpPr>
        <p:spPr>
          <a:xfrm>
            <a:off x="8280400" y="2286000"/>
            <a:ext cx="3048000" cy="381000"/>
          </a:xfrm>
          <a:prstGeom prst="rect">
            <a:avLst/>
          </a:prstGeom>
          <a:noFill/>
        </p:spPr>
        <p:txBody>
          <a:bodyPr vert="horz" wrap="square" lIns="0" tIns="0" rIns="0" bIns="0" rtlCol="0">
            <a:noAutofit/>
          </a:bodyPr>
          <a:lstStyle/>
          <a:p>
            <a:pPr>
              <a:lnSpc>
                <a:spcPct val="110000"/>
              </a:lnSpc>
            </a:pPr>
            <a:r>
              <a:rPr lang="en-IN" sz="2200" b="1">
                <a:solidFill>
                  <a:srgbClr val="0B2340"/>
                </a:solidFill>
                <a:latin typeface="Georgia" panose="02040502050405020303" pitchFamily="18" charset="0"/>
              </a:rPr>
              <a:t>XGBoost</a:t>
            </a:r>
          </a:p>
        </p:txBody>
      </p:sp>
      <p:sp>
        <p:nvSpPr>
          <p:cNvPr id="25" name="TextBox 24">
            <a:extLst>
              <a:ext uri="{FF2B5EF4-FFF2-40B4-BE49-F238E27FC236}">
                <a16:creationId xmlns:a16="http://schemas.microsoft.com/office/drawing/2014/main" id="{93F12C75-7DBB-CE64-A9E0-771F43E50213}"/>
              </a:ext>
            </a:extLst>
          </p:cNvPr>
          <p:cNvSpPr txBox="1"/>
          <p:nvPr/>
        </p:nvSpPr>
        <p:spPr>
          <a:xfrm>
            <a:off x="8280400" y="2844800"/>
            <a:ext cx="3048000" cy="369332"/>
          </a:xfrm>
          <a:prstGeom prst="rect">
            <a:avLst/>
          </a:prstGeom>
          <a:noFill/>
        </p:spPr>
        <p:txBody>
          <a:bodyPr vert="horz" wrap="square" lIns="0" tIns="0" rIns="0" bIns="0" rtlCol="0">
            <a:noAutofit/>
          </a:bodyPr>
          <a:lstStyle/>
          <a:p>
            <a:pPr>
              <a:lnSpc>
                <a:spcPct val="110000"/>
              </a:lnSpc>
            </a:pPr>
            <a:r>
              <a:rPr lang="en-US" sz="1400">
                <a:solidFill>
                  <a:srgbClr val="3E5670"/>
                </a:solidFill>
                <a:latin typeface="Segoe UI" panose="020B0502040204020203" pitchFamily="34" charset="0"/>
              </a:rPr>
              <a:t>Builds trees one after another, each fixing the errors the earlier trees still make.</a:t>
            </a:r>
            <a:endParaRPr lang="en-IN" sz="1400">
              <a:solidFill>
                <a:srgbClr val="3E5670"/>
              </a:solidFill>
              <a:latin typeface="Segoe UI" panose="020B0502040204020203" pitchFamily="34" charset="0"/>
            </a:endParaRPr>
          </a:p>
        </p:txBody>
      </p:sp>
      <p:sp>
        <p:nvSpPr>
          <p:cNvPr id="26" name="TextBox 25">
            <a:extLst>
              <a:ext uri="{FF2B5EF4-FFF2-40B4-BE49-F238E27FC236}">
                <a16:creationId xmlns:a16="http://schemas.microsoft.com/office/drawing/2014/main" id="{3D8070E2-896D-2F59-CE12-7FF8359379CD}"/>
              </a:ext>
            </a:extLst>
          </p:cNvPr>
          <p:cNvSpPr txBox="1"/>
          <p:nvPr/>
        </p:nvSpPr>
        <p:spPr>
          <a:xfrm>
            <a:off x="8280400" y="4267200"/>
            <a:ext cx="3048000" cy="369332"/>
          </a:xfrm>
          <a:prstGeom prst="rect">
            <a:avLst/>
          </a:prstGeom>
          <a:noFill/>
        </p:spPr>
        <p:txBody>
          <a:bodyPr vert="horz" wrap="square" lIns="0" tIns="0" rIns="0" bIns="0" rtlCol="0">
            <a:noAutofit/>
          </a:bodyPr>
          <a:lstStyle/>
          <a:p>
            <a:pPr>
              <a:lnSpc>
                <a:spcPct val="110000"/>
              </a:lnSpc>
            </a:pPr>
            <a:r>
              <a:rPr lang="en-US" sz="1200">
                <a:solidFill>
                  <a:srgbClr val="6B8296"/>
                </a:solidFill>
                <a:latin typeface="Segoe UI" panose="020B0502040204020203" pitchFamily="34" charset="0"/>
              </a:rPr>
              <a:t>Settings: 400 trees, depth 4, learning rate 0.05, monotone constraints</a:t>
            </a:r>
            <a:endParaRPr lang="en-IN" sz="1200">
              <a:solidFill>
                <a:srgbClr val="6B8296"/>
              </a:solidFill>
              <a:latin typeface="Segoe UI" panose="020B0502040204020203" pitchFamily="34" charset="0"/>
            </a:endParaRPr>
          </a:p>
        </p:txBody>
      </p:sp>
      <p:sp>
        <p:nvSpPr>
          <p:cNvPr id="27" name="TextBox 26">
            <a:extLst>
              <a:ext uri="{FF2B5EF4-FFF2-40B4-BE49-F238E27FC236}">
                <a16:creationId xmlns:a16="http://schemas.microsoft.com/office/drawing/2014/main" id="{AB4967A4-5079-8EB7-66DD-7B0EA40510BC}"/>
              </a:ext>
            </a:extLst>
          </p:cNvPr>
          <p:cNvSpPr txBox="1"/>
          <p:nvPr/>
        </p:nvSpPr>
        <p:spPr>
          <a:xfrm>
            <a:off x="609600" y="5461000"/>
            <a:ext cx="10972800" cy="369332"/>
          </a:xfrm>
          <a:prstGeom prst="rect">
            <a:avLst/>
          </a:prstGeom>
          <a:noFill/>
        </p:spPr>
        <p:txBody>
          <a:bodyPr vert="horz" wrap="square" lIns="0" tIns="0" rIns="0" bIns="0" rtlCol="0">
            <a:noAutofit/>
          </a:bodyPr>
          <a:lstStyle/>
          <a:p>
            <a:pPr>
              <a:lnSpc>
                <a:spcPct val="110000"/>
              </a:lnSpc>
            </a:pPr>
            <a:r>
              <a:rPr lang="en-US" sz="1400">
                <a:solidFill>
                  <a:srgbClr val="3E5670"/>
                </a:solidFill>
                <a:latin typeface="Segoe UI" panose="020B0502040204020203" pitchFamily="34" charset="0"/>
              </a:rPr>
              <a:t>Evaluated on a held-out 20% test set (199 students) with MAE, MSE, RMSE and R², plus 5-fold cross-validation.</a:t>
            </a:r>
            <a:endParaRPr lang="en-IN" sz="1400">
              <a:solidFill>
                <a:srgbClr val="3E5670"/>
              </a:solidFill>
              <a:latin typeface="Segoe UI" panose="020B0502040204020203" pitchFamily="34" charset="0"/>
            </a:endParaRPr>
          </a:p>
        </p:txBody>
      </p:sp>
    </p:spTree>
    <p:extLst>
      <p:ext uri="{BB962C8B-B14F-4D97-AF65-F5344CB8AC3E}">
        <p14:creationId xmlns:p14="http://schemas.microsoft.com/office/powerpoint/2010/main" val="1188066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8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FFFCB7-08D3-EF47-21E3-663A311920BB}"/>
              </a:ext>
            </a:extLst>
          </p:cNvPr>
          <p:cNvSpPr txBox="1"/>
          <p:nvPr/>
        </p:nvSpPr>
        <p:spPr>
          <a:xfrm>
            <a:off x="6096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Introduction</a:t>
            </a:r>
          </a:p>
        </p:txBody>
      </p:sp>
      <p:sp>
        <p:nvSpPr>
          <p:cNvPr id="3" name="TextBox 2">
            <a:extLst>
              <a:ext uri="{FF2B5EF4-FFF2-40B4-BE49-F238E27FC236}">
                <a16:creationId xmlns:a16="http://schemas.microsoft.com/office/drawing/2014/main" id="{879A0201-532E-4532-0278-ED1A81E16DB6}"/>
              </a:ext>
            </a:extLst>
          </p:cNvPr>
          <p:cNvSpPr txBox="1"/>
          <p:nvPr/>
        </p:nvSpPr>
        <p:spPr>
          <a:xfrm>
            <a:off x="28067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Data &amp; Methodology</a:t>
            </a:r>
          </a:p>
        </p:txBody>
      </p:sp>
      <p:sp>
        <p:nvSpPr>
          <p:cNvPr id="4" name="TextBox 3">
            <a:extLst>
              <a:ext uri="{FF2B5EF4-FFF2-40B4-BE49-F238E27FC236}">
                <a16:creationId xmlns:a16="http://schemas.microsoft.com/office/drawing/2014/main" id="{389CF088-D0B3-17DB-A119-72300736E25C}"/>
              </a:ext>
            </a:extLst>
          </p:cNvPr>
          <p:cNvSpPr txBox="1"/>
          <p:nvPr/>
        </p:nvSpPr>
        <p:spPr>
          <a:xfrm>
            <a:off x="50038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Preprocessing &amp; EDA</a:t>
            </a:r>
          </a:p>
        </p:txBody>
      </p:sp>
      <p:sp>
        <p:nvSpPr>
          <p:cNvPr id="5" name="Rectangle: Rounded Corners 4">
            <a:extLst>
              <a:ext uri="{FF2B5EF4-FFF2-40B4-BE49-F238E27FC236}">
                <a16:creationId xmlns:a16="http://schemas.microsoft.com/office/drawing/2014/main" id="{EEFA797B-E09B-7982-FD55-124C8F33696A}"/>
              </a:ext>
            </a:extLst>
          </p:cNvPr>
          <p:cNvSpPr/>
          <p:nvPr/>
        </p:nvSpPr>
        <p:spPr>
          <a:xfrm>
            <a:off x="7200900" y="203200"/>
            <a:ext cx="2032000" cy="279400"/>
          </a:xfrm>
          <a:prstGeom prst="roundRect">
            <a:avLst>
              <a:gd name="adj" fmla="val 50000"/>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8A994154-935D-E97A-7B6E-8FF8B4CDC7DA}"/>
              </a:ext>
            </a:extLst>
          </p:cNvPr>
          <p:cNvSpPr txBox="1"/>
          <p:nvPr/>
        </p:nvSpPr>
        <p:spPr>
          <a:xfrm>
            <a:off x="72009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FFFFFF"/>
                </a:solidFill>
                <a:latin typeface="Segoe UI Semibold" panose="020B0702040204020203" pitchFamily="34" charset="0"/>
              </a:rPr>
              <a:t>Models &amp; Results</a:t>
            </a:r>
          </a:p>
        </p:txBody>
      </p:sp>
      <p:sp>
        <p:nvSpPr>
          <p:cNvPr id="7" name="TextBox 6">
            <a:extLst>
              <a:ext uri="{FF2B5EF4-FFF2-40B4-BE49-F238E27FC236}">
                <a16:creationId xmlns:a16="http://schemas.microsoft.com/office/drawing/2014/main" id="{94C96092-E938-A156-B265-59B911B97430}"/>
              </a:ext>
            </a:extLst>
          </p:cNvPr>
          <p:cNvSpPr txBox="1"/>
          <p:nvPr/>
        </p:nvSpPr>
        <p:spPr>
          <a:xfrm>
            <a:off x="93980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Demo &amp; Conclusion</a:t>
            </a:r>
          </a:p>
        </p:txBody>
      </p:sp>
      <p:sp>
        <p:nvSpPr>
          <p:cNvPr id="8" name="TextBox 7">
            <a:extLst>
              <a:ext uri="{FF2B5EF4-FFF2-40B4-BE49-F238E27FC236}">
                <a16:creationId xmlns:a16="http://schemas.microsoft.com/office/drawing/2014/main" id="{38C9ED23-B339-52CB-3EEB-279BB258133C}"/>
              </a:ext>
            </a:extLst>
          </p:cNvPr>
          <p:cNvSpPr txBox="1"/>
          <p:nvPr/>
        </p:nvSpPr>
        <p:spPr>
          <a:xfrm>
            <a:off x="609600" y="736600"/>
            <a:ext cx="8890000" cy="369332"/>
          </a:xfrm>
          <a:prstGeom prst="rect">
            <a:avLst/>
          </a:prstGeom>
          <a:noFill/>
        </p:spPr>
        <p:txBody>
          <a:bodyPr vert="horz" wrap="square" lIns="0" tIns="0" rIns="0" bIns="0" rtlCol="0">
            <a:noAutofit/>
          </a:bodyPr>
          <a:lstStyle/>
          <a:p>
            <a:pPr>
              <a:lnSpc>
                <a:spcPct val="110000"/>
              </a:lnSpc>
            </a:pPr>
            <a:r>
              <a:rPr lang="en-IN" sz="1100">
                <a:solidFill>
                  <a:srgbClr val="26658C"/>
                </a:solidFill>
                <a:latin typeface="Segoe UI Semibold" panose="020B0702040204020203" pitchFamily="34" charset="0"/>
              </a:rPr>
              <a:t>RESULTS</a:t>
            </a:r>
          </a:p>
        </p:txBody>
      </p:sp>
      <p:sp>
        <p:nvSpPr>
          <p:cNvPr id="9" name="TextBox 8">
            <a:extLst>
              <a:ext uri="{FF2B5EF4-FFF2-40B4-BE49-F238E27FC236}">
                <a16:creationId xmlns:a16="http://schemas.microsoft.com/office/drawing/2014/main" id="{5E701AA8-79D8-6440-8BF8-0CF74730C1CF}"/>
              </a:ext>
            </a:extLst>
          </p:cNvPr>
          <p:cNvSpPr txBox="1"/>
          <p:nvPr/>
        </p:nvSpPr>
        <p:spPr>
          <a:xfrm>
            <a:off x="609600" y="965200"/>
            <a:ext cx="10972800" cy="369332"/>
          </a:xfrm>
          <a:prstGeom prst="rect">
            <a:avLst/>
          </a:prstGeom>
          <a:noFill/>
        </p:spPr>
        <p:txBody>
          <a:bodyPr vert="horz" wrap="square" lIns="0" tIns="0" rIns="0" bIns="0" rtlCol="0">
            <a:noAutofit/>
          </a:bodyPr>
          <a:lstStyle/>
          <a:p>
            <a:pPr>
              <a:lnSpc>
                <a:spcPct val="110000"/>
              </a:lnSpc>
            </a:pPr>
            <a:r>
              <a:rPr lang="en-US" sz="2600" b="1">
                <a:solidFill>
                  <a:srgbClr val="0B2340"/>
                </a:solidFill>
                <a:latin typeface="Georgia" panose="02040502050405020303" pitchFamily="18" charset="0"/>
              </a:rPr>
              <a:t>Linear Regression wins narrowly: R² 0.901, error ±3.3 marks</a:t>
            </a:r>
            <a:endParaRPr lang="en-IN" sz="2600" b="1">
              <a:solidFill>
                <a:srgbClr val="0B2340"/>
              </a:solidFill>
              <a:latin typeface="Georgia" panose="02040502050405020303" pitchFamily="18" charset="0"/>
            </a:endParaRPr>
          </a:p>
        </p:txBody>
      </p:sp>
      <p:sp>
        <p:nvSpPr>
          <p:cNvPr id="10" name="TextBox 9">
            <a:extLst>
              <a:ext uri="{FF2B5EF4-FFF2-40B4-BE49-F238E27FC236}">
                <a16:creationId xmlns:a16="http://schemas.microsoft.com/office/drawing/2014/main" id="{8A9A66F3-DAB7-6B00-06FB-2A6C81250AD2}"/>
              </a:ext>
            </a:extLst>
          </p:cNvPr>
          <p:cNvSpPr txBox="1"/>
          <p:nvPr/>
        </p:nvSpPr>
        <p:spPr>
          <a:xfrm>
            <a:off x="609600" y="6502400"/>
            <a:ext cx="7620000" cy="369332"/>
          </a:xfrm>
          <a:prstGeom prst="rect">
            <a:avLst/>
          </a:prstGeom>
          <a:noFill/>
        </p:spPr>
        <p:txBody>
          <a:bodyPr vert="horz" wrap="square" lIns="0" tIns="0" rIns="0" bIns="0" rtlCol="0">
            <a:noAutofit/>
          </a:bodyPr>
          <a:lstStyle/>
          <a:p>
            <a:pPr>
              <a:lnSpc>
                <a:spcPct val="110000"/>
              </a:lnSpc>
            </a:pPr>
            <a:r>
              <a:rPr lang="en-US" sz="900">
                <a:solidFill>
                  <a:srgbClr val="6B8296"/>
                </a:solidFill>
                <a:latin typeface="Segoe UI" panose="020B0502040204020203" pitchFamily="34" charset="0"/>
              </a:rPr>
              <a:t>Acadrix · Student Performance Prediction System</a:t>
            </a:r>
            <a:endParaRPr lang="en-IN" sz="900">
              <a:solidFill>
                <a:srgbClr val="6B8296"/>
              </a:solidFill>
              <a:latin typeface="Segoe UI" panose="020B0502040204020203" pitchFamily="34" charset="0"/>
            </a:endParaRPr>
          </a:p>
        </p:txBody>
      </p:sp>
      <p:sp>
        <p:nvSpPr>
          <p:cNvPr id="11" name="TextBox 10">
            <a:extLst>
              <a:ext uri="{FF2B5EF4-FFF2-40B4-BE49-F238E27FC236}">
                <a16:creationId xmlns:a16="http://schemas.microsoft.com/office/drawing/2014/main" id="{E52BA7F0-C8D4-7F26-D122-0ED49C2FA109}"/>
              </a:ext>
            </a:extLst>
          </p:cNvPr>
          <p:cNvSpPr txBox="1"/>
          <p:nvPr/>
        </p:nvSpPr>
        <p:spPr>
          <a:xfrm>
            <a:off x="10820400" y="6502400"/>
            <a:ext cx="762000" cy="369332"/>
          </a:xfrm>
          <a:prstGeom prst="rect">
            <a:avLst/>
          </a:prstGeom>
          <a:noFill/>
        </p:spPr>
        <p:txBody>
          <a:bodyPr vert="horz" wrap="square" lIns="0" tIns="0" rIns="0" bIns="0" rtlCol="0">
            <a:noAutofit/>
          </a:bodyPr>
          <a:lstStyle/>
          <a:p>
            <a:pPr algn="r">
              <a:lnSpc>
                <a:spcPct val="110000"/>
              </a:lnSpc>
            </a:pPr>
            <a:r>
              <a:rPr lang="en-IN" sz="900">
                <a:solidFill>
                  <a:srgbClr val="6B8296"/>
                </a:solidFill>
                <a:latin typeface="Segoe UI" panose="020B0502040204020203" pitchFamily="34" charset="0"/>
              </a:rPr>
              <a:t>11</a:t>
            </a:r>
          </a:p>
        </p:txBody>
      </p:sp>
      <p:graphicFrame>
        <p:nvGraphicFramePr>
          <p:cNvPr id="12" name="Table 11">
            <a:extLst>
              <a:ext uri="{FF2B5EF4-FFF2-40B4-BE49-F238E27FC236}">
                <a16:creationId xmlns:a16="http://schemas.microsoft.com/office/drawing/2014/main" id="{F8D6922E-1080-83A3-C3EC-8C135ABA1FC1}"/>
              </a:ext>
            </a:extLst>
          </p:cNvPr>
          <p:cNvGraphicFramePr>
            <a:graphicFrameLocks noGrp="1"/>
          </p:cNvGraphicFramePr>
          <p:nvPr>
            <p:extLst>
              <p:ext uri="{D42A27DB-BD31-4B8C-83A1-F6EECF244321}">
                <p14:modId xmlns:p14="http://schemas.microsoft.com/office/powerpoint/2010/main" val="315665576"/>
              </p:ext>
            </p:extLst>
          </p:nvPr>
        </p:nvGraphicFramePr>
        <p:xfrm>
          <a:off x="609600" y="1778000"/>
          <a:ext cx="6858000" cy="19050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1293567780"/>
                    </a:ext>
                  </a:extLst>
                </a:gridCol>
                <a:gridCol w="1143000">
                  <a:extLst>
                    <a:ext uri="{9D8B030D-6E8A-4147-A177-3AD203B41FA5}">
                      <a16:colId xmlns:a16="http://schemas.microsoft.com/office/drawing/2014/main" val="4003509697"/>
                    </a:ext>
                  </a:extLst>
                </a:gridCol>
                <a:gridCol w="1143000">
                  <a:extLst>
                    <a:ext uri="{9D8B030D-6E8A-4147-A177-3AD203B41FA5}">
                      <a16:colId xmlns:a16="http://schemas.microsoft.com/office/drawing/2014/main" val="1331603787"/>
                    </a:ext>
                  </a:extLst>
                </a:gridCol>
                <a:gridCol w="1143000">
                  <a:extLst>
                    <a:ext uri="{9D8B030D-6E8A-4147-A177-3AD203B41FA5}">
                      <a16:colId xmlns:a16="http://schemas.microsoft.com/office/drawing/2014/main" val="2382204403"/>
                    </a:ext>
                  </a:extLst>
                </a:gridCol>
                <a:gridCol w="1143000">
                  <a:extLst>
                    <a:ext uri="{9D8B030D-6E8A-4147-A177-3AD203B41FA5}">
                      <a16:colId xmlns:a16="http://schemas.microsoft.com/office/drawing/2014/main" val="3358260718"/>
                    </a:ext>
                  </a:extLst>
                </a:gridCol>
              </a:tblGrid>
              <a:tr h="476250">
                <a:tc>
                  <a:txBody>
                    <a:bodyPr/>
                    <a:lstStyle/>
                    <a:p>
                      <a:r>
                        <a:rPr lang="en-IN" sz="1400" b="1">
                          <a:solidFill>
                            <a:srgbClr val="0B2340"/>
                          </a:solidFill>
                          <a:latin typeface="Segoe UI" panose="020B0502040204020203" pitchFamily="34" charset="0"/>
                        </a:rPr>
                        <a:t>Model</a:t>
                      </a:r>
                    </a:p>
                  </a:txBody>
                  <a:tcPr>
                    <a:solidFill>
                      <a:srgbClr val="DCEFF5"/>
                    </a:solidFill>
                  </a:tcPr>
                </a:tc>
                <a:tc>
                  <a:txBody>
                    <a:bodyPr/>
                    <a:lstStyle/>
                    <a:p>
                      <a:pPr algn="r"/>
                      <a:r>
                        <a:rPr lang="en-IN" sz="1400" b="1">
                          <a:solidFill>
                            <a:srgbClr val="0B2340"/>
                          </a:solidFill>
                          <a:latin typeface="Segoe UI" panose="020B0502040204020203" pitchFamily="34" charset="0"/>
                        </a:rPr>
                        <a:t>MAE</a:t>
                      </a:r>
                    </a:p>
                  </a:txBody>
                  <a:tcPr>
                    <a:solidFill>
                      <a:srgbClr val="DCEFF5"/>
                    </a:solidFill>
                  </a:tcPr>
                </a:tc>
                <a:tc>
                  <a:txBody>
                    <a:bodyPr/>
                    <a:lstStyle/>
                    <a:p>
                      <a:pPr algn="r"/>
                      <a:r>
                        <a:rPr lang="en-IN" sz="1400" b="1">
                          <a:solidFill>
                            <a:srgbClr val="0B2340"/>
                          </a:solidFill>
                          <a:latin typeface="Segoe UI" panose="020B0502040204020203" pitchFamily="34" charset="0"/>
                        </a:rPr>
                        <a:t>RMSE</a:t>
                      </a:r>
                    </a:p>
                  </a:txBody>
                  <a:tcPr>
                    <a:solidFill>
                      <a:srgbClr val="DCEFF5"/>
                    </a:solidFill>
                  </a:tcPr>
                </a:tc>
                <a:tc>
                  <a:txBody>
                    <a:bodyPr/>
                    <a:lstStyle/>
                    <a:p>
                      <a:pPr algn="r"/>
                      <a:r>
                        <a:rPr lang="en-IN" sz="1400" b="1">
                          <a:solidFill>
                            <a:srgbClr val="0B2340"/>
                          </a:solidFill>
                          <a:latin typeface="Segoe UI" panose="020B0502040204020203" pitchFamily="34" charset="0"/>
                        </a:rPr>
                        <a:t>R²</a:t>
                      </a:r>
                    </a:p>
                  </a:txBody>
                  <a:tcPr>
                    <a:solidFill>
                      <a:srgbClr val="DCEFF5"/>
                    </a:solidFill>
                  </a:tcPr>
                </a:tc>
                <a:tc>
                  <a:txBody>
                    <a:bodyPr/>
                    <a:lstStyle/>
                    <a:p>
                      <a:pPr algn="r"/>
                      <a:r>
                        <a:rPr lang="en-IN" sz="1400" b="1">
                          <a:solidFill>
                            <a:srgbClr val="0B2340"/>
                          </a:solidFill>
                          <a:latin typeface="Segoe UI" panose="020B0502040204020203" pitchFamily="34" charset="0"/>
                        </a:rPr>
                        <a:t>CV R²</a:t>
                      </a:r>
                    </a:p>
                  </a:txBody>
                  <a:tcPr>
                    <a:solidFill>
                      <a:srgbClr val="DCEFF5"/>
                    </a:solidFill>
                  </a:tcPr>
                </a:tc>
                <a:extLst>
                  <a:ext uri="{0D108BD9-81ED-4DB2-BD59-A6C34878D82A}">
                    <a16:rowId xmlns:a16="http://schemas.microsoft.com/office/drawing/2014/main" val="2940690018"/>
                  </a:ext>
                </a:extLst>
              </a:tr>
              <a:tr h="476250">
                <a:tc>
                  <a:txBody>
                    <a:bodyPr/>
                    <a:lstStyle/>
                    <a:p>
                      <a:r>
                        <a:rPr lang="en-IN" sz="1400" b="1">
                          <a:solidFill>
                            <a:srgbClr val="0B2340"/>
                          </a:solidFill>
                          <a:latin typeface="Segoe UI" panose="020B0502040204020203" pitchFamily="34" charset="0"/>
                        </a:rPr>
                        <a:t>Linear Regression</a:t>
                      </a:r>
                    </a:p>
                  </a:txBody>
                  <a:tcPr>
                    <a:solidFill>
                      <a:srgbClr val="E6F4F8"/>
                    </a:solidFill>
                  </a:tcPr>
                </a:tc>
                <a:tc>
                  <a:txBody>
                    <a:bodyPr/>
                    <a:lstStyle/>
                    <a:p>
                      <a:pPr algn="r"/>
                      <a:r>
                        <a:rPr lang="en-IN" sz="1400" b="1">
                          <a:solidFill>
                            <a:srgbClr val="0B2340"/>
                          </a:solidFill>
                          <a:latin typeface="Segoe UI" panose="020B0502040204020203" pitchFamily="34" charset="0"/>
                        </a:rPr>
                        <a:t>3.32</a:t>
                      </a:r>
                    </a:p>
                  </a:txBody>
                  <a:tcPr>
                    <a:solidFill>
                      <a:srgbClr val="E6F4F8"/>
                    </a:solidFill>
                  </a:tcPr>
                </a:tc>
                <a:tc>
                  <a:txBody>
                    <a:bodyPr/>
                    <a:lstStyle/>
                    <a:p>
                      <a:pPr algn="r"/>
                      <a:r>
                        <a:rPr lang="en-IN" sz="1400" b="1">
                          <a:solidFill>
                            <a:srgbClr val="0B2340"/>
                          </a:solidFill>
                          <a:latin typeface="Segoe UI" panose="020B0502040204020203" pitchFamily="34" charset="0"/>
                        </a:rPr>
                        <a:t>4.17</a:t>
                      </a:r>
                    </a:p>
                  </a:txBody>
                  <a:tcPr>
                    <a:solidFill>
                      <a:srgbClr val="E6F4F8"/>
                    </a:solidFill>
                  </a:tcPr>
                </a:tc>
                <a:tc>
                  <a:txBody>
                    <a:bodyPr/>
                    <a:lstStyle/>
                    <a:p>
                      <a:pPr algn="r"/>
                      <a:r>
                        <a:rPr lang="en-IN" sz="1400" b="1">
                          <a:solidFill>
                            <a:srgbClr val="0B2340"/>
                          </a:solidFill>
                          <a:latin typeface="Segoe UI" panose="020B0502040204020203" pitchFamily="34" charset="0"/>
                        </a:rPr>
                        <a:t>0.901</a:t>
                      </a:r>
                    </a:p>
                  </a:txBody>
                  <a:tcPr>
                    <a:solidFill>
                      <a:srgbClr val="E6F4F8"/>
                    </a:solidFill>
                  </a:tcPr>
                </a:tc>
                <a:tc>
                  <a:txBody>
                    <a:bodyPr/>
                    <a:lstStyle/>
                    <a:p>
                      <a:pPr algn="r"/>
                      <a:r>
                        <a:rPr lang="en-IN" sz="1400" b="1">
                          <a:solidFill>
                            <a:srgbClr val="0B2340"/>
                          </a:solidFill>
                          <a:latin typeface="Segoe UI" panose="020B0502040204020203" pitchFamily="34" charset="0"/>
                        </a:rPr>
                        <a:t>0.893</a:t>
                      </a:r>
                    </a:p>
                  </a:txBody>
                  <a:tcPr>
                    <a:solidFill>
                      <a:srgbClr val="E6F4F8"/>
                    </a:solidFill>
                  </a:tcPr>
                </a:tc>
                <a:extLst>
                  <a:ext uri="{0D108BD9-81ED-4DB2-BD59-A6C34878D82A}">
                    <a16:rowId xmlns:a16="http://schemas.microsoft.com/office/drawing/2014/main" val="1883526061"/>
                  </a:ext>
                </a:extLst>
              </a:tr>
              <a:tr h="476250">
                <a:tc>
                  <a:txBody>
                    <a:bodyPr/>
                    <a:lstStyle/>
                    <a:p>
                      <a:r>
                        <a:rPr lang="en-IN" sz="1400" b="0">
                          <a:solidFill>
                            <a:srgbClr val="0B2340"/>
                          </a:solidFill>
                          <a:latin typeface="Segoe UI" panose="020B0502040204020203" pitchFamily="34" charset="0"/>
                        </a:rPr>
                        <a:t>Random Forest</a:t>
                      </a:r>
                    </a:p>
                  </a:txBody>
                  <a:tcPr>
                    <a:solidFill>
                      <a:srgbClr val="FFFFFF"/>
                    </a:solidFill>
                  </a:tcPr>
                </a:tc>
                <a:tc>
                  <a:txBody>
                    <a:bodyPr/>
                    <a:lstStyle/>
                    <a:p>
                      <a:pPr algn="r"/>
                      <a:r>
                        <a:rPr lang="en-IN" sz="1400" b="0">
                          <a:solidFill>
                            <a:srgbClr val="0B2340"/>
                          </a:solidFill>
                          <a:latin typeface="Segoe UI" panose="020B0502040204020203" pitchFamily="34" charset="0"/>
                        </a:rPr>
                        <a:t>3.24</a:t>
                      </a:r>
                    </a:p>
                  </a:txBody>
                  <a:tcPr>
                    <a:solidFill>
                      <a:srgbClr val="FFFFFF"/>
                    </a:solidFill>
                  </a:tcPr>
                </a:tc>
                <a:tc>
                  <a:txBody>
                    <a:bodyPr/>
                    <a:lstStyle/>
                    <a:p>
                      <a:pPr algn="r"/>
                      <a:r>
                        <a:rPr lang="en-IN" sz="1400" b="0">
                          <a:solidFill>
                            <a:srgbClr val="0B2340"/>
                          </a:solidFill>
                          <a:latin typeface="Segoe UI" panose="020B0502040204020203" pitchFamily="34" charset="0"/>
                        </a:rPr>
                        <a:t>4.26</a:t>
                      </a:r>
                    </a:p>
                  </a:txBody>
                  <a:tcPr>
                    <a:solidFill>
                      <a:srgbClr val="FFFFFF"/>
                    </a:solidFill>
                  </a:tcPr>
                </a:tc>
                <a:tc>
                  <a:txBody>
                    <a:bodyPr/>
                    <a:lstStyle/>
                    <a:p>
                      <a:pPr algn="r"/>
                      <a:r>
                        <a:rPr lang="en-IN" sz="1400" b="0">
                          <a:solidFill>
                            <a:srgbClr val="0B2340"/>
                          </a:solidFill>
                          <a:latin typeface="Segoe UI" panose="020B0502040204020203" pitchFamily="34" charset="0"/>
                        </a:rPr>
                        <a:t>0.897</a:t>
                      </a:r>
                    </a:p>
                  </a:txBody>
                  <a:tcPr>
                    <a:solidFill>
                      <a:srgbClr val="FFFFFF"/>
                    </a:solidFill>
                  </a:tcPr>
                </a:tc>
                <a:tc>
                  <a:txBody>
                    <a:bodyPr/>
                    <a:lstStyle/>
                    <a:p>
                      <a:pPr algn="r"/>
                      <a:r>
                        <a:rPr lang="en-IN" sz="1400" b="0">
                          <a:solidFill>
                            <a:srgbClr val="0B2340"/>
                          </a:solidFill>
                          <a:latin typeface="Segoe UI" panose="020B0502040204020203" pitchFamily="34" charset="0"/>
                        </a:rPr>
                        <a:t>0.879</a:t>
                      </a:r>
                    </a:p>
                  </a:txBody>
                  <a:tcPr>
                    <a:solidFill>
                      <a:srgbClr val="FFFFFF"/>
                    </a:solidFill>
                  </a:tcPr>
                </a:tc>
                <a:extLst>
                  <a:ext uri="{0D108BD9-81ED-4DB2-BD59-A6C34878D82A}">
                    <a16:rowId xmlns:a16="http://schemas.microsoft.com/office/drawing/2014/main" val="1654981942"/>
                  </a:ext>
                </a:extLst>
              </a:tr>
              <a:tr h="476250">
                <a:tc>
                  <a:txBody>
                    <a:bodyPr/>
                    <a:lstStyle/>
                    <a:p>
                      <a:r>
                        <a:rPr lang="en-IN" sz="1400" b="0">
                          <a:solidFill>
                            <a:srgbClr val="0B2340"/>
                          </a:solidFill>
                          <a:latin typeface="Segoe UI" panose="020B0502040204020203" pitchFamily="34" charset="0"/>
                        </a:rPr>
                        <a:t>XGBoost</a:t>
                      </a:r>
                    </a:p>
                  </a:txBody>
                  <a:tcPr>
                    <a:solidFill>
                      <a:srgbClr val="FFFFFF"/>
                    </a:solidFill>
                  </a:tcPr>
                </a:tc>
                <a:tc>
                  <a:txBody>
                    <a:bodyPr/>
                    <a:lstStyle/>
                    <a:p>
                      <a:pPr algn="r"/>
                      <a:r>
                        <a:rPr lang="en-IN" sz="1400" b="0">
                          <a:solidFill>
                            <a:srgbClr val="0B2340"/>
                          </a:solidFill>
                          <a:latin typeface="Segoe UI" panose="020B0502040204020203" pitchFamily="34" charset="0"/>
                        </a:rPr>
                        <a:t>3.33</a:t>
                      </a:r>
                    </a:p>
                  </a:txBody>
                  <a:tcPr>
                    <a:solidFill>
                      <a:srgbClr val="FFFFFF"/>
                    </a:solidFill>
                  </a:tcPr>
                </a:tc>
                <a:tc>
                  <a:txBody>
                    <a:bodyPr/>
                    <a:lstStyle/>
                    <a:p>
                      <a:pPr algn="r"/>
                      <a:r>
                        <a:rPr lang="en-IN" sz="1400" b="0">
                          <a:solidFill>
                            <a:srgbClr val="0B2340"/>
                          </a:solidFill>
                          <a:latin typeface="Segoe UI" panose="020B0502040204020203" pitchFamily="34" charset="0"/>
                        </a:rPr>
                        <a:t>4.28</a:t>
                      </a:r>
                    </a:p>
                  </a:txBody>
                  <a:tcPr>
                    <a:solidFill>
                      <a:srgbClr val="FFFFFF"/>
                    </a:solidFill>
                  </a:tcPr>
                </a:tc>
                <a:tc>
                  <a:txBody>
                    <a:bodyPr/>
                    <a:lstStyle/>
                    <a:p>
                      <a:pPr algn="r"/>
                      <a:r>
                        <a:rPr lang="en-IN" sz="1400" b="0">
                          <a:solidFill>
                            <a:srgbClr val="0B2340"/>
                          </a:solidFill>
                          <a:latin typeface="Segoe UI" panose="020B0502040204020203" pitchFamily="34" charset="0"/>
                        </a:rPr>
                        <a:t>0.896</a:t>
                      </a:r>
                    </a:p>
                  </a:txBody>
                  <a:tcPr>
                    <a:solidFill>
                      <a:srgbClr val="FFFFFF"/>
                    </a:solidFill>
                  </a:tcPr>
                </a:tc>
                <a:tc>
                  <a:txBody>
                    <a:bodyPr/>
                    <a:lstStyle/>
                    <a:p>
                      <a:pPr algn="r"/>
                      <a:r>
                        <a:rPr lang="en-IN" sz="1400" b="0">
                          <a:solidFill>
                            <a:srgbClr val="0B2340"/>
                          </a:solidFill>
                          <a:latin typeface="Segoe UI" panose="020B0502040204020203" pitchFamily="34" charset="0"/>
                        </a:rPr>
                        <a:t>0.889</a:t>
                      </a:r>
                    </a:p>
                  </a:txBody>
                  <a:tcPr>
                    <a:solidFill>
                      <a:srgbClr val="FFFFFF"/>
                    </a:solidFill>
                  </a:tcPr>
                </a:tc>
                <a:extLst>
                  <a:ext uri="{0D108BD9-81ED-4DB2-BD59-A6C34878D82A}">
                    <a16:rowId xmlns:a16="http://schemas.microsoft.com/office/drawing/2014/main" val="179122818"/>
                  </a:ext>
                </a:extLst>
              </a:tr>
            </a:tbl>
          </a:graphicData>
        </a:graphic>
      </p:graphicFrame>
      <p:sp>
        <p:nvSpPr>
          <p:cNvPr id="13" name="Rectangle 12">
            <a:extLst>
              <a:ext uri="{FF2B5EF4-FFF2-40B4-BE49-F238E27FC236}">
                <a16:creationId xmlns:a16="http://schemas.microsoft.com/office/drawing/2014/main" id="{37CC04AF-474A-BA39-563B-10D982946E22}"/>
              </a:ext>
            </a:extLst>
          </p:cNvPr>
          <p:cNvSpPr/>
          <p:nvPr/>
        </p:nvSpPr>
        <p:spPr>
          <a:xfrm>
            <a:off x="609600" y="4064000"/>
            <a:ext cx="50800" cy="1397000"/>
          </a:xfrm>
          <a:prstGeom prst="rect">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E216B2FB-FEA4-4D7F-AB81-27330005AB76}"/>
              </a:ext>
            </a:extLst>
          </p:cNvPr>
          <p:cNvSpPr txBox="1"/>
          <p:nvPr/>
        </p:nvSpPr>
        <p:spPr>
          <a:xfrm>
            <a:off x="812800" y="4064000"/>
            <a:ext cx="6604000" cy="369332"/>
          </a:xfrm>
          <a:prstGeom prst="rect">
            <a:avLst/>
          </a:prstGeom>
          <a:noFill/>
        </p:spPr>
        <p:txBody>
          <a:bodyPr vert="horz" wrap="square" lIns="0" tIns="0" rIns="0" bIns="0" rtlCol="0">
            <a:noAutofit/>
          </a:bodyPr>
          <a:lstStyle/>
          <a:p>
            <a:pPr>
              <a:lnSpc>
                <a:spcPct val="110000"/>
              </a:lnSpc>
            </a:pPr>
            <a:r>
              <a:rPr lang="en-US" sz="1700">
                <a:solidFill>
                  <a:srgbClr val="0B2340"/>
                </a:solidFill>
                <a:latin typeface="Segoe UI Semibold" panose="020B0702040204020203" pitchFamily="34" charset="0"/>
              </a:rPr>
              <a:t>Why the simplest model won</a:t>
            </a:r>
            <a:endParaRPr lang="en-IN" sz="1700">
              <a:solidFill>
                <a:srgbClr val="0B2340"/>
              </a:solidFill>
              <a:latin typeface="Segoe UI Semibold" panose="020B0702040204020203" pitchFamily="34" charset="0"/>
            </a:endParaRPr>
          </a:p>
        </p:txBody>
      </p:sp>
      <p:sp>
        <p:nvSpPr>
          <p:cNvPr id="15" name="TextBox 14">
            <a:extLst>
              <a:ext uri="{FF2B5EF4-FFF2-40B4-BE49-F238E27FC236}">
                <a16:creationId xmlns:a16="http://schemas.microsoft.com/office/drawing/2014/main" id="{240EFD67-6D5B-77A1-3BB4-2DF509B06F4B}"/>
              </a:ext>
            </a:extLst>
          </p:cNvPr>
          <p:cNvSpPr txBox="1"/>
          <p:nvPr/>
        </p:nvSpPr>
        <p:spPr>
          <a:xfrm>
            <a:off x="812800" y="4419600"/>
            <a:ext cx="6604000" cy="369332"/>
          </a:xfrm>
          <a:prstGeom prst="rect">
            <a:avLst/>
          </a:prstGeom>
          <a:noFill/>
        </p:spPr>
        <p:txBody>
          <a:bodyPr vert="horz" wrap="square" lIns="0" tIns="0" rIns="0" bIns="0" rtlCol="0">
            <a:noAutofit/>
          </a:bodyPr>
          <a:lstStyle/>
          <a:p>
            <a:pPr>
              <a:lnSpc>
                <a:spcPct val="110000"/>
              </a:lnSpc>
            </a:pPr>
            <a:r>
              <a:rPr lang="en-US" sz="1400">
                <a:solidFill>
                  <a:srgbClr val="3E5670"/>
                </a:solidFill>
                <a:latin typeface="Segoe UI" panose="020B0502040204020203" pitchFamily="34" charset="0"/>
              </a:rPr>
              <a:t>The score is close to a weighted sum of the inputs plus random noise, so the tree models find little curve to learn. What error is left is mostly that noise.</a:t>
            </a:r>
            <a:endParaRPr lang="en-IN" sz="1400">
              <a:solidFill>
                <a:srgbClr val="3E5670"/>
              </a:solidFill>
              <a:latin typeface="Segoe UI" panose="020B0502040204020203" pitchFamily="34" charset="0"/>
            </a:endParaRPr>
          </a:p>
        </p:txBody>
      </p:sp>
      <p:sp>
        <p:nvSpPr>
          <p:cNvPr id="16" name="Rectangle: Rounded Corners 15">
            <a:extLst>
              <a:ext uri="{FF2B5EF4-FFF2-40B4-BE49-F238E27FC236}">
                <a16:creationId xmlns:a16="http://schemas.microsoft.com/office/drawing/2014/main" id="{16702360-AB0A-BF93-5298-27B2496E6059}"/>
              </a:ext>
            </a:extLst>
          </p:cNvPr>
          <p:cNvSpPr/>
          <p:nvPr/>
        </p:nvSpPr>
        <p:spPr>
          <a:xfrm>
            <a:off x="7823200" y="1727200"/>
            <a:ext cx="3759200" cy="38100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8" name="Picture 17">
            <a:extLst>
              <a:ext uri="{FF2B5EF4-FFF2-40B4-BE49-F238E27FC236}">
                <a16:creationId xmlns:a16="http://schemas.microsoft.com/office/drawing/2014/main" id="{050E50D7-FC9D-1569-A9AB-48BCD7267BA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956550" y="1854200"/>
            <a:ext cx="3492500" cy="3175000"/>
          </a:xfrm>
          <a:prstGeom prst="rect">
            <a:avLst/>
          </a:prstGeom>
        </p:spPr>
      </p:pic>
      <p:sp>
        <p:nvSpPr>
          <p:cNvPr id="19" name="TextBox 18">
            <a:extLst>
              <a:ext uri="{FF2B5EF4-FFF2-40B4-BE49-F238E27FC236}">
                <a16:creationId xmlns:a16="http://schemas.microsoft.com/office/drawing/2014/main" id="{BD384C66-F1A6-3D72-83C3-352DA21C8A73}"/>
              </a:ext>
            </a:extLst>
          </p:cNvPr>
          <p:cNvSpPr txBox="1"/>
          <p:nvPr/>
        </p:nvSpPr>
        <p:spPr>
          <a:xfrm>
            <a:off x="7950200" y="5080000"/>
            <a:ext cx="3505200" cy="369332"/>
          </a:xfrm>
          <a:prstGeom prst="rect">
            <a:avLst/>
          </a:prstGeom>
          <a:noFill/>
        </p:spPr>
        <p:txBody>
          <a:bodyPr vert="horz" wrap="square" lIns="0" tIns="0" rIns="0" bIns="0" rtlCol="0">
            <a:noAutofit/>
          </a:bodyPr>
          <a:lstStyle/>
          <a:p>
            <a:pPr>
              <a:lnSpc>
                <a:spcPct val="110000"/>
              </a:lnSpc>
            </a:pPr>
            <a:r>
              <a:rPr lang="en-US" sz="1100">
                <a:solidFill>
                  <a:srgbClr val="6B8296"/>
                </a:solidFill>
                <a:latin typeface="Segoe UI" panose="020B0502040204020203" pitchFamily="34" charset="0"/>
              </a:rPr>
              <a:t>Points follow the diagonal; the lowest scorers are predicted a little high.</a:t>
            </a:r>
            <a:endParaRPr lang="en-IN" sz="1100">
              <a:solidFill>
                <a:srgbClr val="6B8296"/>
              </a:solidFill>
              <a:latin typeface="Segoe UI" panose="020B0502040204020203" pitchFamily="34" charset="0"/>
            </a:endParaRPr>
          </a:p>
        </p:txBody>
      </p:sp>
    </p:spTree>
    <p:extLst>
      <p:ext uri="{BB962C8B-B14F-4D97-AF65-F5344CB8AC3E}">
        <p14:creationId xmlns:p14="http://schemas.microsoft.com/office/powerpoint/2010/main" val="3396654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11C4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A0CF14-74C6-A522-EBB5-B77023929491}"/>
              </a:ext>
            </a:extLst>
          </p:cNvPr>
          <p:cNvSpPr txBox="1"/>
          <p:nvPr/>
        </p:nvSpPr>
        <p:spPr>
          <a:xfrm>
            <a:off x="6096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7FA4B8"/>
                </a:solidFill>
                <a:latin typeface="Segoe UI" panose="020B0502040204020203" pitchFamily="34" charset="0"/>
              </a:rPr>
              <a:t>Introduction</a:t>
            </a:r>
          </a:p>
        </p:txBody>
      </p:sp>
      <p:sp>
        <p:nvSpPr>
          <p:cNvPr id="3" name="TextBox 2">
            <a:extLst>
              <a:ext uri="{FF2B5EF4-FFF2-40B4-BE49-F238E27FC236}">
                <a16:creationId xmlns:a16="http://schemas.microsoft.com/office/drawing/2014/main" id="{17E41571-E4E7-DC18-490F-67633722D713}"/>
              </a:ext>
            </a:extLst>
          </p:cNvPr>
          <p:cNvSpPr txBox="1"/>
          <p:nvPr/>
        </p:nvSpPr>
        <p:spPr>
          <a:xfrm>
            <a:off x="28067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7FA4B8"/>
                </a:solidFill>
                <a:latin typeface="Segoe UI" panose="020B0502040204020203" pitchFamily="34" charset="0"/>
              </a:rPr>
              <a:t>Data &amp; Methodology</a:t>
            </a:r>
          </a:p>
        </p:txBody>
      </p:sp>
      <p:sp>
        <p:nvSpPr>
          <p:cNvPr id="4" name="TextBox 3">
            <a:extLst>
              <a:ext uri="{FF2B5EF4-FFF2-40B4-BE49-F238E27FC236}">
                <a16:creationId xmlns:a16="http://schemas.microsoft.com/office/drawing/2014/main" id="{F8940AA6-BD79-2B45-D98A-BF66743B96FB}"/>
              </a:ext>
            </a:extLst>
          </p:cNvPr>
          <p:cNvSpPr txBox="1"/>
          <p:nvPr/>
        </p:nvSpPr>
        <p:spPr>
          <a:xfrm>
            <a:off x="50038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7FA4B8"/>
                </a:solidFill>
                <a:latin typeface="Segoe UI" panose="020B0502040204020203" pitchFamily="34" charset="0"/>
              </a:rPr>
              <a:t>Preprocessing &amp; EDA</a:t>
            </a:r>
          </a:p>
        </p:txBody>
      </p:sp>
      <p:sp>
        <p:nvSpPr>
          <p:cNvPr id="5" name="TextBox 4">
            <a:extLst>
              <a:ext uri="{FF2B5EF4-FFF2-40B4-BE49-F238E27FC236}">
                <a16:creationId xmlns:a16="http://schemas.microsoft.com/office/drawing/2014/main" id="{7D7FA4C0-4B1F-BF69-5F9E-4A0600778359}"/>
              </a:ext>
            </a:extLst>
          </p:cNvPr>
          <p:cNvSpPr txBox="1"/>
          <p:nvPr/>
        </p:nvSpPr>
        <p:spPr>
          <a:xfrm>
            <a:off x="72009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7FA4B8"/>
                </a:solidFill>
                <a:latin typeface="Segoe UI" panose="020B0502040204020203" pitchFamily="34" charset="0"/>
              </a:rPr>
              <a:t>Models &amp; Results</a:t>
            </a:r>
          </a:p>
        </p:txBody>
      </p:sp>
      <p:sp>
        <p:nvSpPr>
          <p:cNvPr id="6" name="Rectangle: Rounded Corners 5">
            <a:extLst>
              <a:ext uri="{FF2B5EF4-FFF2-40B4-BE49-F238E27FC236}">
                <a16:creationId xmlns:a16="http://schemas.microsoft.com/office/drawing/2014/main" id="{7968A651-D751-96B1-E5BA-C8A8DF31838B}"/>
              </a:ext>
            </a:extLst>
          </p:cNvPr>
          <p:cNvSpPr/>
          <p:nvPr/>
        </p:nvSpPr>
        <p:spPr>
          <a:xfrm>
            <a:off x="9398000" y="203200"/>
            <a:ext cx="2032000" cy="279400"/>
          </a:xfrm>
          <a:prstGeom prst="roundRect">
            <a:avLst>
              <a:gd name="adj" fmla="val 50000"/>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06AC8A72-D9D7-2E3C-0FA2-B72F28A94C21}"/>
              </a:ext>
            </a:extLst>
          </p:cNvPr>
          <p:cNvSpPr txBox="1"/>
          <p:nvPr/>
        </p:nvSpPr>
        <p:spPr>
          <a:xfrm>
            <a:off x="93980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FFFFFF"/>
                </a:solidFill>
                <a:latin typeface="Segoe UI Semibold" panose="020B0702040204020203" pitchFamily="34" charset="0"/>
              </a:rPr>
              <a:t>Demo &amp; Conclusion</a:t>
            </a:r>
          </a:p>
        </p:txBody>
      </p:sp>
      <p:sp>
        <p:nvSpPr>
          <p:cNvPr id="8" name="TextBox 7">
            <a:extLst>
              <a:ext uri="{FF2B5EF4-FFF2-40B4-BE49-F238E27FC236}">
                <a16:creationId xmlns:a16="http://schemas.microsoft.com/office/drawing/2014/main" id="{B348FA54-6F2F-52B8-DDE1-B52E4BFB63A1}"/>
              </a:ext>
            </a:extLst>
          </p:cNvPr>
          <p:cNvSpPr txBox="1"/>
          <p:nvPr/>
        </p:nvSpPr>
        <p:spPr>
          <a:xfrm>
            <a:off x="609600" y="736600"/>
            <a:ext cx="8890000" cy="369332"/>
          </a:xfrm>
          <a:prstGeom prst="rect">
            <a:avLst/>
          </a:prstGeom>
          <a:noFill/>
        </p:spPr>
        <p:txBody>
          <a:bodyPr vert="horz" wrap="square" lIns="0" tIns="0" rIns="0" bIns="0" rtlCol="0">
            <a:noAutofit/>
          </a:bodyPr>
          <a:lstStyle/>
          <a:p>
            <a:pPr>
              <a:lnSpc>
                <a:spcPct val="110000"/>
              </a:lnSpc>
            </a:pPr>
            <a:r>
              <a:rPr lang="en-IN" sz="1100">
                <a:solidFill>
                  <a:srgbClr val="A7EBF2"/>
                </a:solidFill>
                <a:latin typeface="Segoe UI Semibold" panose="020B0702040204020203" pitchFamily="34" charset="0"/>
              </a:rPr>
              <a:t>DEMO SCREENSHOTS</a:t>
            </a:r>
          </a:p>
        </p:txBody>
      </p:sp>
      <p:sp>
        <p:nvSpPr>
          <p:cNvPr id="9" name="TextBox 8">
            <a:extLst>
              <a:ext uri="{FF2B5EF4-FFF2-40B4-BE49-F238E27FC236}">
                <a16:creationId xmlns:a16="http://schemas.microsoft.com/office/drawing/2014/main" id="{9A787EB5-1752-BABB-D43D-D9C924A13155}"/>
              </a:ext>
            </a:extLst>
          </p:cNvPr>
          <p:cNvSpPr txBox="1"/>
          <p:nvPr/>
        </p:nvSpPr>
        <p:spPr>
          <a:xfrm>
            <a:off x="609600" y="965200"/>
            <a:ext cx="10972800" cy="369332"/>
          </a:xfrm>
          <a:prstGeom prst="rect">
            <a:avLst/>
          </a:prstGeom>
          <a:noFill/>
        </p:spPr>
        <p:txBody>
          <a:bodyPr vert="horz" wrap="square" lIns="0" tIns="0" rIns="0" bIns="0" rtlCol="0">
            <a:noAutofit/>
          </a:bodyPr>
          <a:lstStyle/>
          <a:p>
            <a:pPr>
              <a:lnSpc>
                <a:spcPct val="110000"/>
              </a:lnSpc>
            </a:pPr>
            <a:r>
              <a:rPr lang="en-US" sz="2600" b="1">
                <a:solidFill>
                  <a:srgbClr val="F4FBFC"/>
                </a:solidFill>
                <a:latin typeface="Georgia" panose="02040502050405020303" pitchFamily="18" charset="0"/>
              </a:rPr>
              <a:t>Teachers see who needs help; students get a plan</a:t>
            </a:r>
            <a:endParaRPr lang="en-IN" sz="2600" b="1">
              <a:solidFill>
                <a:srgbClr val="F4FBFC"/>
              </a:solidFill>
              <a:latin typeface="Georgia" panose="02040502050405020303" pitchFamily="18" charset="0"/>
            </a:endParaRPr>
          </a:p>
        </p:txBody>
      </p:sp>
      <p:sp>
        <p:nvSpPr>
          <p:cNvPr id="10" name="TextBox 9">
            <a:extLst>
              <a:ext uri="{FF2B5EF4-FFF2-40B4-BE49-F238E27FC236}">
                <a16:creationId xmlns:a16="http://schemas.microsoft.com/office/drawing/2014/main" id="{688F3FCC-B7B5-D3B6-BD52-40AFB3B9445A}"/>
              </a:ext>
            </a:extLst>
          </p:cNvPr>
          <p:cNvSpPr txBox="1"/>
          <p:nvPr/>
        </p:nvSpPr>
        <p:spPr>
          <a:xfrm>
            <a:off x="609600" y="6502400"/>
            <a:ext cx="7620000" cy="369332"/>
          </a:xfrm>
          <a:prstGeom prst="rect">
            <a:avLst/>
          </a:prstGeom>
          <a:noFill/>
        </p:spPr>
        <p:txBody>
          <a:bodyPr vert="horz" wrap="square" lIns="0" tIns="0" rIns="0" bIns="0" rtlCol="0">
            <a:noAutofit/>
          </a:bodyPr>
          <a:lstStyle/>
          <a:p>
            <a:pPr>
              <a:lnSpc>
                <a:spcPct val="110000"/>
              </a:lnSpc>
            </a:pPr>
            <a:r>
              <a:rPr lang="en-US" sz="900">
                <a:solidFill>
                  <a:srgbClr val="7FA4B8"/>
                </a:solidFill>
                <a:latin typeface="Segoe UI" panose="020B0502040204020203" pitchFamily="34" charset="0"/>
              </a:rPr>
              <a:t>Acadrix · Student Performance Prediction System</a:t>
            </a:r>
            <a:endParaRPr lang="en-IN" sz="900">
              <a:solidFill>
                <a:srgbClr val="7FA4B8"/>
              </a:solidFill>
              <a:latin typeface="Segoe UI" panose="020B0502040204020203" pitchFamily="34" charset="0"/>
            </a:endParaRPr>
          </a:p>
        </p:txBody>
      </p:sp>
      <p:sp>
        <p:nvSpPr>
          <p:cNvPr id="11" name="TextBox 10">
            <a:extLst>
              <a:ext uri="{FF2B5EF4-FFF2-40B4-BE49-F238E27FC236}">
                <a16:creationId xmlns:a16="http://schemas.microsoft.com/office/drawing/2014/main" id="{33B24FF9-D71B-1F5E-9024-6A0D7B3835BF}"/>
              </a:ext>
            </a:extLst>
          </p:cNvPr>
          <p:cNvSpPr txBox="1"/>
          <p:nvPr/>
        </p:nvSpPr>
        <p:spPr>
          <a:xfrm>
            <a:off x="10820400" y="6502400"/>
            <a:ext cx="762000" cy="369332"/>
          </a:xfrm>
          <a:prstGeom prst="rect">
            <a:avLst/>
          </a:prstGeom>
          <a:noFill/>
        </p:spPr>
        <p:txBody>
          <a:bodyPr vert="horz" wrap="square" lIns="0" tIns="0" rIns="0" bIns="0" rtlCol="0">
            <a:noAutofit/>
          </a:bodyPr>
          <a:lstStyle/>
          <a:p>
            <a:pPr algn="r">
              <a:lnSpc>
                <a:spcPct val="110000"/>
              </a:lnSpc>
            </a:pPr>
            <a:r>
              <a:rPr lang="en-IN" sz="900">
                <a:solidFill>
                  <a:srgbClr val="7FA4B8"/>
                </a:solidFill>
                <a:latin typeface="Segoe UI" panose="020B0502040204020203" pitchFamily="34" charset="0"/>
              </a:rPr>
              <a:t>12</a:t>
            </a:r>
          </a:p>
        </p:txBody>
      </p:sp>
      <p:pic>
        <p:nvPicPr>
          <p:cNvPr id="13" name="Picture 12">
            <a:extLst>
              <a:ext uri="{FF2B5EF4-FFF2-40B4-BE49-F238E27FC236}">
                <a16:creationId xmlns:a16="http://schemas.microsoft.com/office/drawing/2014/main" id="{E9F73A94-CB14-7452-66D0-2DACB0865C5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727200"/>
            <a:ext cx="6604000" cy="4127500"/>
          </a:xfrm>
          <a:prstGeom prst="rect">
            <a:avLst/>
          </a:prstGeom>
          <a:ln w="9525">
            <a:solidFill>
              <a:srgbClr val="26658C"/>
            </a:solidFill>
          </a:ln>
        </p:spPr>
      </p:pic>
      <p:sp>
        <p:nvSpPr>
          <p:cNvPr id="14" name="TextBox 13">
            <a:extLst>
              <a:ext uri="{FF2B5EF4-FFF2-40B4-BE49-F238E27FC236}">
                <a16:creationId xmlns:a16="http://schemas.microsoft.com/office/drawing/2014/main" id="{69AE57A1-37F6-F3BA-110C-CDF4C6517C64}"/>
              </a:ext>
            </a:extLst>
          </p:cNvPr>
          <p:cNvSpPr txBox="1"/>
          <p:nvPr/>
        </p:nvSpPr>
        <p:spPr>
          <a:xfrm>
            <a:off x="609600" y="5918200"/>
            <a:ext cx="6604000" cy="369332"/>
          </a:xfrm>
          <a:prstGeom prst="rect">
            <a:avLst/>
          </a:prstGeom>
          <a:noFill/>
        </p:spPr>
        <p:txBody>
          <a:bodyPr vert="horz" wrap="square" lIns="0" tIns="0" rIns="0" bIns="0" rtlCol="0">
            <a:noAutofit/>
          </a:bodyPr>
          <a:lstStyle/>
          <a:p>
            <a:pPr>
              <a:lnSpc>
                <a:spcPct val="110000"/>
              </a:lnSpc>
            </a:pPr>
            <a:r>
              <a:rPr lang="en-US" sz="1200" b="1">
                <a:solidFill>
                  <a:srgbClr val="B8D3DE"/>
                </a:solidFill>
                <a:latin typeface="Segoe UI" panose="020B0502040204020203" pitchFamily="34" charset="0"/>
              </a:rPr>
              <a:t>Teacher dashboard:</a:t>
            </a:r>
            <a:r>
              <a:rPr lang="en-US" sz="1200">
                <a:solidFill>
                  <a:srgbClr val="B8D3DE"/>
                </a:solidFill>
                <a:latin typeface="Segoe UI" panose="020B0502040204020203" pitchFamily="34" charset="0"/>
              </a:rPr>
              <a:t> class statistics and students flagged high risk</a:t>
            </a:r>
            <a:endParaRPr lang="en-IN" sz="1200">
              <a:solidFill>
                <a:srgbClr val="B8D3DE"/>
              </a:solidFill>
              <a:latin typeface="Segoe UI" panose="020B0502040204020203" pitchFamily="34" charset="0"/>
            </a:endParaRPr>
          </a:p>
        </p:txBody>
      </p:sp>
      <p:pic>
        <p:nvPicPr>
          <p:cNvPr id="16" name="Picture 15">
            <a:extLst>
              <a:ext uri="{FF2B5EF4-FFF2-40B4-BE49-F238E27FC236}">
                <a16:creationId xmlns:a16="http://schemas.microsoft.com/office/drawing/2014/main" id="{F447D93C-7FC2-3588-7486-0D4BD1D18AA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975600" y="1727200"/>
            <a:ext cx="3251200" cy="2032000"/>
          </a:xfrm>
          <a:prstGeom prst="rect">
            <a:avLst/>
          </a:prstGeom>
          <a:ln w="9525">
            <a:solidFill>
              <a:srgbClr val="26658C"/>
            </a:solidFill>
          </a:ln>
        </p:spPr>
      </p:pic>
      <p:sp>
        <p:nvSpPr>
          <p:cNvPr id="17" name="TextBox 16">
            <a:extLst>
              <a:ext uri="{FF2B5EF4-FFF2-40B4-BE49-F238E27FC236}">
                <a16:creationId xmlns:a16="http://schemas.microsoft.com/office/drawing/2014/main" id="{D4DACA60-A7A0-2806-A550-83A515FC117A}"/>
              </a:ext>
            </a:extLst>
          </p:cNvPr>
          <p:cNvSpPr txBox="1"/>
          <p:nvPr/>
        </p:nvSpPr>
        <p:spPr>
          <a:xfrm>
            <a:off x="7620000" y="3810000"/>
            <a:ext cx="3962400" cy="369332"/>
          </a:xfrm>
          <a:prstGeom prst="rect">
            <a:avLst/>
          </a:prstGeom>
          <a:noFill/>
        </p:spPr>
        <p:txBody>
          <a:bodyPr vert="horz" wrap="square" lIns="0" tIns="0" rIns="0" bIns="0" rtlCol="0">
            <a:noAutofit/>
          </a:bodyPr>
          <a:lstStyle/>
          <a:p>
            <a:pPr algn="ctr">
              <a:lnSpc>
                <a:spcPct val="110000"/>
              </a:lnSpc>
            </a:pPr>
            <a:r>
              <a:rPr lang="en-US" sz="1100" b="1">
                <a:solidFill>
                  <a:srgbClr val="B8D3DE"/>
                </a:solidFill>
                <a:latin typeface="Segoe UI" panose="020B0502040204020203" pitchFamily="34" charset="0"/>
              </a:rPr>
              <a:t>Student overview:</a:t>
            </a:r>
            <a:r>
              <a:rPr lang="en-US" sz="1100">
                <a:solidFill>
                  <a:srgbClr val="B8D3DE"/>
                </a:solidFill>
                <a:latin typeface="Segoe UI" panose="020B0502040204020203" pitchFamily="34" charset="0"/>
              </a:rPr>
              <a:t> score, grade, risk, rank</a:t>
            </a:r>
            <a:endParaRPr lang="en-IN" sz="1100">
              <a:solidFill>
                <a:srgbClr val="B8D3DE"/>
              </a:solidFill>
              <a:latin typeface="Segoe UI" panose="020B0502040204020203" pitchFamily="34" charset="0"/>
            </a:endParaRPr>
          </a:p>
        </p:txBody>
      </p:sp>
      <p:pic>
        <p:nvPicPr>
          <p:cNvPr id="19" name="Picture 18">
            <a:extLst>
              <a:ext uri="{FF2B5EF4-FFF2-40B4-BE49-F238E27FC236}">
                <a16:creationId xmlns:a16="http://schemas.microsoft.com/office/drawing/2014/main" id="{007DA354-5979-9CD2-07FC-5959A3C51C22}"/>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7975600" y="4114800"/>
            <a:ext cx="3251200" cy="2032000"/>
          </a:xfrm>
          <a:prstGeom prst="rect">
            <a:avLst/>
          </a:prstGeom>
          <a:ln w="9525">
            <a:solidFill>
              <a:srgbClr val="26658C"/>
            </a:solidFill>
          </a:ln>
        </p:spPr>
      </p:pic>
      <p:sp>
        <p:nvSpPr>
          <p:cNvPr id="20" name="TextBox 19">
            <a:extLst>
              <a:ext uri="{FF2B5EF4-FFF2-40B4-BE49-F238E27FC236}">
                <a16:creationId xmlns:a16="http://schemas.microsoft.com/office/drawing/2014/main" id="{F0AB1FF8-D299-D5B4-E34D-B90FF7559CFC}"/>
              </a:ext>
            </a:extLst>
          </p:cNvPr>
          <p:cNvSpPr txBox="1"/>
          <p:nvPr/>
        </p:nvSpPr>
        <p:spPr>
          <a:xfrm>
            <a:off x="7620000" y="6197600"/>
            <a:ext cx="3962400" cy="369332"/>
          </a:xfrm>
          <a:prstGeom prst="rect">
            <a:avLst/>
          </a:prstGeom>
          <a:noFill/>
        </p:spPr>
        <p:txBody>
          <a:bodyPr vert="horz" wrap="square" lIns="0" tIns="0" rIns="0" bIns="0" rtlCol="0">
            <a:noAutofit/>
          </a:bodyPr>
          <a:lstStyle/>
          <a:p>
            <a:pPr algn="ctr">
              <a:lnSpc>
                <a:spcPct val="110000"/>
              </a:lnSpc>
            </a:pPr>
            <a:r>
              <a:rPr lang="en-US" sz="1100" b="1">
                <a:solidFill>
                  <a:srgbClr val="B8D3DE"/>
                </a:solidFill>
                <a:latin typeface="Segoe UI" panose="020B0502040204020203" pitchFamily="34" charset="0"/>
              </a:rPr>
              <a:t>Goal planner:</a:t>
            </a:r>
            <a:r>
              <a:rPr lang="en-US" sz="1100">
                <a:solidFill>
                  <a:srgbClr val="B8D3DE"/>
                </a:solidFill>
                <a:latin typeface="Segoe UI" panose="020B0502040204020203" pitchFamily="34" charset="0"/>
              </a:rPr>
              <a:t> two ways to reach a target</a:t>
            </a:r>
            <a:endParaRPr lang="en-IN" sz="1100">
              <a:solidFill>
                <a:srgbClr val="B8D3DE"/>
              </a:solidFill>
              <a:latin typeface="Segoe UI" panose="020B0502040204020203" pitchFamily="34" charset="0"/>
            </a:endParaRPr>
          </a:p>
        </p:txBody>
      </p:sp>
    </p:spTree>
    <p:extLst>
      <p:ext uri="{BB962C8B-B14F-4D97-AF65-F5344CB8AC3E}">
        <p14:creationId xmlns:p14="http://schemas.microsoft.com/office/powerpoint/2010/main" val="1715513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8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F7707D-65A8-A3CA-262D-02EFE6854C76}"/>
              </a:ext>
            </a:extLst>
          </p:cNvPr>
          <p:cNvSpPr txBox="1"/>
          <p:nvPr/>
        </p:nvSpPr>
        <p:spPr>
          <a:xfrm>
            <a:off x="6096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Introduction</a:t>
            </a:r>
          </a:p>
        </p:txBody>
      </p:sp>
      <p:sp>
        <p:nvSpPr>
          <p:cNvPr id="3" name="TextBox 2">
            <a:extLst>
              <a:ext uri="{FF2B5EF4-FFF2-40B4-BE49-F238E27FC236}">
                <a16:creationId xmlns:a16="http://schemas.microsoft.com/office/drawing/2014/main" id="{5E1DB511-B52F-843D-D7F4-C66AD8BF781F}"/>
              </a:ext>
            </a:extLst>
          </p:cNvPr>
          <p:cNvSpPr txBox="1"/>
          <p:nvPr/>
        </p:nvSpPr>
        <p:spPr>
          <a:xfrm>
            <a:off x="28067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Data &amp; Methodology</a:t>
            </a:r>
          </a:p>
        </p:txBody>
      </p:sp>
      <p:sp>
        <p:nvSpPr>
          <p:cNvPr id="4" name="TextBox 3">
            <a:extLst>
              <a:ext uri="{FF2B5EF4-FFF2-40B4-BE49-F238E27FC236}">
                <a16:creationId xmlns:a16="http://schemas.microsoft.com/office/drawing/2014/main" id="{E151FCDB-EDDF-AB4C-A7A0-ED9FA205E254}"/>
              </a:ext>
            </a:extLst>
          </p:cNvPr>
          <p:cNvSpPr txBox="1"/>
          <p:nvPr/>
        </p:nvSpPr>
        <p:spPr>
          <a:xfrm>
            <a:off x="50038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Preprocessing &amp; EDA</a:t>
            </a:r>
          </a:p>
        </p:txBody>
      </p:sp>
      <p:sp>
        <p:nvSpPr>
          <p:cNvPr id="5" name="TextBox 4">
            <a:extLst>
              <a:ext uri="{FF2B5EF4-FFF2-40B4-BE49-F238E27FC236}">
                <a16:creationId xmlns:a16="http://schemas.microsoft.com/office/drawing/2014/main" id="{817FE812-FB95-73B4-DADE-BBDFC98631E2}"/>
              </a:ext>
            </a:extLst>
          </p:cNvPr>
          <p:cNvSpPr txBox="1"/>
          <p:nvPr/>
        </p:nvSpPr>
        <p:spPr>
          <a:xfrm>
            <a:off x="72009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Models &amp; Results</a:t>
            </a:r>
          </a:p>
        </p:txBody>
      </p:sp>
      <p:sp>
        <p:nvSpPr>
          <p:cNvPr id="6" name="Rectangle: Rounded Corners 5">
            <a:extLst>
              <a:ext uri="{FF2B5EF4-FFF2-40B4-BE49-F238E27FC236}">
                <a16:creationId xmlns:a16="http://schemas.microsoft.com/office/drawing/2014/main" id="{1793AE64-30A7-4FFF-3A0A-1618039876B4}"/>
              </a:ext>
            </a:extLst>
          </p:cNvPr>
          <p:cNvSpPr/>
          <p:nvPr/>
        </p:nvSpPr>
        <p:spPr>
          <a:xfrm>
            <a:off x="9398000" y="203200"/>
            <a:ext cx="2032000" cy="279400"/>
          </a:xfrm>
          <a:prstGeom prst="roundRect">
            <a:avLst>
              <a:gd name="adj" fmla="val 50000"/>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D15E329B-1D36-FE34-13EB-54AE00D92C1A}"/>
              </a:ext>
            </a:extLst>
          </p:cNvPr>
          <p:cNvSpPr txBox="1"/>
          <p:nvPr/>
        </p:nvSpPr>
        <p:spPr>
          <a:xfrm>
            <a:off x="93980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FFFFFF"/>
                </a:solidFill>
                <a:latin typeface="Segoe UI Semibold" panose="020B0702040204020203" pitchFamily="34" charset="0"/>
              </a:rPr>
              <a:t>Demo &amp; Conclusion</a:t>
            </a:r>
          </a:p>
        </p:txBody>
      </p:sp>
      <p:sp>
        <p:nvSpPr>
          <p:cNvPr id="8" name="TextBox 7">
            <a:extLst>
              <a:ext uri="{FF2B5EF4-FFF2-40B4-BE49-F238E27FC236}">
                <a16:creationId xmlns:a16="http://schemas.microsoft.com/office/drawing/2014/main" id="{12DF786D-469F-F4EB-E3C8-61A514FF7764}"/>
              </a:ext>
            </a:extLst>
          </p:cNvPr>
          <p:cNvSpPr txBox="1"/>
          <p:nvPr/>
        </p:nvSpPr>
        <p:spPr>
          <a:xfrm>
            <a:off x="609600" y="736600"/>
            <a:ext cx="8890000" cy="369332"/>
          </a:xfrm>
          <a:prstGeom prst="rect">
            <a:avLst/>
          </a:prstGeom>
          <a:noFill/>
        </p:spPr>
        <p:txBody>
          <a:bodyPr vert="horz" wrap="square" lIns="0" tIns="0" rIns="0" bIns="0" rtlCol="0">
            <a:noAutofit/>
          </a:bodyPr>
          <a:lstStyle/>
          <a:p>
            <a:pPr>
              <a:lnSpc>
                <a:spcPct val="110000"/>
              </a:lnSpc>
            </a:pPr>
            <a:r>
              <a:rPr lang="en-IN" sz="1100">
                <a:solidFill>
                  <a:srgbClr val="26658C"/>
                </a:solidFill>
                <a:latin typeface="Segoe UI Semibold" panose="020B0702040204020203" pitchFamily="34" charset="0"/>
              </a:rPr>
              <a:t>CONCLUSION</a:t>
            </a:r>
          </a:p>
        </p:txBody>
      </p:sp>
      <p:sp>
        <p:nvSpPr>
          <p:cNvPr id="9" name="TextBox 8">
            <a:extLst>
              <a:ext uri="{FF2B5EF4-FFF2-40B4-BE49-F238E27FC236}">
                <a16:creationId xmlns:a16="http://schemas.microsoft.com/office/drawing/2014/main" id="{DEDACFE9-6B98-7507-1EEA-79959EA16AF7}"/>
              </a:ext>
            </a:extLst>
          </p:cNvPr>
          <p:cNvSpPr txBox="1"/>
          <p:nvPr/>
        </p:nvSpPr>
        <p:spPr>
          <a:xfrm>
            <a:off x="609600" y="965200"/>
            <a:ext cx="10972800" cy="369332"/>
          </a:xfrm>
          <a:prstGeom prst="rect">
            <a:avLst/>
          </a:prstGeom>
          <a:noFill/>
        </p:spPr>
        <p:txBody>
          <a:bodyPr vert="horz" wrap="square" lIns="0" tIns="0" rIns="0" bIns="0" rtlCol="0">
            <a:noAutofit/>
          </a:bodyPr>
          <a:lstStyle/>
          <a:p>
            <a:pPr>
              <a:lnSpc>
                <a:spcPct val="110000"/>
              </a:lnSpc>
            </a:pPr>
            <a:r>
              <a:rPr lang="en-US" sz="2600" b="1">
                <a:solidFill>
                  <a:srgbClr val="0B2340"/>
                </a:solidFill>
                <a:latin typeface="Georgia" panose="02040502050405020303" pitchFamily="18" charset="0"/>
              </a:rPr>
              <a:t>Five indicators predict the final score to within ±3.3 marks</a:t>
            </a:r>
            <a:endParaRPr lang="en-IN" sz="2600" b="1">
              <a:solidFill>
                <a:srgbClr val="0B2340"/>
              </a:solidFill>
              <a:latin typeface="Georgia" panose="02040502050405020303" pitchFamily="18" charset="0"/>
            </a:endParaRPr>
          </a:p>
        </p:txBody>
      </p:sp>
      <p:sp>
        <p:nvSpPr>
          <p:cNvPr id="10" name="TextBox 9">
            <a:extLst>
              <a:ext uri="{FF2B5EF4-FFF2-40B4-BE49-F238E27FC236}">
                <a16:creationId xmlns:a16="http://schemas.microsoft.com/office/drawing/2014/main" id="{8F28A68E-1F79-E062-DB98-5B4C70243B92}"/>
              </a:ext>
            </a:extLst>
          </p:cNvPr>
          <p:cNvSpPr txBox="1"/>
          <p:nvPr/>
        </p:nvSpPr>
        <p:spPr>
          <a:xfrm>
            <a:off x="609600" y="6502400"/>
            <a:ext cx="7620000" cy="369332"/>
          </a:xfrm>
          <a:prstGeom prst="rect">
            <a:avLst/>
          </a:prstGeom>
          <a:noFill/>
        </p:spPr>
        <p:txBody>
          <a:bodyPr vert="horz" wrap="square" lIns="0" tIns="0" rIns="0" bIns="0" rtlCol="0">
            <a:noAutofit/>
          </a:bodyPr>
          <a:lstStyle/>
          <a:p>
            <a:pPr>
              <a:lnSpc>
                <a:spcPct val="110000"/>
              </a:lnSpc>
            </a:pPr>
            <a:r>
              <a:rPr lang="en-US" sz="900">
                <a:solidFill>
                  <a:srgbClr val="6B8296"/>
                </a:solidFill>
                <a:latin typeface="Segoe UI" panose="020B0502040204020203" pitchFamily="34" charset="0"/>
              </a:rPr>
              <a:t>Acadrix · Student Performance Prediction System</a:t>
            </a:r>
            <a:endParaRPr lang="en-IN" sz="900">
              <a:solidFill>
                <a:srgbClr val="6B8296"/>
              </a:solidFill>
              <a:latin typeface="Segoe UI" panose="020B0502040204020203" pitchFamily="34" charset="0"/>
            </a:endParaRPr>
          </a:p>
        </p:txBody>
      </p:sp>
      <p:sp>
        <p:nvSpPr>
          <p:cNvPr id="11" name="TextBox 10">
            <a:extLst>
              <a:ext uri="{FF2B5EF4-FFF2-40B4-BE49-F238E27FC236}">
                <a16:creationId xmlns:a16="http://schemas.microsoft.com/office/drawing/2014/main" id="{B57083A5-FBB8-4CD3-3300-8D962FE6C7CE}"/>
              </a:ext>
            </a:extLst>
          </p:cNvPr>
          <p:cNvSpPr txBox="1"/>
          <p:nvPr/>
        </p:nvSpPr>
        <p:spPr>
          <a:xfrm>
            <a:off x="10820400" y="6502400"/>
            <a:ext cx="762000" cy="369332"/>
          </a:xfrm>
          <a:prstGeom prst="rect">
            <a:avLst/>
          </a:prstGeom>
          <a:noFill/>
        </p:spPr>
        <p:txBody>
          <a:bodyPr vert="horz" wrap="square" lIns="0" tIns="0" rIns="0" bIns="0" rtlCol="0">
            <a:noAutofit/>
          </a:bodyPr>
          <a:lstStyle/>
          <a:p>
            <a:pPr algn="r">
              <a:lnSpc>
                <a:spcPct val="110000"/>
              </a:lnSpc>
            </a:pPr>
            <a:r>
              <a:rPr lang="en-IN" sz="900">
                <a:solidFill>
                  <a:srgbClr val="6B8296"/>
                </a:solidFill>
                <a:latin typeface="Segoe UI" panose="020B0502040204020203" pitchFamily="34" charset="0"/>
              </a:rPr>
              <a:t>13</a:t>
            </a:r>
          </a:p>
        </p:txBody>
      </p:sp>
      <p:sp>
        <p:nvSpPr>
          <p:cNvPr id="12" name="Rectangle: Rounded Corners 11">
            <a:extLst>
              <a:ext uri="{FF2B5EF4-FFF2-40B4-BE49-F238E27FC236}">
                <a16:creationId xmlns:a16="http://schemas.microsoft.com/office/drawing/2014/main" id="{1773298A-EE43-54D8-0863-FC010C183E8F}"/>
              </a:ext>
            </a:extLst>
          </p:cNvPr>
          <p:cNvSpPr/>
          <p:nvPr/>
        </p:nvSpPr>
        <p:spPr>
          <a:xfrm>
            <a:off x="609600" y="1778000"/>
            <a:ext cx="3556000" cy="17780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449F2535-782F-512A-55D9-DAD8338C75FB}"/>
              </a:ext>
            </a:extLst>
          </p:cNvPr>
          <p:cNvSpPr txBox="1"/>
          <p:nvPr/>
        </p:nvSpPr>
        <p:spPr>
          <a:xfrm>
            <a:off x="863600" y="1981200"/>
            <a:ext cx="3048000" cy="369332"/>
          </a:xfrm>
          <a:prstGeom prst="rect">
            <a:avLst/>
          </a:prstGeom>
          <a:noFill/>
        </p:spPr>
        <p:txBody>
          <a:bodyPr vert="horz" wrap="square" lIns="0" tIns="0" rIns="0" bIns="0" rtlCol="0">
            <a:noAutofit/>
          </a:bodyPr>
          <a:lstStyle/>
          <a:p>
            <a:pPr>
              <a:lnSpc>
                <a:spcPct val="110000"/>
              </a:lnSpc>
            </a:pPr>
            <a:r>
              <a:rPr lang="en-IN" sz="3800" b="1">
                <a:solidFill>
                  <a:srgbClr val="26658C"/>
                </a:solidFill>
                <a:latin typeface="Georgia" panose="02040502050405020303" pitchFamily="18" charset="0"/>
              </a:rPr>
              <a:t>0.901</a:t>
            </a:r>
          </a:p>
        </p:txBody>
      </p:sp>
      <p:sp>
        <p:nvSpPr>
          <p:cNvPr id="14" name="TextBox 13">
            <a:extLst>
              <a:ext uri="{FF2B5EF4-FFF2-40B4-BE49-F238E27FC236}">
                <a16:creationId xmlns:a16="http://schemas.microsoft.com/office/drawing/2014/main" id="{699CBE86-23F6-2913-4264-09A729FDB61C}"/>
              </a:ext>
            </a:extLst>
          </p:cNvPr>
          <p:cNvSpPr txBox="1"/>
          <p:nvPr/>
        </p:nvSpPr>
        <p:spPr>
          <a:xfrm>
            <a:off x="863600" y="2717800"/>
            <a:ext cx="3048000" cy="369332"/>
          </a:xfrm>
          <a:prstGeom prst="rect">
            <a:avLst/>
          </a:prstGeom>
          <a:noFill/>
        </p:spPr>
        <p:txBody>
          <a:bodyPr vert="horz" wrap="square" lIns="0" tIns="0" rIns="0" bIns="0" rtlCol="0">
            <a:noAutofit/>
          </a:bodyPr>
          <a:lstStyle/>
          <a:p>
            <a:pPr>
              <a:lnSpc>
                <a:spcPct val="110000"/>
              </a:lnSpc>
            </a:pPr>
            <a:r>
              <a:rPr lang="en-IN" sz="1400">
                <a:solidFill>
                  <a:srgbClr val="0B2340"/>
                </a:solidFill>
                <a:latin typeface="Segoe UI" panose="020B0502040204020203" pitchFamily="34" charset="0"/>
              </a:rPr>
              <a:t>R² on 199 unseen students</a:t>
            </a:r>
          </a:p>
        </p:txBody>
      </p:sp>
      <p:sp>
        <p:nvSpPr>
          <p:cNvPr id="15" name="Rectangle: Rounded Corners 14">
            <a:extLst>
              <a:ext uri="{FF2B5EF4-FFF2-40B4-BE49-F238E27FC236}">
                <a16:creationId xmlns:a16="http://schemas.microsoft.com/office/drawing/2014/main" id="{D2B84A00-E484-E008-9640-128AEA2B5606}"/>
              </a:ext>
            </a:extLst>
          </p:cNvPr>
          <p:cNvSpPr/>
          <p:nvPr/>
        </p:nvSpPr>
        <p:spPr>
          <a:xfrm>
            <a:off x="4318000" y="1778000"/>
            <a:ext cx="3556000" cy="17780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2992CEDC-F756-F521-A0D1-54066A6E1837}"/>
              </a:ext>
            </a:extLst>
          </p:cNvPr>
          <p:cNvSpPr txBox="1"/>
          <p:nvPr/>
        </p:nvSpPr>
        <p:spPr>
          <a:xfrm>
            <a:off x="4572000" y="1981200"/>
            <a:ext cx="3048000" cy="369332"/>
          </a:xfrm>
          <a:prstGeom prst="rect">
            <a:avLst/>
          </a:prstGeom>
          <a:noFill/>
        </p:spPr>
        <p:txBody>
          <a:bodyPr vert="horz" wrap="square" lIns="0" tIns="0" rIns="0" bIns="0" rtlCol="0">
            <a:noAutofit/>
          </a:bodyPr>
          <a:lstStyle/>
          <a:p>
            <a:pPr>
              <a:lnSpc>
                <a:spcPct val="110000"/>
              </a:lnSpc>
            </a:pPr>
            <a:r>
              <a:rPr lang="en-IN" sz="3800" b="1">
                <a:solidFill>
                  <a:srgbClr val="26658C"/>
                </a:solidFill>
                <a:latin typeface="Georgia" panose="02040502050405020303" pitchFamily="18" charset="0"/>
              </a:rPr>
              <a:t>8 / 8</a:t>
            </a:r>
          </a:p>
        </p:txBody>
      </p:sp>
      <p:sp>
        <p:nvSpPr>
          <p:cNvPr id="17" name="TextBox 16">
            <a:extLst>
              <a:ext uri="{FF2B5EF4-FFF2-40B4-BE49-F238E27FC236}">
                <a16:creationId xmlns:a16="http://schemas.microsoft.com/office/drawing/2014/main" id="{138218FF-F1DA-49D8-3EDC-02C30CA9A940}"/>
              </a:ext>
            </a:extLst>
          </p:cNvPr>
          <p:cNvSpPr txBox="1"/>
          <p:nvPr/>
        </p:nvSpPr>
        <p:spPr>
          <a:xfrm>
            <a:off x="4572000" y="2717800"/>
            <a:ext cx="3048000" cy="369332"/>
          </a:xfrm>
          <a:prstGeom prst="rect">
            <a:avLst/>
          </a:prstGeom>
          <a:noFill/>
        </p:spPr>
        <p:txBody>
          <a:bodyPr vert="horz" wrap="square" lIns="0" tIns="0" rIns="0" bIns="0" rtlCol="0">
            <a:noAutofit/>
          </a:bodyPr>
          <a:lstStyle/>
          <a:p>
            <a:pPr>
              <a:lnSpc>
                <a:spcPct val="110000"/>
              </a:lnSpc>
            </a:pPr>
            <a:r>
              <a:rPr lang="en-US" sz="1400">
                <a:solidFill>
                  <a:srgbClr val="0B2340"/>
                </a:solidFill>
                <a:latin typeface="Segoe UI" panose="020B0502040204020203" pitchFamily="34" charset="0"/>
              </a:rPr>
              <a:t>capstone phases completed, data to deployment</a:t>
            </a:r>
            <a:endParaRPr lang="en-IN" sz="1400">
              <a:solidFill>
                <a:srgbClr val="0B2340"/>
              </a:solidFill>
              <a:latin typeface="Segoe UI" panose="020B0502040204020203" pitchFamily="34" charset="0"/>
            </a:endParaRPr>
          </a:p>
        </p:txBody>
      </p:sp>
      <p:sp>
        <p:nvSpPr>
          <p:cNvPr id="18" name="Rectangle: Rounded Corners 17">
            <a:extLst>
              <a:ext uri="{FF2B5EF4-FFF2-40B4-BE49-F238E27FC236}">
                <a16:creationId xmlns:a16="http://schemas.microsoft.com/office/drawing/2014/main" id="{BA23849B-EE8F-99C6-92C5-4BF8DB264F10}"/>
              </a:ext>
            </a:extLst>
          </p:cNvPr>
          <p:cNvSpPr/>
          <p:nvPr/>
        </p:nvSpPr>
        <p:spPr>
          <a:xfrm>
            <a:off x="8026400" y="1778000"/>
            <a:ext cx="3556000" cy="17780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40F6D25B-918F-8515-17A4-AB77CCB7BE67}"/>
              </a:ext>
            </a:extLst>
          </p:cNvPr>
          <p:cNvSpPr txBox="1"/>
          <p:nvPr/>
        </p:nvSpPr>
        <p:spPr>
          <a:xfrm>
            <a:off x="8280400" y="1981200"/>
            <a:ext cx="3048000" cy="369332"/>
          </a:xfrm>
          <a:prstGeom prst="rect">
            <a:avLst/>
          </a:prstGeom>
          <a:noFill/>
        </p:spPr>
        <p:txBody>
          <a:bodyPr vert="horz" wrap="square" lIns="0" tIns="0" rIns="0" bIns="0" rtlCol="0">
            <a:noAutofit/>
          </a:bodyPr>
          <a:lstStyle/>
          <a:p>
            <a:pPr>
              <a:lnSpc>
                <a:spcPct val="110000"/>
              </a:lnSpc>
            </a:pPr>
            <a:r>
              <a:rPr lang="en-IN" sz="3800" b="1">
                <a:solidFill>
                  <a:srgbClr val="26658C"/>
                </a:solidFill>
                <a:latin typeface="Georgia" panose="02040502050405020303" pitchFamily="18" charset="0"/>
              </a:rPr>
              <a:t>Live</a:t>
            </a:r>
          </a:p>
        </p:txBody>
      </p:sp>
      <p:sp>
        <p:nvSpPr>
          <p:cNvPr id="20" name="TextBox 19">
            <a:extLst>
              <a:ext uri="{FF2B5EF4-FFF2-40B4-BE49-F238E27FC236}">
                <a16:creationId xmlns:a16="http://schemas.microsoft.com/office/drawing/2014/main" id="{28B0FA06-F159-9A47-FF9E-F51D5E5F4FB6}"/>
              </a:ext>
            </a:extLst>
          </p:cNvPr>
          <p:cNvSpPr txBox="1"/>
          <p:nvPr/>
        </p:nvSpPr>
        <p:spPr>
          <a:xfrm>
            <a:off x="8280400" y="2717800"/>
            <a:ext cx="3048000" cy="369332"/>
          </a:xfrm>
          <a:prstGeom prst="rect">
            <a:avLst/>
          </a:prstGeom>
          <a:noFill/>
        </p:spPr>
        <p:txBody>
          <a:bodyPr vert="horz" wrap="square" lIns="0" tIns="0" rIns="0" bIns="0" rtlCol="0">
            <a:noAutofit/>
          </a:bodyPr>
          <a:lstStyle/>
          <a:p>
            <a:pPr>
              <a:lnSpc>
                <a:spcPct val="110000"/>
              </a:lnSpc>
            </a:pPr>
            <a:r>
              <a:rPr lang="en-US" sz="1400">
                <a:solidFill>
                  <a:srgbClr val="0B2340"/>
                </a:solidFill>
                <a:latin typeface="Segoe UI" panose="020B0502040204020203" pitchFamily="34" charset="0"/>
              </a:rPr>
              <a:t>two-portal web app on Render</a:t>
            </a:r>
            <a:endParaRPr lang="en-IN" sz="1400">
              <a:solidFill>
                <a:srgbClr val="0B2340"/>
              </a:solidFill>
              <a:latin typeface="Segoe UI" panose="020B0502040204020203" pitchFamily="34" charset="0"/>
            </a:endParaRPr>
          </a:p>
        </p:txBody>
      </p:sp>
      <p:sp>
        <p:nvSpPr>
          <p:cNvPr id="21" name="Rectangle 20">
            <a:extLst>
              <a:ext uri="{FF2B5EF4-FFF2-40B4-BE49-F238E27FC236}">
                <a16:creationId xmlns:a16="http://schemas.microsoft.com/office/drawing/2014/main" id="{48095C1B-6F3A-9718-B65F-019C9102E418}"/>
              </a:ext>
            </a:extLst>
          </p:cNvPr>
          <p:cNvSpPr/>
          <p:nvPr/>
        </p:nvSpPr>
        <p:spPr>
          <a:xfrm>
            <a:off x="609600" y="3937000"/>
            <a:ext cx="50800" cy="1397000"/>
          </a:xfrm>
          <a:prstGeom prst="rect">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509FBADF-5823-FB2A-8329-AD94F9ADD420}"/>
              </a:ext>
            </a:extLst>
          </p:cNvPr>
          <p:cNvSpPr txBox="1"/>
          <p:nvPr/>
        </p:nvSpPr>
        <p:spPr>
          <a:xfrm>
            <a:off x="812800" y="3937000"/>
            <a:ext cx="10668000" cy="369332"/>
          </a:xfrm>
          <a:prstGeom prst="rect">
            <a:avLst/>
          </a:prstGeom>
          <a:noFill/>
        </p:spPr>
        <p:txBody>
          <a:bodyPr vert="horz" wrap="square" lIns="0" tIns="0" rIns="0" bIns="0" rtlCol="0">
            <a:noAutofit/>
          </a:bodyPr>
          <a:lstStyle/>
          <a:p>
            <a:pPr>
              <a:lnSpc>
                <a:spcPct val="110000"/>
              </a:lnSpc>
            </a:pPr>
            <a:r>
              <a:rPr lang="en-US" sz="1700">
                <a:solidFill>
                  <a:srgbClr val="0B2340"/>
                </a:solidFill>
                <a:latin typeface="Segoe UI Semibold" panose="020B0702040204020203" pitchFamily="34" charset="0"/>
              </a:rPr>
              <a:t>The lesson: simpler was better here</a:t>
            </a:r>
            <a:endParaRPr lang="en-IN" sz="1700">
              <a:solidFill>
                <a:srgbClr val="0B2340"/>
              </a:solidFill>
              <a:latin typeface="Segoe UI Semibold" panose="020B0702040204020203" pitchFamily="34" charset="0"/>
            </a:endParaRPr>
          </a:p>
        </p:txBody>
      </p:sp>
      <p:sp>
        <p:nvSpPr>
          <p:cNvPr id="23" name="TextBox 22">
            <a:extLst>
              <a:ext uri="{FF2B5EF4-FFF2-40B4-BE49-F238E27FC236}">
                <a16:creationId xmlns:a16="http://schemas.microsoft.com/office/drawing/2014/main" id="{C7DE01D7-590D-1823-12B9-D70809FECEF7}"/>
              </a:ext>
            </a:extLst>
          </p:cNvPr>
          <p:cNvSpPr txBox="1"/>
          <p:nvPr/>
        </p:nvSpPr>
        <p:spPr>
          <a:xfrm>
            <a:off x="812800" y="4318000"/>
            <a:ext cx="10668000" cy="369332"/>
          </a:xfrm>
          <a:prstGeom prst="rect">
            <a:avLst/>
          </a:prstGeom>
          <a:noFill/>
        </p:spPr>
        <p:txBody>
          <a:bodyPr vert="horz" wrap="square" lIns="0" tIns="0" rIns="0" bIns="0" rtlCol="0">
            <a:noAutofit/>
          </a:bodyPr>
          <a:lstStyle/>
          <a:p>
            <a:pPr>
              <a:lnSpc>
                <a:spcPct val="110000"/>
              </a:lnSpc>
            </a:pPr>
            <a:r>
              <a:rPr lang="en-US" sz="1500">
                <a:solidFill>
                  <a:srgbClr val="3E5670"/>
                </a:solidFill>
                <a:latin typeface="Segoe UI" panose="020B0502040204020203" pitchFamily="34" charset="0"/>
              </a:rPr>
              <a:t>Random Forest and XGBoost matched Linear Regression but did not beat it. The simplest model is the fastest, the most stable and the easiest to explain to a teacher.</a:t>
            </a:r>
            <a:endParaRPr lang="en-IN" sz="1500">
              <a:solidFill>
                <a:srgbClr val="3E5670"/>
              </a:solidFill>
              <a:latin typeface="Segoe UI" panose="020B0502040204020203" pitchFamily="34" charset="0"/>
            </a:endParaRPr>
          </a:p>
        </p:txBody>
      </p:sp>
      <p:sp>
        <p:nvSpPr>
          <p:cNvPr id="24" name="TextBox 23">
            <a:extLst>
              <a:ext uri="{FF2B5EF4-FFF2-40B4-BE49-F238E27FC236}">
                <a16:creationId xmlns:a16="http://schemas.microsoft.com/office/drawing/2014/main" id="{B0477B40-2FFF-B832-B7FF-541F6507A222}"/>
              </a:ext>
            </a:extLst>
          </p:cNvPr>
          <p:cNvSpPr txBox="1"/>
          <p:nvPr/>
        </p:nvSpPr>
        <p:spPr>
          <a:xfrm>
            <a:off x="812800" y="5080000"/>
            <a:ext cx="10668000" cy="369332"/>
          </a:xfrm>
          <a:prstGeom prst="rect">
            <a:avLst/>
          </a:prstGeom>
          <a:noFill/>
        </p:spPr>
        <p:txBody>
          <a:bodyPr vert="horz" wrap="square" lIns="0" tIns="0" rIns="0" bIns="0" rtlCol="0">
            <a:noAutofit/>
          </a:bodyPr>
          <a:lstStyle/>
          <a:p>
            <a:pPr>
              <a:lnSpc>
                <a:spcPct val="110000"/>
              </a:lnSpc>
            </a:pPr>
            <a:r>
              <a:rPr lang="en-US" sz="1300">
                <a:solidFill>
                  <a:srgbClr val="6B8296"/>
                </a:solidFill>
                <a:latin typeface="Segoe UI" panose="020B0502040204020203" pitchFamily="34" charset="0"/>
              </a:rPr>
              <a:t>Findings agree with published research: internal assessment and prior achievement are the strongest predictors, and attendance matters.</a:t>
            </a:r>
            <a:endParaRPr lang="en-IN" sz="1300">
              <a:solidFill>
                <a:srgbClr val="6B8296"/>
              </a:solidFill>
              <a:latin typeface="Segoe UI" panose="020B0502040204020203" pitchFamily="34" charset="0"/>
            </a:endParaRPr>
          </a:p>
        </p:txBody>
      </p:sp>
    </p:spTree>
    <p:extLst>
      <p:ext uri="{BB962C8B-B14F-4D97-AF65-F5344CB8AC3E}">
        <p14:creationId xmlns:p14="http://schemas.microsoft.com/office/powerpoint/2010/main" val="2097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8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35E33C-41BE-B85D-3263-590799242498}"/>
              </a:ext>
            </a:extLst>
          </p:cNvPr>
          <p:cNvSpPr txBox="1"/>
          <p:nvPr/>
        </p:nvSpPr>
        <p:spPr>
          <a:xfrm>
            <a:off x="6096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Introduction</a:t>
            </a:r>
          </a:p>
        </p:txBody>
      </p:sp>
      <p:sp>
        <p:nvSpPr>
          <p:cNvPr id="3" name="TextBox 2">
            <a:extLst>
              <a:ext uri="{FF2B5EF4-FFF2-40B4-BE49-F238E27FC236}">
                <a16:creationId xmlns:a16="http://schemas.microsoft.com/office/drawing/2014/main" id="{174FC057-B305-6D29-0E7C-771EDBADE9FC}"/>
              </a:ext>
            </a:extLst>
          </p:cNvPr>
          <p:cNvSpPr txBox="1"/>
          <p:nvPr/>
        </p:nvSpPr>
        <p:spPr>
          <a:xfrm>
            <a:off x="28067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Data &amp; Methodology</a:t>
            </a:r>
          </a:p>
        </p:txBody>
      </p:sp>
      <p:sp>
        <p:nvSpPr>
          <p:cNvPr id="4" name="TextBox 3">
            <a:extLst>
              <a:ext uri="{FF2B5EF4-FFF2-40B4-BE49-F238E27FC236}">
                <a16:creationId xmlns:a16="http://schemas.microsoft.com/office/drawing/2014/main" id="{1B5329F2-FD16-F4B3-6ABC-306291C44017}"/>
              </a:ext>
            </a:extLst>
          </p:cNvPr>
          <p:cNvSpPr txBox="1"/>
          <p:nvPr/>
        </p:nvSpPr>
        <p:spPr>
          <a:xfrm>
            <a:off x="50038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Preprocessing &amp; EDA</a:t>
            </a:r>
          </a:p>
        </p:txBody>
      </p:sp>
      <p:sp>
        <p:nvSpPr>
          <p:cNvPr id="5" name="TextBox 4">
            <a:extLst>
              <a:ext uri="{FF2B5EF4-FFF2-40B4-BE49-F238E27FC236}">
                <a16:creationId xmlns:a16="http://schemas.microsoft.com/office/drawing/2014/main" id="{1EF562E4-2A30-8FF7-EA7A-C6E5719543E3}"/>
              </a:ext>
            </a:extLst>
          </p:cNvPr>
          <p:cNvSpPr txBox="1"/>
          <p:nvPr/>
        </p:nvSpPr>
        <p:spPr>
          <a:xfrm>
            <a:off x="72009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6B8296"/>
                </a:solidFill>
                <a:latin typeface="Segoe UI" panose="020B0502040204020203" pitchFamily="34" charset="0"/>
              </a:rPr>
              <a:t>Models &amp; Results</a:t>
            </a:r>
          </a:p>
        </p:txBody>
      </p:sp>
      <p:sp>
        <p:nvSpPr>
          <p:cNvPr id="6" name="Rectangle: Rounded Corners 5">
            <a:extLst>
              <a:ext uri="{FF2B5EF4-FFF2-40B4-BE49-F238E27FC236}">
                <a16:creationId xmlns:a16="http://schemas.microsoft.com/office/drawing/2014/main" id="{20442296-90A6-F325-5087-982333AC1DB0}"/>
              </a:ext>
            </a:extLst>
          </p:cNvPr>
          <p:cNvSpPr/>
          <p:nvPr/>
        </p:nvSpPr>
        <p:spPr>
          <a:xfrm>
            <a:off x="9398000" y="203200"/>
            <a:ext cx="2032000" cy="279400"/>
          </a:xfrm>
          <a:prstGeom prst="roundRect">
            <a:avLst>
              <a:gd name="adj" fmla="val 50000"/>
            </a:avLst>
          </a:prstGeom>
          <a:solidFill>
            <a:srgbClr val="26658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8BF22F5F-6B40-50F4-F421-76EE3FEBFE67}"/>
              </a:ext>
            </a:extLst>
          </p:cNvPr>
          <p:cNvSpPr txBox="1"/>
          <p:nvPr/>
        </p:nvSpPr>
        <p:spPr>
          <a:xfrm>
            <a:off x="9398000" y="254000"/>
            <a:ext cx="2032000" cy="369332"/>
          </a:xfrm>
          <a:prstGeom prst="rect">
            <a:avLst/>
          </a:prstGeom>
          <a:noFill/>
        </p:spPr>
        <p:txBody>
          <a:bodyPr vert="horz" wrap="square" lIns="0" tIns="0" rIns="0" bIns="0" rtlCol="0">
            <a:noAutofit/>
          </a:bodyPr>
          <a:lstStyle/>
          <a:p>
            <a:pPr algn="ctr">
              <a:lnSpc>
                <a:spcPct val="110000"/>
              </a:lnSpc>
            </a:pPr>
            <a:r>
              <a:rPr lang="en-IN" sz="1000">
                <a:solidFill>
                  <a:srgbClr val="FFFFFF"/>
                </a:solidFill>
                <a:latin typeface="Segoe UI Semibold" panose="020B0702040204020203" pitchFamily="34" charset="0"/>
              </a:rPr>
              <a:t>Demo &amp; Conclusion</a:t>
            </a:r>
          </a:p>
        </p:txBody>
      </p:sp>
      <p:sp>
        <p:nvSpPr>
          <p:cNvPr id="8" name="TextBox 7">
            <a:extLst>
              <a:ext uri="{FF2B5EF4-FFF2-40B4-BE49-F238E27FC236}">
                <a16:creationId xmlns:a16="http://schemas.microsoft.com/office/drawing/2014/main" id="{1FA6BCE9-4C4D-1449-DF6B-7BF89AB49D64}"/>
              </a:ext>
            </a:extLst>
          </p:cNvPr>
          <p:cNvSpPr txBox="1"/>
          <p:nvPr/>
        </p:nvSpPr>
        <p:spPr>
          <a:xfrm>
            <a:off x="609600" y="736600"/>
            <a:ext cx="8890000" cy="369332"/>
          </a:xfrm>
          <a:prstGeom prst="rect">
            <a:avLst/>
          </a:prstGeom>
          <a:noFill/>
        </p:spPr>
        <p:txBody>
          <a:bodyPr vert="horz" wrap="square" lIns="0" tIns="0" rIns="0" bIns="0" rtlCol="0">
            <a:noAutofit/>
          </a:bodyPr>
          <a:lstStyle/>
          <a:p>
            <a:pPr>
              <a:lnSpc>
                <a:spcPct val="110000"/>
              </a:lnSpc>
            </a:pPr>
            <a:r>
              <a:rPr lang="en-IN" sz="1100">
                <a:solidFill>
                  <a:srgbClr val="26658C"/>
                </a:solidFill>
                <a:latin typeface="Segoe UI Semibold" panose="020B0702040204020203" pitchFamily="34" charset="0"/>
              </a:rPr>
              <a:t>FUTURE SCOPE</a:t>
            </a:r>
          </a:p>
        </p:txBody>
      </p:sp>
      <p:sp>
        <p:nvSpPr>
          <p:cNvPr id="9" name="TextBox 8">
            <a:extLst>
              <a:ext uri="{FF2B5EF4-FFF2-40B4-BE49-F238E27FC236}">
                <a16:creationId xmlns:a16="http://schemas.microsoft.com/office/drawing/2014/main" id="{32AE3F51-A0D4-D60C-D824-E53CA9DAC138}"/>
              </a:ext>
            </a:extLst>
          </p:cNvPr>
          <p:cNvSpPr txBox="1"/>
          <p:nvPr/>
        </p:nvSpPr>
        <p:spPr>
          <a:xfrm>
            <a:off x="609600" y="965200"/>
            <a:ext cx="10972800" cy="369332"/>
          </a:xfrm>
          <a:prstGeom prst="rect">
            <a:avLst/>
          </a:prstGeom>
          <a:noFill/>
        </p:spPr>
        <p:txBody>
          <a:bodyPr vert="horz" wrap="square" lIns="0" tIns="0" rIns="0" bIns="0" rtlCol="0">
            <a:noAutofit/>
          </a:bodyPr>
          <a:lstStyle/>
          <a:p>
            <a:pPr>
              <a:lnSpc>
                <a:spcPct val="110000"/>
              </a:lnSpc>
            </a:pPr>
            <a:r>
              <a:rPr lang="en-US" sz="2600" b="1">
                <a:solidFill>
                  <a:srgbClr val="0B2340"/>
                </a:solidFill>
                <a:latin typeface="Georgia" panose="02040502050405020303" pitchFamily="18" charset="0"/>
              </a:rPr>
              <a:t>Next: real data and permanent hosting</a:t>
            </a:r>
            <a:endParaRPr lang="en-IN" sz="2600" b="1">
              <a:solidFill>
                <a:srgbClr val="0B2340"/>
              </a:solidFill>
              <a:latin typeface="Georgia" panose="02040502050405020303" pitchFamily="18" charset="0"/>
            </a:endParaRPr>
          </a:p>
        </p:txBody>
      </p:sp>
      <p:sp>
        <p:nvSpPr>
          <p:cNvPr id="10" name="TextBox 9">
            <a:extLst>
              <a:ext uri="{FF2B5EF4-FFF2-40B4-BE49-F238E27FC236}">
                <a16:creationId xmlns:a16="http://schemas.microsoft.com/office/drawing/2014/main" id="{7B812F49-40EF-198B-D11B-341B310AC49A}"/>
              </a:ext>
            </a:extLst>
          </p:cNvPr>
          <p:cNvSpPr txBox="1"/>
          <p:nvPr/>
        </p:nvSpPr>
        <p:spPr>
          <a:xfrm>
            <a:off x="609600" y="6502400"/>
            <a:ext cx="7620000" cy="369332"/>
          </a:xfrm>
          <a:prstGeom prst="rect">
            <a:avLst/>
          </a:prstGeom>
          <a:noFill/>
        </p:spPr>
        <p:txBody>
          <a:bodyPr vert="horz" wrap="square" lIns="0" tIns="0" rIns="0" bIns="0" rtlCol="0">
            <a:noAutofit/>
          </a:bodyPr>
          <a:lstStyle/>
          <a:p>
            <a:pPr>
              <a:lnSpc>
                <a:spcPct val="110000"/>
              </a:lnSpc>
            </a:pPr>
            <a:r>
              <a:rPr lang="en-US" sz="900">
                <a:solidFill>
                  <a:srgbClr val="6B8296"/>
                </a:solidFill>
                <a:latin typeface="Segoe UI" panose="020B0502040204020203" pitchFamily="34" charset="0"/>
              </a:rPr>
              <a:t>Acadrix · Student Performance Prediction System</a:t>
            </a:r>
            <a:endParaRPr lang="en-IN" sz="900">
              <a:solidFill>
                <a:srgbClr val="6B8296"/>
              </a:solidFill>
              <a:latin typeface="Segoe UI" panose="020B0502040204020203" pitchFamily="34" charset="0"/>
            </a:endParaRPr>
          </a:p>
        </p:txBody>
      </p:sp>
      <p:sp>
        <p:nvSpPr>
          <p:cNvPr id="11" name="TextBox 10">
            <a:extLst>
              <a:ext uri="{FF2B5EF4-FFF2-40B4-BE49-F238E27FC236}">
                <a16:creationId xmlns:a16="http://schemas.microsoft.com/office/drawing/2014/main" id="{B6F819C9-C72F-09D0-9F79-BE1F0A8C8E54}"/>
              </a:ext>
            </a:extLst>
          </p:cNvPr>
          <p:cNvSpPr txBox="1"/>
          <p:nvPr/>
        </p:nvSpPr>
        <p:spPr>
          <a:xfrm>
            <a:off x="10820400" y="6502400"/>
            <a:ext cx="762000" cy="369332"/>
          </a:xfrm>
          <a:prstGeom prst="rect">
            <a:avLst/>
          </a:prstGeom>
          <a:noFill/>
        </p:spPr>
        <p:txBody>
          <a:bodyPr vert="horz" wrap="square" lIns="0" tIns="0" rIns="0" bIns="0" rtlCol="0">
            <a:noAutofit/>
          </a:bodyPr>
          <a:lstStyle/>
          <a:p>
            <a:pPr algn="r">
              <a:lnSpc>
                <a:spcPct val="110000"/>
              </a:lnSpc>
            </a:pPr>
            <a:r>
              <a:rPr lang="en-IN" sz="900">
                <a:solidFill>
                  <a:srgbClr val="6B8296"/>
                </a:solidFill>
                <a:latin typeface="Segoe UI" panose="020B0502040204020203" pitchFamily="34" charset="0"/>
              </a:rPr>
              <a:t>14</a:t>
            </a:r>
          </a:p>
        </p:txBody>
      </p:sp>
      <p:sp>
        <p:nvSpPr>
          <p:cNvPr id="12" name="Rectangle: Rounded Corners 11">
            <a:extLst>
              <a:ext uri="{FF2B5EF4-FFF2-40B4-BE49-F238E27FC236}">
                <a16:creationId xmlns:a16="http://schemas.microsoft.com/office/drawing/2014/main" id="{E076086B-A470-2167-11F3-58C0B1BD6B27}"/>
              </a:ext>
            </a:extLst>
          </p:cNvPr>
          <p:cNvSpPr/>
          <p:nvPr/>
        </p:nvSpPr>
        <p:spPr>
          <a:xfrm>
            <a:off x="609600" y="1778000"/>
            <a:ext cx="5410200" cy="11684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21937561-6E67-6768-F6BD-9E738D9CF2F9}"/>
              </a:ext>
            </a:extLst>
          </p:cNvPr>
          <p:cNvSpPr/>
          <p:nvPr/>
        </p:nvSpPr>
        <p:spPr>
          <a:xfrm>
            <a:off x="609600" y="1778000"/>
            <a:ext cx="63500" cy="1168400"/>
          </a:xfrm>
          <a:prstGeom prst="rect">
            <a:avLst/>
          </a:prstGeom>
          <a:solidFill>
            <a:srgbClr val="54ACB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D2E33310-0B98-8E25-6780-40E3F8B04B4E}"/>
              </a:ext>
            </a:extLst>
          </p:cNvPr>
          <p:cNvSpPr txBox="1"/>
          <p:nvPr/>
        </p:nvSpPr>
        <p:spPr>
          <a:xfrm>
            <a:off x="889000" y="2006600"/>
            <a:ext cx="4953000" cy="369332"/>
          </a:xfrm>
          <a:prstGeom prst="rect">
            <a:avLst/>
          </a:prstGeom>
          <a:noFill/>
        </p:spPr>
        <p:txBody>
          <a:bodyPr vert="horz" wrap="square" lIns="0" tIns="0" rIns="0" bIns="0" rtlCol="0">
            <a:noAutofit/>
          </a:bodyPr>
          <a:lstStyle/>
          <a:p>
            <a:pPr>
              <a:lnSpc>
                <a:spcPct val="110000"/>
              </a:lnSpc>
            </a:pPr>
            <a:r>
              <a:rPr lang="en-IN" sz="1700">
                <a:solidFill>
                  <a:srgbClr val="0B2340"/>
                </a:solidFill>
                <a:latin typeface="Segoe UI Semibold" panose="020B0702040204020203" pitchFamily="34" charset="0"/>
              </a:rPr>
              <a:t>Real student records</a:t>
            </a:r>
          </a:p>
        </p:txBody>
      </p:sp>
      <p:sp>
        <p:nvSpPr>
          <p:cNvPr id="15" name="TextBox 14">
            <a:extLst>
              <a:ext uri="{FF2B5EF4-FFF2-40B4-BE49-F238E27FC236}">
                <a16:creationId xmlns:a16="http://schemas.microsoft.com/office/drawing/2014/main" id="{D9775C39-952A-4838-7913-49CDB908F7CF}"/>
              </a:ext>
            </a:extLst>
          </p:cNvPr>
          <p:cNvSpPr txBox="1"/>
          <p:nvPr/>
        </p:nvSpPr>
        <p:spPr>
          <a:xfrm>
            <a:off x="889000" y="2387600"/>
            <a:ext cx="4953000" cy="369332"/>
          </a:xfrm>
          <a:prstGeom prst="rect">
            <a:avLst/>
          </a:prstGeom>
          <a:noFill/>
        </p:spPr>
        <p:txBody>
          <a:bodyPr vert="horz" wrap="square" lIns="0" tIns="0" rIns="0" bIns="0" rtlCol="0">
            <a:noAutofit/>
          </a:bodyPr>
          <a:lstStyle/>
          <a:p>
            <a:pPr>
              <a:lnSpc>
                <a:spcPct val="110000"/>
              </a:lnSpc>
            </a:pPr>
            <a:r>
              <a:rPr lang="en-US" sz="1400">
                <a:solidFill>
                  <a:srgbClr val="3E5670"/>
                </a:solidFill>
                <a:latin typeface="Segoe UI" panose="020B0502040204020203" pitchFamily="34" charset="0"/>
              </a:rPr>
              <a:t>Retrain on institutional data with the same five fields</a:t>
            </a:r>
            <a:endParaRPr lang="en-IN" sz="1400">
              <a:solidFill>
                <a:srgbClr val="3E5670"/>
              </a:solidFill>
              <a:latin typeface="Segoe UI" panose="020B0502040204020203" pitchFamily="34" charset="0"/>
            </a:endParaRPr>
          </a:p>
        </p:txBody>
      </p:sp>
      <p:sp>
        <p:nvSpPr>
          <p:cNvPr id="16" name="Rectangle: Rounded Corners 15">
            <a:extLst>
              <a:ext uri="{FF2B5EF4-FFF2-40B4-BE49-F238E27FC236}">
                <a16:creationId xmlns:a16="http://schemas.microsoft.com/office/drawing/2014/main" id="{6D9AF669-5E58-82B7-468F-2202EDDE54C2}"/>
              </a:ext>
            </a:extLst>
          </p:cNvPr>
          <p:cNvSpPr/>
          <p:nvPr/>
        </p:nvSpPr>
        <p:spPr>
          <a:xfrm>
            <a:off x="6172200" y="1778000"/>
            <a:ext cx="5410200" cy="11684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6E69DC0C-C671-ED5D-0218-4ADB8EAD1ADF}"/>
              </a:ext>
            </a:extLst>
          </p:cNvPr>
          <p:cNvSpPr/>
          <p:nvPr/>
        </p:nvSpPr>
        <p:spPr>
          <a:xfrm>
            <a:off x="6172200" y="1778000"/>
            <a:ext cx="63500" cy="1168400"/>
          </a:xfrm>
          <a:prstGeom prst="rect">
            <a:avLst/>
          </a:prstGeom>
          <a:solidFill>
            <a:srgbClr val="54ACB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861B4605-0C19-06A3-1158-EC215223E892}"/>
              </a:ext>
            </a:extLst>
          </p:cNvPr>
          <p:cNvSpPr txBox="1"/>
          <p:nvPr/>
        </p:nvSpPr>
        <p:spPr>
          <a:xfrm>
            <a:off x="6451600" y="2006600"/>
            <a:ext cx="4953000" cy="369332"/>
          </a:xfrm>
          <a:prstGeom prst="rect">
            <a:avLst/>
          </a:prstGeom>
          <a:noFill/>
        </p:spPr>
        <p:txBody>
          <a:bodyPr vert="horz" wrap="square" lIns="0" tIns="0" rIns="0" bIns="0" rtlCol="0">
            <a:noAutofit/>
          </a:bodyPr>
          <a:lstStyle/>
          <a:p>
            <a:pPr>
              <a:lnSpc>
                <a:spcPct val="110000"/>
              </a:lnSpc>
            </a:pPr>
            <a:r>
              <a:rPr lang="en-IN" sz="1700">
                <a:solidFill>
                  <a:srgbClr val="0B2340"/>
                </a:solidFill>
                <a:latin typeface="Segoe UI Semibold" panose="020B0702040204020203" pitchFamily="34" charset="0"/>
              </a:rPr>
              <a:t>Better for weak students</a:t>
            </a:r>
          </a:p>
        </p:txBody>
      </p:sp>
      <p:sp>
        <p:nvSpPr>
          <p:cNvPr id="19" name="TextBox 18">
            <a:extLst>
              <a:ext uri="{FF2B5EF4-FFF2-40B4-BE49-F238E27FC236}">
                <a16:creationId xmlns:a16="http://schemas.microsoft.com/office/drawing/2014/main" id="{498CC83B-13A4-B34A-EF18-FD6B3ED460C8}"/>
              </a:ext>
            </a:extLst>
          </p:cNvPr>
          <p:cNvSpPr txBox="1"/>
          <p:nvPr/>
        </p:nvSpPr>
        <p:spPr>
          <a:xfrm>
            <a:off x="6451600" y="2387600"/>
            <a:ext cx="4953000" cy="369332"/>
          </a:xfrm>
          <a:prstGeom prst="rect">
            <a:avLst/>
          </a:prstGeom>
          <a:noFill/>
        </p:spPr>
        <p:txBody>
          <a:bodyPr vert="horz" wrap="square" lIns="0" tIns="0" rIns="0" bIns="0" rtlCol="0">
            <a:noAutofit/>
          </a:bodyPr>
          <a:lstStyle/>
          <a:p>
            <a:pPr>
              <a:lnSpc>
                <a:spcPct val="110000"/>
              </a:lnSpc>
            </a:pPr>
            <a:r>
              <a:rPr lang="en-US" sz="1400">
                <a:solidFill>
                  <a:srgbClr val="3E5670"/>
                </a:solidFill>
                <a:latin typeface="Segoe UI" panose="020B0502040204020203" pitchFamily="34" charset="0"/>
              </a:rPr>
              <a:t>Fix the over-prediction for the lowest scorers</a:t>
            </a:r>
            <a:endParaRPr lang="en-IN" sz="1400">
              <a:solidFill>
                <a:srgbClr val="3E5670"/>
              </a:solidFill>
              <a:latin typeface="Segoe UI" panose="020B0502040204020203" pitchFamily="34" charset="0"/>
            </a:endParaRPr>
          </a:p>
        </p:txBody>
      </p:sp>
      <p:sp>
        <p:nvSpPr>
          <p:cNvPr id="20" name="Rectangle: Rounded Corners 19">
            <a:extLst>
              <a:ext uri="{FF2B5EF4-FFF2-40B4-BE49-F238E27FC236}">
                <a16:creationId xmlns:a16="http://schemas.microsoft.com/office/drawing/2014/main" id="{D7898510-167B-751C-B597-65C13E28D362}"/>
              </a:ext>
            </a:extLst>
          </p:cNvPr>
          <p:cNvSpPr/>
          <p:nvPr/>
        </p:nvSpPr>
        <p:spPr>
          <a:xfrm>
            <a:off x="609600" y="3098800"/>
            <a:ext cx="5410200" cy="11684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00B68197-6220-5015-D76C-B2CABD590D0D}"/>
              </a:ext>
            </a:extLst>
          </p:cNvPr>
          <p:cNvSpPr/>
          <p:nvPr/>
        </p:nvSpPr>
        <p:spPr>
          <a:xfrm>
            <a:off x="609600" y="3098800"/>
            <a:ext cx="63500" cy="1168400"/>
          </a:xfrm>
          <a:prstGeom prst="rect">
            <a:avLst/>
          </a:prstGeom>
          <a:solidFill>
            <a:srgbClr val="54ACB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F0DBB79C-E9CE-6FF9-9404-6563A19CC1A3}"/>
              </a:ext>
            </a:extLst>
          </p:cNvPr>
          <p:cNvSpPr txBox="1"/>
          <p:nvPr/>
        </p:nvSpPr>
        <p:spPr>
          <a:xfrm>
            <a:off x="889000" y="3327400"/>
            <a:ext cx="4953000" cy="369332"/>
          </a:xfrm>
          <a:prstGeom prst="rect">
            <a:avLst/>
          </a:prstGeom>
          <a:noFill/>
        </p:spPr>
        <p:txBody>
          <a:bodyPr vert="horz" wrap="square" lIns="0" tIns="0" rIns="0" bIns="0" rtlCol="0">
            <a:noAutofit/>
          </a:bodyPr>
          <a:lstStyle/>
          <a:p>
            <a:pPr>
              <a:lnSpc>
                <a:spcPct val="110000"/>
              </a:lnSpc>
            </a:pPr>
            <a:r>
              <a:rPr lang="en-IN" sz="1700">
                <a:solidFill>
                  <a:srgbClr val="0B2340"/>
                </a:solidFill>
                <a:latin typeface="Segoe UI Semibold" panose="020B0702040204020203" pitchFamily="34" charset="0"/>
              </a:rPr>
              <a:t>Permanent storage</a:t>
            </a:r>
          </a:p>
        </p:txBody>
      </p:sp>
      <p:sp>
        <p:nvSpPr>
          <p:cNvPr id="23" name="TextBox 22">
            <a:extLst>
              <a:ext uri="{FF2B5EF4-FFF2-40B4-BE49-F238E27FC236}">
                <a16:creationId xmlns:a16="http://schemas.microsoft.com/office/drawing/2014/main" id="{B6C6689A-987D-3773-6F7B-8A03101B4263}"/>
              </a:ext>
            </a:extLst>
          </p:cNvPr>
          <p:cNvSpPr txBox="1"/>
          <p:nvPr/>
        </p:nvSpPr>
        <p:spPr>
          <a:xfrm>
            <a:off x="889000" y="3708400"/>
            <a:ext cx="4953000" cy="369332"/>
          </a:xfrm>
          <a:prstGeom prst="rect">
            <a:avLst/>
          </a:prstGeom>
          <a:noFill/>
        </p:spPr>
        <p:txBody>
          <a:bodyPr vert="horz" wrap="square" lIns="0" tIns="0" rIns="0" bIns="0" rtlCol="0">
            <a:noAutofit/>
          </a:bodyPr>
          <a:lstStyle/>
          <a:p>
            <a:pPr>
              <a:lnSpc>
                <a:spcPct val="110000"/>
              </a:lnSpc>
            </a:pPr>
            <a:r>
              <a:rPr lang="en-US" sz="1400">
                <a:solidFill>
                  <a:srgbClr val="3E5670"/>
                </a:solidFill>
                <a:latin typeface="Segoe UI" panose="020B0502040204020203" pitchFamily="34" charset="0"/>
              </a:rPr>
              <a:t>Paid hosting or PostgreSQL so data survives restarts</a:t>
            </a:r>
            <a:endParaRPr lang="en-IN" sz="1400">
              <a:solidFill>
                <a:srgbClr val="3E5670"/>
              </a:solidFill>
              <a:latin typeface="Segoe UI" panose="020B0502040204020203" pitchFamily="34" charset="0"/>
            </a:endParaRPr>
          </a:p>
        </p:txBody>
      </p:sp>
      <p:sp>
        <p:nvSpPr>
          <p:cNvPr id="24" name="Rectangle: Rounded Corners 23">
            <a:extLst>
              <a:ext uri="{FF2B5EF4-FFF2-40B4-BE49-F238E27FC236}">
                <a16:creationId xmlns:a16="http://schemas.microsoft.com/office/drawing/2014/main" id="{B8824E78-AC38-5969-55F9-5C6760EE2E51}"/>
              </a:ext>
            </a:extLst>
          </p:cNvPr>
          <p:cNvSpPr/>
          <p:nvPr/>
        </p:nvSpPr>
        <p:spPr>
          <a:xfrm>
            <a:off x="6172200" y="3098800"/>
            <a:ext cx="5410200" cy="11684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371940A4-A283-83EA-C442-1C1B9D3DD9EE}"/>
              </a:ext>
            </a:extLst>
          </p:cNvPr>
          <p:cNvSpPr/>
          <p:nvPr/>
        </p:nvSpPr>
        <p:spPr>
          <a:xfrm>
            <a:off x="6172200" y="3098800"/>
            <a:ext cx="63500" cy="1168400"/>
          </a:xfrm>
          <a:prstGeom prst="rect">
            <a:avLst/>
          </a:prstGeom>
          <a:solidFill>
            <a:srgbClr val="54ACB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71926749-AE4A-A793-4A32-8089EDCC5BD7}"/>
              </a:ext>
            </a:extLst>
          </p:cNvPr>
          <p:cNvSpPr txBox="1"/>
          <p:nvPr/>
        </p:nvSpPr>
        <p:spPr>
          <a:xfrm>
            <a:off x="6451600" y="3327400"/>
            <a:ext cx="4953000" cy="369332"/>
          </a:xfrm>
          <a:prstGeom prst="rect">
            <a:avLst/>
          </a:prstGeom>
          <a:noFill/>
        </p:spPr>
        <p:txBody>
          <a:bodyPr vert="horz" wrap="square" lIns="0" tIns="0" rIns="0" bIns="0" rtlCol="0">
            <a:noAutofit/>
          </a:bodyPr>
          <a:lstStyle/>
          <a:p>
            <a:pPr>
              <a:lnSpc>
                <a:spcPct val="110000"/>
              </a:lnSpc>
            </a:pPr>
            <a:r>
              <a:rPr lang="en-IN" sz="1700">
                <a:solidFill>
                  <a:srgbClr val="0B2340"/>
                </a:solidFill>
                <a:latin typeface="Segoe UI Semibold" panose="020B0702040204020203" pitchFamily="34" charset="0"/>
              </a:rPr>
              <a:t>ERP integration</a:t>
            </a:r>
          </a:p>
        </p:txBody>
      </p:sp>
      <p:sp>
        <p:nvSpPr>
          <p:cNvPr id="27" name="TextBox 26">
            <a:extLst>
              <a:ext uri="{FF2B5EF4-FFF2-40B4-BE49-F238E27FC236}">
                <a16:creationId xmlns:a16="http://schemas.microsoft.com/office/drawing/2014/main" id="{BB8397B4-C480-8287-FE74-B7E4CDE9E083}"/>
              </a:ext>
            </a:extLst>
          </p:cNvPr>
          <p:cNvSpPr txBox="1"/>
          <p:nvPr/>
        </p:nvSpPr>
        <p:spPr>
          <a:xfrm>
            <a:off x="6451600" y="3708400"/>
            <a:ext cx="4953000" cy="369332"/>
          </a:xfrm>
          <a:prstGeom prst="rect">
            <a:avLst/>
          </a:prstGeom>
          <a:noFill/>
        </p:spPr>
        <p:txBody>
          <a:bodyPr vert="horz" wrap="square" lIns="0" tIns="0" rIns="0" bIns="0" rtlCol="0">
            <a:noAutofit/>
          </a:bodyPr>
          <a:lstStyle/>
          <a:p>
            <a:pPr>
              <a:lnSpc>
                <a:spcPct val="110000"/>
              </a:lnSpc>
            </a:pPr>
            <a:r>
              <a:rPr lang="en-US" sz="1400">
                <a:solidFill>
                  <a:srgbClr val="3E5670"/>
                </a:solidFill>
                <a:latin typeface="Segoe UI" panose="020B0502040204020203" pitchFamily="34" charset="0"/>
              </a:rPr>
              <a:t>Import attendance and marks automatically</a:t>
            </a:r>
            <a:endParaRPr lang="en-IN" sz="1400">
              <a:solidFill>
                <a:srgbClr val="3E5670"/>
              </a:solidFill>
              <a:latin typeface="Segoe UI" panose="020B0502040204020203" pitchFamily="34" charset="0"/>
            </a:endParaRPr>
          </a:p>
        </p:txBody>
      </p:sp>
      <p:sp>
        <p:nvSpPr>
          <p:cNvPr id="28" name="Rectangle: Rounded Corners 27">
            <a:extLst>
              <a:ext uri="{FF2B5EF4-FFF2-40B4-BE49-F238E27FC236}">
                <a16:creationId xmlns:a16="http://schemas.microsoft.com/office/drawing/2014/main" id="{ACBA2A96-CF23-6375-1290-34F32929661F}"/>
              </a:ext>
            </a:extLst>
          </p:cNvPr>
          <p:cNvSpPr/>
          <p:nvPr/>
        </p:nvSpPr>
        <p:spPr>
          <a:xfrm>
            <a:off x="609600" y="4419600"/>
            <a:ext cx="5410200" cy="11684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28">
            <a:extLst>
              <a:ext uri="{FF2B5EF4-FFF2-40B4-BE49-F238E27FC236}">
                <a16:creationId xmlns:a16="http://schemas.microsoft.com/office/drawing/2014/main" id="{A62006BB-9B03-70F4-E8B3-D7A5DC3CF2A1}"/>
              </a:ext>
            </a:extLst>
          </p:cNvPr>
          <p:cNvSpPr/>
          <p:nvPr/>
        </p:nvSpPr>
        <p:spPr>
          <a:xfrm>
            <a:off x="609600" y="4419600"/>
            <a:ext cx="63500" cy="1168400"/>
          </a:xfrm>
          <a:prstGeom prst="rect">
            <a:avLst/>
          </a:prstGeom>
          <a:solidFill>
            <a:srgbClr val="54ACB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168AF36B-CA17-1521-D0AC-892EB847AC5E}"/>
              </a:ext>
            </a:extLst>
          </p:cNvPr>
          <p:cNvSpPr txBox="1"/>
          <p:nvPr/>
        </p:nvSpPr>
        <p:spPr>
          <a:xfrm>
            <a:off x="889000" y="4648200"/>
            <a:ext cx="4953000" cy="369332"/>
          </a:xfrm>
          <a:prstGeom prst="rect">
            <a:avLst/>
          </a:prstGeom>
          <a:noFill/>
        </p:spPr>
        <p:txBody>
          <a:bodyPr vert="horz" wrap="square" lIns="0" tIns="0" rIns="0" bIns="0" rtlCol="0">
            <a:noAutofit/>
          </a:bodyPr>
          <a:lstStyle/>
          <a:p>
            <a:pPr>
              <a:lnSpc>
                <a:spcPct val="110000"/>
              </a:lnSpc>
            </a:pPr>
            <a:r>
              <a:rPr lang="en-IN" sz="1700">
                <a:solidFill>
                  <a:srgbClr val="0B2340"/>
                </a:solidFill>
                <a:latin typeface="Segoe UI Semibold" panose="020B0702040204020203" pitchFamily="34" charset="0"/>
              </a:rPr>
              <a:t>Smarter Drix</a:t>
            </a:r>
          </a:p>
        </p:txBody>
      </p:sp>
      <p:sp>
        <p:nvSpPr>
          <p:cNvPr id="31" name="TextBox 30">
            <a:extLst>
              <a:ext uri="{FF2B5EF4-FFF2-40B4-BE49-F238E27FC236}">
                <a16:creationId xmlns:a16="http://schemas.microsoft.com/office/drawing/2014/main" id="{953E4496-ACA6-18F0-318F-BC5B8E09045F}"/>
              </a:ext>
            </a:extLst>
          </p:cNvPr>
          <p:cNvSpPr txBox="1"/>
          <p:nvPr/>
        </p:nvSpPr>
        <p:spPr>
          <a:xfrm>
            <a:off x="889000" y="5029200"/>
            <a:ext cx="4953000" cy="369332"/>
          </a:xfrm>
          <a:prstGeom prst="rect">
            <a:avLst/>
          </a:prstGeom>
          <a:noFill/>
        </p:spPr>
        <p:txBody>
          <a:bodyPr vert="horz" wrap="square" lIns="0" tIns="0" rIns="0" bIns="0" rtlCol="0">
            <a:noAutofit/>
          </a:bodyPr>
          <a:lstStyle/>
          <a:p>
            <a:pPr>
              <a:lnSpc>
                <a:spcPct val="110000"/>
              </a:lnSpc>
            </a:pPr>
            <a:r>
              <a:rPr lang="en-US" sz="1400">
                <a:solidFill>
                  <a:srgbClr val="3E5670"/>
                </a:solidFill>
                <a:latin typeface="Segoe UI" panose="020B0502040204020203" pitchFamily="34" charset="0"/>
              </a:rPr>
              <a:t>Connect a language model for free-form questions</a:t>
            </a:r>
            <a:endParaRPr lang="en-IN" sz="1400">
              <a:solidFill>
                <a:srgbClr val="3E5670"/>
              </a:solidFill>
              <a:latin typeface="Segoe UI" panose="020B0502040204020203" pitchFamily="34" charset="0"/>
            </a:endParaRPr>
          </a:p>
        </p:txBody>
      </p:sp>
      <p:sp>
        <p:nvSpPr>
          <p:cNvPr id="32" name="Rectangle: Rounded Corners 31">
            <a:extLst>
              <a:ext uri="{FF2B5EF4-FFF2-40B4-BE49-F238E27FC236}">
                <a16:creationId xmlns:a16="http://schemas.microsoft.com/office/drawing/2014/main" id="{AD52D40E-1FE1-9E47-47D2-09E950FFCA75}"/>
              </a:ext>
            </a:extLst>
          </p:cNvPr>
          <p:cNvSpPr/>
          <p:nvPr/>
        </p:nvSpPr>
        <p:spPr>
          <a:xfrm>
            <a:off x="6172200" y="4419600"/>
            <a:ext cx="5410200" cy="1168400"/>
          </a:xfrm>
          <a:prstGeom prst="roundRect">
            <a:avLst>
              <a:gd name="adj" fmla="val 8000"/>
            </a:avLst>
          </a:prstGeom>
          <a:solidFill>
            <a:srgbClr val="FFFFFF"/>
          </a:solidFill>
          <a:ln w="9525">
            <a:solidFill>
              <a:srgbClr val="D4E6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Rectangle 32">
            <a:extLst>
              <a:ext uri="{FF2B5EF4-FFF2-40B4-BE49-F238E27FC236}">
                <a16:creationId xmlns:a16="http://schemas.microsoft.com/office/drawing/2014/main" id="{1EFBF65B-FC0C-2A97-42B7-14558AC40B2A}"/>
              </a:ext>
            </a:extLst>
          </p:cNvPr>
          <p:cNvSpPr/>
          <p:nvPr/>
        </p:nvSpPr>
        <p:spPr>
          <a:xfrm>
            <a:off x="6172200" y="4419600"/>
            <a:ext cx="63500" cy="1168400"/>
          </a:xfrm>
          <a:prstGeom prst="rect">
            <a:avLst/>
          </a:prstGeom>
          <a:solidFill>
            <a:srgbClr val="54ACB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TextBox 33">
            <a:extLst>
              <a:ext uri="{FF2B5EF4-FFF2-40B4-BE49-F238E27FC236}">
                <a16:creationId xmlns:a16="http://schemas.microsoft.com/office/drawing/2014/main" id="{C9D34DE8-92D9-6ED5-355A-51078D95C0FA}"/>
              </a:ext>
            </a:extLst>
          </p:cNvPr>
          <p:cNvSpPr txBox="1"/>
          <p:nvPr/>
        </p:nvSpPr>
        <p:spPr>
          <a:xfrm>
            <a:off x="6451600" y="4648200"/>
            <a:ext cx="4953000" cy="369332"/>
          </a:xfrm>
          <a:prstGeom prst="rect">
            <a:avLst/>
          </a:prstGeom>
          <a:noFill/>
        </p:spPr>
        <p:txBody>
          <a:bodyPr vert="horz" wrap="square" lIns="0" tIns="0" rIns="0" bIns="0" rtlCol="0">
            <a:noAutofit/>
          </a:bodyPr>
          <a:lstStyle/>
          <a:p>
            <a:pPr>
              <a:lnSpc>
                <a:spcPct val="110000"/>
              </a:lnSpc>
            </a:pPr>
            <a:r>
              <a:rPr lang="en-IN" sz="1700">
                <a:solidFill>
                  <a:srgbClr val="0B2340"/>
                </a:solidFill>
                <a:latin typeface="Segoe UI Semibold" panose="020B0702040204020203" pitchFamily="34" charset="0"/>
              </a:rPr>
              <a:t>Explainable AI</a:t>
            </a:r>
          </a:p>
        </p:txBody>
      </p:sp>
      <p:sp>
        <p:nvSpPr>
          <p:cNvPr id="35" name="TextBox 34">
            <a:extLst>
              <a:ext uri="{FF2B5EF4-FFF2-40B4-BE49-F238E27FC236}">
                <a16:creationId xmlns:a16="http://schemas.microsoft.com/office/drawing/2014/main" id="{7D8EAD79-BAF0-C3E4-4496-F4BF14444997}"/>
              </a:ext>
            </a:extLst>
          </p:cNvPr>
          <p:cNvSpPr txBox="1"/>
          <p:nvPr/>
        </p:nvSpPr>
        <p:spPr>
          <a:xfrm>
            <a:off x="6451600" y="5029200"/>
            <a:ext cx="4953000" cy="369332"/>
          </a:xfrm>
          <a:prstGeom prst="rect">
            <a:avLst/>
          </a:prstGeom>
          <a:noFill/>
        </p:spPr>
        <p:txBody>
          <a:bodyPr vert="horz" wrap="square" lIns="0" tIns="0" rIns="0" bIns="0" rtlCol="0">
            <a:noAutofit/>
          </a:bodyPr>
          <a:lstStyle/>
          <a:p>
            <a:pPr>
              <a:lnSpc>
                <a:spcPct val="110000"/>
              </a:lnSpc>
            </a:pPr>
            <a:r>
              <a:rPr lang="en-US" sz="1400">
                <a:solidFill>
                  <a:srgbClr val="3E5670"/>
                </a:solidFill>
                <a:latin typeface="Segoe UI" panose="020B0502040204020203" pitchFamily="34" charset="0"/>
              </a:rPr>
              <a:t>Per-student explanations such as SHAP values</a:t>
            </a:r>
            <a:endParaRPr lang="en-IN" sz="1400">
              <a:solidFill>
                <a:srgbClr val="3E5670"/>
              </a:solidFill>
              <a:latin typeface="Segoe UI" panose="020B0502040204020203" pitchFamily="34" charset="0"/>
            </a:endParaRPr>
          </a:p>
        </p:txBody>
      </p:sp>
    </p:spTree>
    <p:extLst>
      <p:ext uri="{BB962C8B-B14F-4D97-AF65-F5344CB8AC3E}">
        <p14:creationId xmlns:p14="http://schemas.microsoft.com/office/powerpoint/2010/main" val="1107070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23859"/>
            </a:gs>
            <a:gs pos="100000">
              <a:srgbClr val="011C40"/>
            </a:gs>
          </a:gsLst>
          <a:lin ang="2700000" scaled="1"/>
          <a:tileRect/>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A0912D-D7EA-48BA-D727-2348C2B32F9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128000" y="1578492"/>
            <a:ext cx="3302000" cy="3701016"/>
          </a:xfrm>
          <a:prstGeom prst="rect">
            <a:avLst/>
          </a:prstGeom>
        </p:spPr>
      </p:pic>
      <p:sp>
        <p:nvSpPr>
          <p:cNvPr id="4" name="TextBox 3">
            <a:extLst>
              <a:ext uri="{FF2B5EF4-FFF2-40B4-BE49-F238E27FC236}">
                <a16:creationId xmlns:a16="http://schemas.microsoft.com/office/drawing/2014/main" id="{72F977A7-A49A-B3FB-CBFD-327B6AA5AD4C}"/>
              </a:ext>
            </a:extLst>
          </p:cNvPr>
          <p:cNvSpPr txBox="1"/>
          <p:nvPr/>
        </p:nvSpPr>
        <p:spPr>
          <a:xfrm>
            <a:off x="609600" y="1905000"/>
            <a:ext cx="7112000" cy="369332"/>
          </a:xfrm>
          <a:prstGeom prst="rect">
            <a:avLst/>
          </a:prstGeom>
          <a:noFill/>
        </p:spPr>
        <p:txBody>
          <a:bodyPr vert="horz" wrap="square" lIns="0" tIns="0" rIns="0" bIns="0" rtlCol="0">
            <a:noAutofit/>
          </a:bodyPr>
          <a:lstStyle/>
          <a:p>
            <a:pPr>
              <a:lnSpc>
                <a:spcPct val="110000"/>
              </a:lnSpc>
            </a:pPr>
            <a:r>
              <a:rPr lang="en-IN" sz="5400" b="1">
                <a:solidFill>
                  <a:srgbClr val="F4FBFC"/>
                </a:solidFill>
                <a:latin typeface="Georgia" panose="02040502050405020303" pitchFamily="18" charset="0"/>
              </a:rPr>
              <a:t>THANK YOU</a:t>
            </a:r>
          </a:p>
        </p:txBody>
      </p:sp>
      <p:sp>
        <p:nvSpPr>
          <p:cNvPr id="5" name="TextBox 4">
            <a:extLst>
              <a:ext uri="{FF2B5EF4-FFF2-40B4-BE49-F238E27FC236}">
                <a16:creationId xmlns:a16="http://schemas.microsoft.com/office/drawing/2014/main" id="{88E6B7FD-A62D-9716-D6B8-8BDE04660FC7}"/>
              </a:ext>
            </a:extLst>
          </p:cNvPr>
          <p:cNvSpPr txBox="1"/>
          <p:nvPr/>
        </p:nvSpPr>
        <p:spPr>
          <a:xfrm>
            <a:off x="609600" y="2921000"/>
            <a:ext cx="7112000" cy="381000"/>
          </a:xfrm>
          <a:prstGeom prst="rect">
            <a:avLst/>
          </a:prstGeom>
          <a:noFill/>
        </p:spPr>
        <p:txBody>
          <a:bodyPr vert="horz" wrap="square" lIns="0" tIns="0" rIns="0" bIns="0" rtlCol="0">
            <a:noAutofit/>
          </a:bodyPr>
          <a:lstStyle/>
          <a:p>
            <a:pPr>
              <a:lnSpc>
                <a:spcPct val="110000"/>
              </a:lnSpc>
            </a:pPr>
            <a:r>
              <a:rPr lang="en-IN" sz="2200">
                <a:solidFill>
                  <a:srgbClr val="A7EBF2"/>
                </a:solidFill>
                <a:latin typeface="Segoe UI" panose="020B0502040204020203" pitchFamily="34" charset="0"/>
              </a:rPr>
              <a:t>Questions &amp; Discussion</a:t>
            </a:r>
          </a:p>
        </p:txBody>
      </p:sp>
      <p:sp>
        <p:nvSpPr>
          <p:cNvPr id="6" name="TextBox 5">
            <a:extLst>
              <a:ext uri="{FF2B5EF4-FFF2-40B4-BE49-F238E27FC236}">
                <a16:creationId xmlns:a16="http://schemas.microsoft.com/office/drawing/2014/main" id="{9B98EF37-DB52-1870-8684-ACBF8D560908}"/>
              </a:ext>
            </a:extLst>
          </p:cNvPr>
          <p:cNvSpPr txBox="1"/>
          <p:nvPr/>
        </p:nvSpPr>
        <p:spPr>
          <a:xfrm>
            <a:off x="609600" y="4064000"/>
            <a:ext cx="7112000" cy="369332"/>
          </a:xfrm>
          <a:prstGeom prst="rect">
            <a:avLst/>
          </a:prstGeom>
          <a:noFill/>
        </p:spPr>
        <p:txBody>
          <a:bodyPr vert="horz" wrap="square" lIns="0" tIns="0" rIns="0" bIns="0" rtlCol="0">
            <a:noAutofit/>
          </a:bodyPr>
          <a:lstStyle/>
          <a:p>
            <a:pPr>
              <a:lnSpc>
                <a:spcPct val="110000"/>
              </a:lnSpc>
            </a:pPr>
            <a:r>
              <a:rPr lang="en-IN" sz="1400">
                <a:solidFill>
                  <a:srgbClr val="B8D3DE"/>
                </a:solidFill>
                <a:latin typeface="Segoe UI" panose="020B0502040204020203" pitchFamily="34" charset="0"/>
              </a:rPr>
              <a:t>Code: github.com/Garima1223/acadrix-student-performance</a:t>
            </a:r>
          </a:p>
        </p:txBody>
      </p:sp>
      <p:sp>
        <p:nvSpPr>
          <p:cNvPr id="7" name="TextBox 6">
            <a:extLst>
              <a:ext uri="{FF2B5EF4-FFF2-40B4-BE49-F238E27FC236}">
                <a16:creationId xmlns:a16="http://schemas.microsoft.com/office/drawing/2014/main" id="{C7171ADA-B132-A228-837A-21048D557558}"/>
              </a:ext>
            </a:extLst>
          </p:cNvPr>
          <p:cNvSpPr txBox="1"/>
          <p:nvPr/>
        </p:nvSpPr>
        <p:spPr>
          <a:xfrm>
            <a:off x="609600" y="4368800"/>
            <a:ext cx="7112000" cy="369332"/>
          </a:xfrm>
          <a:prstGeom prst="rect">
            <a:avLst/>
          </a:prstGeom>
          <a:noFill/>
        </p:spPr>
        <p:txBody>
          <a:bodyPr vert="horz" wrap="square" lIns="0" tIns="0" rIns="0" bIns="0" rtlCol="0">
            <a:noAutofit/>
          </a:bodyPr>
          <a:lstStyle/>
          <a:p>
            <a:pPr>
              <a:lnSpc>
                <a:spcPct val="110000"/>
              </a:lnSpc>
            </a:pPr>
            <a:r>
              <a:rPr lang="en-IN" sz="1400">
                <a:solidFill>
                  <a:srgbClr val="B8D3DE"/>
                </a:solidFill>
                <a:latin typeface="Segoe UI" panose="020B0502040204020203" pitchFamily="34" charset="0"/>
              </a:rPr>
              <a:t>Live app: acadrix-da7i.onrender.com</a:t>
            </a:r>
          </a:p>
        </p:txBody>
      </p:sp>
      <p:sp>
        <p:nvSpPr>
          <p:cNvPr id="8" name="TextBox 7">
            <a:extLst>
              <a:ext uri="{FF2B5EF4-FFF2-40B4-BE49-F238E27FC236}">
                <a16:creationId xmlns:a16="http://schemas.microsoft.com/office/drawing/2014/main" id="{C7200EDB-0320-196A-BEFF-31D055674034}"/>
              </a:ext>
            </a:extLst>
          </p:cNvPr>
          <p:cNvSpPr txBox="1"/>
          <p:nvPr/>
        </p:nvSpPr>
        <p:spPr>
          <a:xfrm>
            <a:off x="609600" y="5969000"/>
            <a:ext cx="8890000" cy="369332"/>
          </a:xfrm>
          <a:prstGeom prst="rect">
            <a:avLst/>
          </a:prstGeom>
          <a:noFill/>
        </p:spPr>
        <p:txBody>
          <a:bodyPr vert="horz" wrap="square" lIns="0" tIns="0" rIns="0" bIns="0" rtlCol="0">
            <a:noAutofit/>
          </a:bodyPr>
          <a:lstStyle/>
          <a:p>
            <a:pPr>
              <a:lnSpc>
                <a:spcPct val="110000"/>
              </a:lnSpc>
            </a:pPr>
            <a:r>
              <a:rPr lang="en-US" sz="1100">
                <a:solidFill>
                  <a:srgbClr val="7FA4B8"/>
                </a:solidFill>
                <a:latin typeface="Segoe UI" panose="020B0502040204020203" pitchFamily="34" charset="0"/>
              </a:rPr>
              <a:t>Acadrix · Student Performance Prediction System · AIML Summer Internship 2026</a:t>
            </a:r>
            <a:endParaRPr lang="en-IN" sz="1100">
              <a:solidFill>
                <a:srgbClr val="7FA4B8"/>
              </a:solidFill>
              <a:latin typeface="Segoe UI" panose="020B0502040204020203" pitchFamily="34" charset="0"/>
            </a:endParaRPr>
          </a:p>
        </p:txBody>
      </p:sp>
    </p:spTree>
    <p:extLst>
      <p:ext uri="{BB962C8B-B14F-4D97-AF65-F5344CB8AC3E}">
        <p14:creationId xmlns:p14="http://schemas.microsoft.com/office/powerpoint/2010/main" val="10257051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1846</Words>
  <Application>Microsoft Office PowerPoint</Application>
  <PresentationFormat>Custom</PresentationFormat>
  <Paragraphs>331</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Light</vt:lpstr>
      <vt:lpstr>Georgia</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pragati jaiswal</dc:creator>
  <cp:lastModifiedBy>pragati jaiswal</cp:lastModifiedBy>
  <cp:revision>1</cp:revision>
  <dcterms:created xsi:type="dcterms:W3CDTF">2026-10-10T12:12:17Z</dcterms:created>
  <dcterms:modified xsi:type="dcterms:W3CDTF">2026-10-10T12:12:17Z</dcterms:modified>
</cp:coreProperties>
</file>